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4"/>
  </p:notesMasterIdLst>
  <p:sldIdLst>
    <p:sldId id="256" r:id="rId2"/>
    <p:sldId id="263" r:id="rId3"/>
    <p:sldId id="264" r:id="rId4"/>
    <p:sldId id="265" r:id="rId5"/>
    <p:sldId id="274" r:id="rId20"/>
    <p:sldId id="266" r:id="rId6"/>
    <p:sldId id="275" r:id="rId21"/>
    <p:sldId id="267" r:id="rId7"/>
    <p:sldId id="268" r:id="rId8"/>
    <p:sldId id="276" r:id="rId22"/>
    <p:sldId id="269" r:id="rId9"/>
    <p:sldId id="277" r:id="rId23"/>
    <p:sldId id="270" r:id="rId10"/>
    <p:sldId id="271" r:id="rId11"/>
    <p:sldId id="278" r:id="rId24"/>
    <p:sldId id="279" r:id="rId25"/>
    <p:sldId id="280" r:id="rId26"/>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notesMaster" Target="notesMasters/notes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5.xml"/><Relationship Id="rId21" Type="http://schemas.openxmlformats.org/officeDocument/2006/relationships/slide" Target="slides/slide7.xml"/><Relationship Id="rId22" Type="http://schemas.openxmlformats.org/officeDocument/2006/relationships/slide" Target="slides/slide10.xml"/><Relationship Id="rId23" Type="http://schemas.openxmlformats.org/officeDocument/2006/relationships/slide" Target="slides/slide12.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Hypervolume (higher is better)</a:t>
            </a:r>
          </a:p>
        </c:rich>
      </c:tx>
      <c:layout/>
      <c:overlay val="0"/>
    </c:title>
    <c:autoTitleDeleted val="0"/>
    <c:plotArea>
      <c:barChart>
        <c:barDir val="col"/>
        <c:grouping val="clustered"/>
        <c:ser>
          <c:idx val="0"/>
          <c:order val="0"/>
          <c:tx>
            <c:strRef>
              <c:f>Sheet1!$B$1</c:f>
              <c:strCache>
                <c:ptCount val="1"/>
                <c:pt idx="0">
                  <c:v>Hypervolume</c:v>
                </c:pt>
              </c:strCache>
            </c:strRef>
          </c:tx>
          <c:dPt>
            <c:idx val="0"/>
            <c:spPr>
              <a:solidFill>
                <a:srgbClr val="2683C6"/>
              </a:solidFill>
            </c:spPr>
          </c:dPt>
          <c:dPt>
            <c:idx val="1"/>
            <c:spPr>
              <a:solidFill>
                <a:srgbClr val="D9731A"/>
              </a:solidFill>
            </c:spPr>
          </c:dPt>
          <c:dPt>
            <c:idx val="2"/>
            <c:spPr>
              <a:solidFill>
                <a:srgbClr val="8A97A8"/>
              </a:solidFill>
            </c:spPr>
          </c:dPt>
          <c:cat>
            <c:strRef>
              <c:f>Sheet1!$A$2:$A$4</c:f>
              <c:strCache>
                <c:ptCount val="3"/>
                <c:pt idx="0">
                  <c:v>MOPSO</c:v>
                </c:pt>
                <c:pt idx="1">
                  <c:v>NSGA-II</c:v>
                </c:pt>
                <c:pt idx="2">
                  <c:v>Random</c:v>
                </c:pt>
              </c:strCache>
            </c:strRef>
          </c:cat>
          <c:val>
            <c:numRef>
              <c:f>Sheet1!$B$2:$B$4</c:f>
              <c:numCache>
                <c:formatCode>General</c:formatCode>
                <c:ptCount val="3"/>
                <c:pt idx="0">
                  <c:v>0.702</c:v>
                </c:pt>
                <c:pt idx="1">
                  <c:v>0.706</c:v>
                </c:pt>
                <c:pt idx="2">
                  <c:v>0.254</c:v>
                </c:pt>
              </c:numCache>
            </c:numRef>
          </c:val>
        </c:ser>
        <c:dLbls>
          <c:numFmt formatCode="0.00" sourceLinked="0"/>
          <c:txPr>
            <a:bodyPr/>
            <a:lstStyle/>
            <a:p>
              <a:pPr>
                <a:defRPr sz="14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300"/>
            </a:pPr>
          </a:p>
        </c:txPr>
        <c:crossAx val="-2113994440"/>
        <c:crosses val="autoZero"/>
        <c:auto val="1"/>
        <c:lblAlgn val="ctr"/>
        <c:lblOffset val="100"/>
        <c:noMultiLvlLbl val="0"/>
      </c:catAx>
      <c:valAx>
        <c:axId val="-2113994440"/>
        <c:scaling>
          <c:max val="0.9"/>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300"/>
            </a:pPr>
          </a:p>
        </c:txPr>
        <c:crossAx val="-2068027336"/>
        <c:crosses val="autoZero"/>
      </c:valAx>
    </c:plotArea>
    <c:dispBlanksAs val="gap"/>
  </c:chart>
  <c:txPr>
    <a:bodyPr/>
    <a:lstStyle/>
    <a:p>
      <a:pPr>
        <a:defRPr sz="1300">
          <a:solidFill>
            <a:srgbClr val="335B7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335B74"/>
                </a:solidFill>
                <a:latin typeface="Calibri"/>
              </a:rPr>
              <a:t>Hypervolume against objective evaluations</a:t>
            </a:r>
          </a:p>
        </c:rich>
      </c:tx>
      <c:layout/>
      <c:overlay val="0"/>
    </c:title>
    <c:autoTitleDeleted val="0"/>
    <c:plotArea>
      <c:lineChart>
        <c:grouping val="standard"/>
        <c:varyColors val="0"/>
        <c:ser>
          <c:idx val="0"/>
          <c:order val="0"/>
          <c:tx>
            <c:strRef>
              <c:f>Sheet1!$B$1</c:f>
              <c:strCache>
                <c:ptCount val="1"/>
                <c:pt idx="0">
                  <c:v>MOPSO</c:v>
                </c:pt>
              </c:strCache>
            </c:strRef>
          </c:tx>
          <c:spPr>
            <a:ln w="38100">
              <a:solidFill>
                <a:srgbClr val="2683C6"/>
              </a:solidFill>
            </a:ln>
          </c:spPr>
          <c:marker>
            <c:size val="8"/>
            <c:spPr>
              <a:solidFill>
                <a:srgbClr val="2683C6"/>
              </a:solidFill>
              <a:ln>
                <a:solidFill>
                  <a:srgbClr val="2683C6"/>
                </a:solidFill>
              </a:ln>
            </c:spPr>
          </c:marker>
          <c:cat>
            <c:strRef>
              <c:f>Sheet1!$A$2:$A$7</c:f>
              <c:strCache>
                <c:ptCount val="6"/>
                <c:pt idx="0">
                  <c:v>600</c:v>
                </c:pt>
                <c:pt idx="1">
                  <c:v>1,100</c:v>
                </c:pt>
                <c:pt idx="2">
                  <c:v>2,600</c:v>
                </c:pt>
                <c:pt idx="3">
                  <c:v>5,100</c:v>
                </c:pt>
                <c:pt idx="4">
                  <c:v>10,100</c:v>
                </c:pt>
                <c:pt idx="5">
                  <c:v>20,100</c:v>
                </c:pt>
              </c:strCache>
            </c:strRef>
          </c:cat>
          <c:val>
            <c:numRef>
              <c:f>Sheet1!$B$2:$B$7</c:f>
              <c:numCache>
                <c:formatCode>General</c:formatCode>
                <c:ptCount val="6"/>
                <c:pt idx="0">
                  <c:v>0.628</c:v>
                </c:pt>
                <c:pt idx="1">
                  <c:v>0.752</c:v>
                </c:pt>
                <c:pt idx="2">
                  <c:v>0.788</c:v>
                </c:pt>
                <c:pt idx="3">
                  <c:v>0.797</c:v>
                </c:pt>
                <c:pt idx="4">
                  <c:v>0.801</c:v>
                </c:pt>
                <c:pt idx="5">
                  <c:v>0.802</c:v>
                </c:pt>
              </c:numCache>
            </c:numRef>
          </c:val>
          <c:smooth val="0"/>
        </c:ser>
        <c:ser>
          <c:idx val="1"/>
          <c:order val="1"/>
          <c:tx>
            <c:strRef>
              <c:f>Sheet1!$C$1</c:f>
              <c:strCache>
                <c:ptCount val="1"/>
                <c:pt idx="0">
                  <c:v>NSGA-II</c:v>
                </c:pt>
              </c:strCache>
            </c:strRef>
          </c:tx>
          <c:spPr>
            <a:ln w="38100">
              <a:solidFill>
                <a:srgbClr val="D9731A"/>
              </a:solidFill>
            </a:ln>
          </c:spPr>
          <c:marker>
            <c:size val="8"/>
            <c:spPr>
              <a:solidFill>
                <a:srgbClr val="D9731A"/>
              </a:solidFill>
              <a:ln>
                <a:solidFill>
                  <a:srgbClr val="D9731A"/>
                </a:solidFill>
              </a:ln>
            </c:spPr>
          </c:marker>
          <c:cat>
            <c:strRef>
              <c:f>Sheet1!$A$2:$A$7</c:f>
              <c:strCache>
                <c:ptCount val="6"/>
                <c:pt idx="0">
                  <c:v>600</c:v>
                </c:pt>
                <c:pt idx="1">
                  <c:v>1,100</c:v>
                </c:pt>
                <c:pt idx="2">
                  <c:v>2,600</c:v>
                </c:pt>
                <c:pt idx="3">
                  <c:v>5,100</c:v>
                </c:pt>
                <c:pt idx="4">
                  <c:v>10,100</c:v>
                </c:pt>
                <c:pt idx="5">
                  <c:v>20,100</c:v>
                </c:pt>
              </c:strCache>
            </c:strRef>
          </c:cat>
          <c:val>
            <c:numRef>
              <c:f>Sheet1!$C$2:$C$7</c:f>
              <c:numCache>
                <c:formatCode>General</c:formatCode>
                <c:ptCount val="6"/>
                <c:pt idx="0">
                  <c:v>0.369</c:v>
                </c:pt>
                <c:pt idx="1">
                  <c:v>0.463</c:v>
                </c:pt>
                <c:pt idx="2">
                  <c:v>0.646</c:v>
                </c:pt>
                <c:pt idx="3">
                  <c:v>0.769</c:v>
                </c:pt>
                <c:pt idx="4">
                  <c:v>0.804</c:v>
                </c:pt>
                <c:pt idx="5">
                  <c:v>0.811</c:v>
                </c:pt>
              </c:numCache>
            </c:numRef>
          </c:val>
          <c:smooth val="0"/>
        </c:ser>
        <c:ser>
          <c:idx val="2"/>
          <c:order val="2"/>
          <c:tx>
            <c:strRef>
              <c:f>Sheet1!$D$1</c:f>
              <c:strCache>
                <c:ptCount val="1"/>
                <c:pt idx="0">
                  <c:v>Random search</c:v>
                </c:pt>
              </c:strCache>
            </c:strRef>
          </c:tx>
          <c:spPr>
            <a:ln w="38100">
              <a:solidFill>
                <a:srgbClr val="8A97A8"/>
              </a:solidFill>
            </a:ln>
          </c:spPr>
          <c:marker>
            <c:size val="8"/>
            <c:spPr>
              <a:solidFill>
                <a:srgbClr val="8A97A8"/>
              </a:solidFill>
              <a:ln>
                <a:solidFill>
                  <a:srgbClr val="8A97A8"/>
                </a:solidFill>
              </a:ln>
            </c:spPr>
          </c:marker>
          <c:cat>
            <c:strRef>
              <c:f>Sheet1!$A$2:$A$7</c:f>
              <c:strCache>
                <c:ptCount val="6"/>
                <c:pt idx="0">
                  <c:v>600</c:v>
                </c:pt>
                <c:pt idx="1">
                  <c:v>1,100</c:v>
                </c:pt>
                <c:pt idx="2">
                  <c:v>2,600</c:v>
                </c:pt>
                <c:pt idx="3">
                  <c:v>5,100</c:v>
                </c:pt>
                <c:pt idx="4">
                  <c:v>10,100</c:v>
                </c:pt>
                <c:pt idx="5">
                  <c:v>20,100</c:v>
                </c:pt>
              </c:strCache>
            </c:strRef>
          </c:cat>
          <c:val>
            <c:numRef>
              <c:f>Sheet1!$D$2:$D$7</c:f>
              <c:numCache>
                <c:formatCode>General</c:formatCode>
                <c:ptCount val="6"/>
                <c:pt idx="0">
                  <c:v>0.284</c:v>
                </c:pt>
                <c:pt idx="1">
                  <c:v>0.33</c:v>
                </c:pt>
                <c:pt idx="2">
                  <c:v>0.353</c:v>
                </c:pt>
                <c:pt idx="3">
                  <c:v>0.381</c:v>
                </c:pt>
                <c:pt idx="4">
                  <c:v>0.395</c:v>
                </c:pt>
                <c:pt idx="5">
                  <c:v>0.43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EE5"/>
            </a:solidFill>
          </a:ln>
        </c:spPr>
        <c:txPr>
          <a:bodyPr/>
          <a:lstStyle/>
          <a:p>
            <a:pPr>
              <a:defRPr sz="1400"/>
            </a:pPr>
          </a:p>
        </c:txPr>
        <c:crossAx val="2140495176"/>
        <c:crosses val="autoZero"/>
        <c:auto val="1"/>
        <c:lblAlgn val="ctr"/>
        <c:lblOffset val="100"/>
        <c:noMultiLvlLbl val="0"/>
      </c:catAx>
      <c:valAx>
        <c:axId val="2140495176"/>
        <c:scaling>
          <c:max val="1.0"/>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400">
          <a:solidFill>
            <a:srgbClr val="335B7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Sharpe ratio: training vs held-out</a:t>
            </a:r>
          </a:p>
        </c:rich>
      </c:tx>
      <c:layout/>
      <c:overlay val="0"/>
    </c:title>
    <c:autoTitleDeleted val="0"/>
    <c:plotArea>
      <c:barChart>
        <c:barDir val="col"/>
        <c:grouping val="clustered"/>
        <c:ser>
          <c:idx val="0"/>
          <c:order val="0"/>
          <c:tx>
            <c:strRef>
              <c:f>Sheet1!$B$1</c:f>
              <c:strCache>
                <c:ptCount val="1"/>
                <c:pt idx="0">
                  <c:v>Training window</c:v>
                </c:pt>
              </c:strCache>
            </c:strRef>
          </c:tx>
          <c:spPr>
            <a:solidFill>
              <a:srgbClr val="9CC8E8"/>
            </a:solidFill>
          </c:spPr>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0.52</c:v>
                </c:pt>
                <c:pt idx="1">
                  <c:v>1.34</c:v>
                </c:pt>
                <c:pt idx="2">
                  <c:v>1.34</c:v>
                </c:pt>
                <c:pt idx="3">
                  <c:v>0.64</c:v>
                </c:pt>
                <c:pt idx="4">
                  <c:v>0.57</c:v>
                </c:pt>
              </c:numCache>
            </c:numRef>
          </c:val>
        </c:ser>
        <c:ser>
          <c:idx val="1"/>
          <c:order val="1"/>
          <c:tx>
            <c:strRef>
              <c:f>Sheet1!$C$1</c:f>
              <c:strCache>
                <c:ptCount val="1"/>
                <c:pt idx="0">
                  <c:v>Held-out window</c:v>
                </c:pt>
              </c:strCache>
            </c:strRef>
          </c:tx>
          <c:spPr>
            <a:solidFill>
              <a:srgbClr val="335B74"/>
            </a:solidFill>
          </c:spPr>
          <c:cat>
            <c:strRef>
              <c:f>Sheet1!$A$2:$A$6</c:f>
              <c:strCache>
                <c:ptCount val="5"/>
                <c:pt idx="0">
                  <c:v>Equal weight</c:v>
                </c:pt>
                <c:pt idx="1">
                  <c:v>Swarm: best Sharpe</c:v>
                </c:pt>
                <c:pt idx="2">
                  <c:v>GA: best Sharpe</c:v>
                </c:pt>
                <c:pt idx="3">
                  <c:v>Swarm: min vol.</c:v>
                </c:pt>
                <c:pt idx="4">
                  <c:v>GA: min vol.</c:v>
                </c:pt>
              </c:strCache>
            </c:strRef>
          </c:cat>
          <c:val>
            <c:numRef>
              <c:f>Sheet1!$C$2:$C$6</c:f>
              <c:numCache>
                <c:formatCode>General</c:formatCode>
                <c:ptCount val="5"/>
                <c:pt idx="0">
                  <c:v>0.59</c:v>
                </c:pt>
                <c:pt idx="1">
                  <c:v>0.53</c:v>
                </c:pt>
                <c:pt idx="2">
                  <c:v>0.53</c:v>
                </c:pt>
                <c:pt idx="3">
                  <c:v>0.61</c:v>
                </c:pt>
                <c:pt idx="4">
                  <c:v>0.62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1.6"/>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Held-out volatility (% a year)</a:t>
            </a:r>
          </a:p>
        </c:rich>
      </c:tx>
      <c:layout/>
      <c:overlay val="0"/>
    </c:title>
    <c:autoTitleDeleted val="0"/>
    <c:plotArea>
      <c:barChart>
        <c:barDir val="col"/>
        <c:grouping val="clustered"/>
        <c:ser>
          <c:idx val="0"/>
          <c:order val="0"/>
          <c:tx>
            <c:strRef>
              <c:f>Sheet1!$B$1</c:f>
              <c:strCache>
                <c:ptCount val="1"/>
                <c:pt idx="0">
                  <c:v>Held-out volatility (%)</c:v>
                </c:pt>
              </c:strCache>
            </c:strRef>
          </c:tx>
          <c:dPt>
            <c:idx val="0"/>
            <c:spPr>
              <a:solidFill>
                <a:srgbClr val="42BA97"/>
              </a:solidFill>
            </c:spPr>
          </c:dPt>
          <c:dPt>
            <c:idx val="1"/>
            <c:spPr>
              <a:solidFill>
                <a:srgbClr val="2683C6"/>
              </a:solidFill>
            </c:spPr>
          </c:dPt>
          <c:dPt>
            <c:idx val="2"/>
            <c:spPr>
              <a:solidFill>
                <a:srgbClr val="D9731A"/>
              </a:solidFill>
            </c:spPr>
          </c:dPt>
          <c:dPt>
            <c:idx val="3"/>
            <c:spPr>
              <a:solidFill>
                <a:srgbClr val="2683C6"/>
              </a:solidFill>
            </c:spPr>
          </c:dPt>
          <c:dPt>
            <c:idx val="4"/>
            <c:spPr>
              <a:solidFill>
                <a:srgbClr val="D9731A"/>
              </a:solidFill>
            </c:spPr>
          </c:dPt>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14.7</c:v>
                </c:pt>
                <c:pt idx="1">
                  <c:v>16.6</c:v>
                </c:pt>
                <c:pt idx="2">
                  <c:v>16.7</c:v>
                </c:pt>
                <c:pt idx="3">
                  <c:v>12.6</c:v>
                </c:pt>
                <c:pt idx="4">
                  <c:v>12.4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20.0"/>
          <c:min val="0.0"/>
        </c:scaling>
        <c:delete val="0"/>
        <c:axPos val="l"/>
        <c:majorGridlines>
          <c:spPr>
            <a:ln>
              <a:solidFill>
                <a:srgbClr val="D5DEE5"/>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200">
          <a:solidFill>
            <a:srgbClr val="335B7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MOPSO</c:v>
                </c:pt>
              </c:strCache>
            </c:strRef>
          </c:tx>
          <c:spPr>
            <a:solidFill>
              <a:srgbClr val="2683C6"/>
            </a:solidFill>
          </c:spPr>
          <c:cat>
            <c:strRef>
              <c:f>Sheet1!$A$2:$A$5</c:f>
              <c:strCache>
                <c:ptCount val="4"/>
                <c:pt idx="0">
                  <c:v>10</c:v>
                </c:pt>
                <c:pt idx="1">
                  <c:v>20</c:v>
                </c:pt>
                <c:pt idx="2">
                  <c:v>40</c:v>
                </c:pt>
                <c:pt idx="3">
                  <c:v>60</c:v>
                </c:pt>
              </c:strCache>
            </c:strRef>
          </c:cat>
          <c:val>
            <c:numRef>
              <c:f>Sheet1!$B$2:$B$5</c:f>
              <c:numCache>
                <c:formatCode>General</c:formatCode>
                <c:ptCount val="4"/>
                <c:pt idx="0">
                  <c:v>1.51</c:v>
                </c:pt>
                <c:pt idx="1">
                  <c:v>1.49</c:v>
                </c:pt>
                <c:pt idx="2">
                  <c:v>1.38</c:v>
                </c:pt>
                <c:pt idx="3">
                  <c:v>1.4</c:v>
                </c:pt>
              </c:numCache>
            </c:numRef>
          </c:val>
        </c:ser>
        <c:ser>
          <c:idx val="1"/>
          <c:order val="1"/>
          <c:tx>
            <c:strRef>
              <c:f>Sheet1!$C$1</c:f>
              <c:strCache>
                <c:ptCount val="1"/>
                <c:pt idx="0">
                  <c:v>NSGA-II</c:v>
                </c:pt>
              </c:strCache>
            </c:strRef>
          </c:tx>
          <c:spPr>
            <a:solidFill>
              <a:srgbClr val="D9731A"/>
            </a:solidFill>
          </c:spPr>
          <c:cat>
            <c:strRef>
              <c:f>Sheet1!$A$2:$A$5</c:f>
              <c:strCache>
                <c:ptCount val="4"/>
                <c:pt idx="0">
                  <c:v>10</c:v>
                </c:pt>
                <c:pt idx="1">
                  <c:v>20</c:v>
                </c:pt>
                <c:pt idx="2">
                  <c:v>40</c:v>
                </c:pt>
                <c:pt idx="3">
                  <c:v>60</c:v>
                </c:pt>
              </c:strCache>
            </c:strRef>
          </c:cat>
          <c:val>
            <c:numRef>
              <c:f>Sheet1!$C$2:$C$5</c:f>
              <c:numCache>
                <c:formatCode>General</c:formatCode>
                <c:ptCount val="4"/>
                <c:pt idx="0">
                  <c:v>1.31</c:v>
                </c:pt>
                <c:pt idx="1">
                  <c:v>1.27</c:v>
                </c:pt>
                <c:pt idx="2">
                  <c:v>1.33</c:v>
                </c:pt>
                <c:pt idx="3">
                  <c:v>1.24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5DEE5"/>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SwarmFolio compares a particle swarm optimiser and a genetic algorithm on a three-objective stock portfolio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of the talk. The circles show the slide number where each section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choice trades return against volatility and tail loss. We built two optimisers on one shared constraint-repair step. Both beat random search clearly, but portfolios picked for the best Sharpe ratio lost most of their advantage on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portfolio has to balance return against volatility and tail loss, and real mandates add constraints. The result is not one answer but a front of trade-offs.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deliverables: the library, two optimisers, a fair evaluation protocol and a browser workbench. Scope is limited to simulated markets, which is stated as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survey in the required format: paper, venue, year, technique, limitation and the gap each leaves. The portfolio PSO papers use one scalarised objective, which is the gap our three-objective front addresses. Full references are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gap identification and the mapping of our objectives to those gaps. The claim is limited to the surveyed papers.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cover data input, constraints, both optimisers, live progress, inspection and error messages. Everything runs on free software; a default run takes about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browser draws and sends JSON. The server runs jobs on worker threads and stores the latest snapshot of each population. The core is plain Python and is shared by the tests, the command line and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operator guarantees every portfolio is long-only, fully invested, capped and within the holding limit. Six experiments vary one factor at a time, with the last using 30 independent markets.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algorithms see exactly the same problem and the same evaluation budget. The swarm uses an external archive and crowding-based leaders; the genetic algorithm is standard NSGA-II with a swap mutation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workbench runs both optimisers side by side and animates them. After the run you can click any point on a front to see its weights and how it behaved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run at three levels. Fourteen automated tests, nineteen system test cases including browser checks, and zero constraint violations across all experiment runs. Same seed gives the same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optimisers find roughly one hundred non-dominated portfolios against about twenty for random search, with hypervolume about 0.70 versus 0.25. The genetic algorithm is marginally ahead on average but the difference is tiny next to the seed-to-seed spread.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few evaluations the swarm is clearly better; it reaches in 10 iterations what the genetic algorithm needs 25 to 50 iterations to match. From 100 iterations the genetic algorithm finishes slightly ahead.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over 30 independent simulated markets. Portfolios chosen for the best Sharpe ratio looked excellent in training but fell below equal weight on unseen data. Minimum-volatility portfolios were calmer than equal weight in every one of the 30 markets.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time stays near one and a half seconds from 10 to 60 assets. The repair operator kept every portfolio feasible. The two extra operators we added did not measurably help, which we report honestly.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the optimisers work, historical returns do not predict future returns well, but risk estimates do transfer. Future work: real market data, shrinkage estimators, costs as an objective and a hosted version for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as assessed in the report. Strongest: engineering knowledge, problem analysis, investigations, tool usage and teamwork. Weakest: the engineer and the world, since societal impact is only addressed through the SDGs.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14 October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14 October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14 October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14 October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14 October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14 October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14 October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14 October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14 October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14 October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14 October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14 October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828800" y="274320"/>
            <a:ext cx="8778240" cy="3566160"/>
          </a:xfrm>
        </p:spPr>
        <p:txBody>
          <a:bodyPr>
            <a:noAutofit/>
          </a:bodyPr>
          <a:lstStyle/>
          <a:p>
            <a:r>
              <a:rPr lang="en-US" sz="4000" b="1" dirty="0">
                <a:solidFill>
                  <a:srgbClr val="0070C0"/>
                </a:solidFill>
                <a:latin typeface="Calibri"/>
              </a:rPr>
              <a:t>BMS College of Engineering</a:t>
            </a:r>
            <a:br>
              <a:rPr lang="en-US" sz="3200" dirty="0"/>
            </a:br>
            <a:r>
              <a:rPr lang="en-US" sz="1600" dirty="0">
                <a:latin typeface="Calibri"/>
              </a:rPr>
              <a:t>(Autonomous College under VTU)</a:t>
            </a:r>
            <a:br>
              <a:rPr lang="en-US" sz="3200" dirty="0"/>
            </a:br>
            <a:r>
              <a:rPr lang="en-US" sz="2400" b="1" dirty="0">
                <a:solidFill>
                  <a:schemeClr val="accent4">
                    <a:lumMod val="50000"/>
                  </a:schemeClr>
                </a:solidFill>
                <a:latin typeface="Calibri"/>
              </a:rPr>
              <a:t>Department of Artificial Intelligence and Data Science</a:t>
            </a:r>
            <a:br>
              <a:rPr lang="en-US" sz="2400" dirty="0">
                <a:solidFill>
                  <a:schemeClr val="accent4">
                    <a:lumMod val="50000"/>
                  </a:schemeClr>
                </a:solidFill>
              </a:rPr>
            </a:br>
            <a:br>
              <a:rPr lang="en-US" sz="2400" dirty="0">
                <a:solidFill>
                  <a:schemeClr val="accent4">
                    <a:lumMod val="50000"/>
                  </a:schemeClr>
                </a:solidFill>
              </a:rPr>
            </a:br>
            <a:r>
              <a:rPr lang="en-US" sz="1600" dirty="0">
                <a:latin typeface="Calibri" panose="02020603050405020304" pitchFamily="18" charset="0"/>
                <a:cs typeface="Times New Roman" panose="02020603050405020304" pitchFamily="18" charset="0"/>
              </a:rPr>
              <a:t>Project Work (23AI7PWPP2) Final Presentation on</a:t>
            </a:r>
            <a:br>
              <a:rPr lang="en-US" dirty="0"/>
            </a:br>
            <a:r>
              <a:rPr lang="en-US" sz="2200" dirty="0" b="1">
                <a:solidFill>
                  <a:srgbClr val="335B74"/>
                </a:solidFill>
                <a:latin typeface="Calibri" panose="02020603050405020304" pitchFamily="18" charset="0"/>
                <a:cs typeface="Times New Roman" panose="02020603050405020304" pitchFamily="18" charset="0"/>
              </a:rPr>
              <a:t>SwarmFolio: Multi-Objective Stock Portfolio Optimization Using Particle Swarm Optimization and Genetic Algorithms</a:t>
            </a:r>
            <a:endParaRPr lang="en-IN" dirty="0">
              <a:latin typeface="Times New Roman" panose="02020603050405020304" pitchFamily="18" charset="0"/>
              <a:cs typeface="Times New Roman" panose="02020603050405020304" pitchFamily="18" charset="0"/>
            </a:endParaRP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4735" y="136525"/>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
        <p:nvSpPr>
          <p:cNvPr id="8" name="Team heading"/>
          <p:cNvSpPr txBox="1"/>
          <p:nvPr/>
        </p:nvSpPr>
        <p:spPr>
          <a:xfrm>
            <a:off x="2103120" y="4069080"/>
            <a:ext cx="4297680" cy="365760"/>
          </a:xfrm>
          <a:prstGeom prst="rect">
            <a:avLst/>
          </a:prstGeom>
          <a:noFill/>
        </p:spPr>
        <p:txBody>
          <a:bodyPr wrap="square" lIns="45720" rIns="45720" tIns="27432" bIns="27432" anchor="t">
            <a:noAutofit/>
          </a:bodyPr>
          <a:lstStyle/>
          <a:p>
            <a:pPr algn="l"/>
            <a:r>
              <a:rPr sz="1600" b="1" i="0">
                <a:solidFill>
                  <a:srgbClr val="2683C6"/>
                </a:solidFill>
                <a:latin typeface="Calibri"/>
              </a:rPr>
              <a:t>Submitted by</a:t>
            </a:r>
          </a:p>
        </p:txBody>
      </p:sp>
      <p:sp>
        <p:nvSpPr>
          <p:cNvPr id="9" name="Team name 1"/>
          <p:cNvSpPr txBox="1"/>
          <p:nvPr/>
        </p:nvSpPr>
        <p:spPr>
          <a:xfrm>
            <a:off x="2103120" y="448056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Vivek Boora</a:t>
            </a:r>
          </a:p>
        </p:txBody>
      </p:sp>
      <p:sp>
        <p:nvSpPr>
          <p:cNvPr id="10" name="Team USN 1"/>
          <p:cNvSpPr txBox="1"/>
          <p:nvPr/>
        </p:nvSpPr>
        <p:spPr>
          <a:xfrm>
            <a:off x="4480560" y="448056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1BM23AD073</a:t>
            </a:r>
          </a:p>
        </p:txBody>
      </p:sp>
      <p:sp>
        <p:nvSpPr>
          <p:cNvPr id="11" name="Team name 2"/>
          <p:cNvSpPr txBox="1"/>
          <p:nvPr/>
        </p:nvSpPr>
        <p:spPr>
          <a:xfrm>
            <a:off x="2103120" y="489204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Ayush Pandey</a:t>
            </a:r>
          </a:p>
        </p:txBody>
      </p:sp>
      <p:sp>
        <p:nvSpPr>
          <p:cNvPr id="12" name="Team USN 2"/>
          <p:cNvSpPr txBox="1"/>
          <p:nvPr/>
        </p:nvSpPr>
        <p:spPr>
          <a:xfrm>
            <a:off x="4480560" y="489204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1BM23AD074</a:t>
            </a:r>
          </a:p>
        </p:txBody>
      </p:sp>
      <p:sp>
        <p:nvSpPr>
          <p:cNvPr id="13" name="Team name 3"/>
          <p:cNvSpPr txBox="1"/>
          <p:nvPr/>
        </p:nvSpPr>
        <p:spPr>
          <a:xfrm>
            <a:off x="2103120" y="530352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Nitin</a:t>
            </a:r>
          </a:p>
        </p:txBody>
      </p:sp>
      <p:sp>
        <p:nvSpPr>
          <p:cNvPr id="14" name="Team USN 3"/>
          <p:cNvSpPr txBox="1"/>
          <p:nvPr/>
        </p:nvSpPr>
        <p:spPr>
          <a:xfrm>
            <a:off x="4480560" y="530352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1BM24AD404</a:t>
            </a:r>
          </a:p>
        </p:txBody>
      </p:sp>
      <p:sp>
        <p:nvSpPr>
          <p:cNvPr id="15" name="Guide heading"/>
          <p:cNvSpPr txBox="1"/>
          <p:nvPr/>
        </p:nvSpPr>
        <p:spPr>
          <a:xfrm>
            <a:off x="7223760" y="4069080"/>
            <a:ext cx="4206240" cy="365760"/>
          </a:xfrm>
          <a:prstGeom prst="rect">
            <a:avLst/>
          </a:prstGeom>
          <a:noFill/>
        </p:spPr>
        <p:txBody>
          <a:bodyPr wrap="square" lIns="45720" rIns="45720" tIns="27432" bIns="27432" anchor="t">
            <a:noAutofit/>
          </a:bodyPr>
          <a:lstStyle/>
          <a:p>
            <a:pPr algn="l"/>
            <a:r>
              <a:rPr sz="1600" b="1" i="0">
                <a:solidFill>
                  <a:srgbClr val="2683C6"/>
                </a:solidFill>
                <a:latin typeface="Calibri"/>
              </a:rPr>
              <a:t>Under the guidance of</a:t>
            </a:r>
          </a:p>
        </p:txBody>
      </p:sp>
      <p:sp>
        <p:nvSpPr>
          <p:cNvPr id="16" name="Guide"/>
          <p:cNvSpPr txBox="1"/>
          <p:nvPr/>
        </p:nvSpPr>
        <p:spPr>
          <a:xfrm>
            <a:off x="7223760" y="4480560"/>
            <a:ext cx="4206240" cy="1280160"/>
          </a:xfrm>
          <a:prstGeom prst="rect">
            <a:avLst/>
          </a:prstGeom>
          <a:noFill/>
        </p:spPr>
        <p:txBody>
          <a:bodyPr wrap="square" lIns="45720" rIns="45720" tIns="27432" bIns="27432" anchor="t">
            <a:noAutofit/>
          </a:bodyPr>
          <a:lstStyle/>
          <a:p>
            <a:pPr algn="l"/>
            <a:r>
              <a:rPr sz="2000" b="1" i="0">
                <a:solidFill>
                  <a:srgbClr val="335B74"/>
                </a:solidFill>
                <a:latin typeface="Calibri"/>
              </a:rPr>
              <a:t>Prof. Suman M</a:t>
            </a:r>
          </a:p>
          <a:p>
            <a:pPr algn="l"/>
            <a:r>
              <a:rPr sz="1800" b="0" i="0">
                <a:solidFill>
                  <a:srgbClr val="335B74"/>
                </a:solidFill>
                <a:latin typeface="Calibri"/>
              </a:rPr>
              <a:t>Assistant Professor</a:t>
            </a:r>
          </a:p>
          <a:p>
            <a:pPr algn="l"/>
            <a:r>
              <a:rPr sz="1800" b="0" i="0">
                <a:solidFill>
                  <a:srgbClr val="335B74"/>
                </a:solidFill>
                <a:latin typeface="Calibri"/>
              </a:rPr>
              <a:t>Dept of AI &amp; DS</a:t>
            </a:r>
          </a:p>
        </p:txBody>
      </p:sp>
    </p:spTree>
    <p:extLst>
      <p:ext uri="{BB962C8B-B14F-4D97-AF65-F5344CB8AC3E}">
        <p14:creationId xmlns:p14="http://schemas.microsoft.com/office/powerpoint/2010/main" val="301783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Table of Contents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14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
        <p:nvSpPr>
          <p:cNvPr id="9" name="TOC tile 1"/>
          <p:cNvSpPr/>
          <p:nvPr/>
        </p:nvSpPr>
        <p:spPr>
          <a:xfrm>
            <a:off x="86868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05839"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3</a:t>
            </a:r>
          </a:p>
        </p:txBody>
      </p:sp>
      <p:sp>
        <p:nvSpPr>
          <p:cNvPr id="11" name="TOC item 1"/>
          <p:cNvSpPr txBox="1"/>
          <p:nvPr/>
        </p:nvSpPr>
        <p:spPr>
          <a:xfrm>
            <a:off x="169164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Abstract</a:t>
            </a:r>
          </a:p>
        </p:txBody>
      </p:sp>
      <p:sp>
        <p:nvSpPr>
          <p:cNvPr id="12" name="TOC tile 2"/>
          <p:cNvSpPr/>
          <p:nvPr/>
        </p:nvSpPr>
        <p:spPr>
          <a:xfrm>
            <a:off x="86868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05839"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4</a:t>
            </a:r>
          </a:p>
        </p:txBody>
      </p:sp>
      <p:sp>
        <p:nvSpPr>
          <p:cNvPr id="14" name="TOC item 2"/>
          <p:cNvSpPr txBox="1"/>
          <p:nvPr/>
        </p:nvSpPr>
        <p:spPr>
          <a:xfrm>
            <a:off x="169164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Introduction</a:t>
            </a:r>
          </a:p>
        </p:txBody>
      </p:sp>
      <p:sp>
        <p:nvSpPr>
          <p:cNvPr id="15" name="TOC tile 3"/>
          <p:cNvSpPr/>
          <p:nvPr/>
        </p:nvSpPr>
        <p:spPr>
          <a:xfrm>
            <a:off x="86868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39"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6</a:t>
            </a:r>
          </a:p>
        </p:txBody>
      </p:sp>
      <p:sp>
        <p:nvSpPr>
          <p:cNvPr id="17" name="TOC item 3"/>
          <p:cNvSpPr txBox="1"/>
          <p:nvPr/>
        </p:nvSpPr>
        <p:spPr>
          <a:xfrm>
            <a:off x="169164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Literature Survey</a:t>
            </a:r>
          </a:p>
        </p:txBody>
      </p:sp>
      <p:sp>
        <p:nvSpPr>
          <p:cNvPr id="18" name="TOC tile 4"/>
          <p:cNvSpPr/>
          <p:nvPr/>
        </p:nvSpPr>
        <p:spPr>
          <a:xfrm>
            <a:off x="86868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39"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8</a:t>
            </a:r>
          </a:p>
        </p:txBody>
      </p:sp>
      <p:sp>
        <p:nvSpPr>
          <p:cNvPr id="20" name="TOC item 4"/>
          <p:cNvSpPr txBox="1"/>
          <p:nvPr/>
        </p:nvSpPr>
        <p:spPr>
          <a:xfrm>
            <a:off x="169164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Requirement Analysis and Specification</a:t>
            </a:r>
          </a:p>
        </p:txBody>
      </p:sp>
      <p:sp>
        <p:nvSpPr>
          <p:cNvPr id="21" name="TOC tile 5"/>
          <p:cNvSpPr/>
          <p:nvPr/>
        </p:nvSpPr>
        <p:spPr>
          <a:xfrm>
            <a:off x="86868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39"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9</a:t>
            </a:r>
          </a:p>
        </p:txBody>
      </p:sp>
      <p:sp>
        <p:nvSpPr>
          <p:cNvPr id="23" name="TOC item 5"/>
          <p:cNvSpPr txBox="1"/>
          <p:nvPr/>
        </p:nvSpPr>
        <p:spPr>
          <a:xfrm>
            <a:off x="169164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Design</a:t>
            </a:r>
          </a:p>
        </p:txBody>
      </p:sp>
      <p:sp>
        <p:nvSpPr>
          <p:cNvPr id="24" name="TOC tile 6"/>
          <p:cNvSpPr/>
          <p:nvPr/>
        </p:nvSpPr>
        <p:spPr>
          <a:xfrm>
            <a:off x="644652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11</a:t>
            </a:r>
          </a:p>
        </p:txBody>
      </p:sp>
      <p:sp>
        <p:nvSpPr>
          <p:cNvPr id="26" name="TOC item 6"/>
          <p:cNvSpPr txBox="1"/>
          <p:nvPr/>
        </p:nvSpPr>
        <p:spPr>
          <a:xfrm>
            <a:off x="726948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Implementation</a:t>
            </a:r>
          </a:p>
        </p:txBody>
      </p:sp>
      <p:sp>
        <p:nvSpPr>
          <p:cNvPr id="27" name="TOC tile 7"/>
          <p:cNvSpPr/>
          <p:nvPr/>
        </p:nvSpPr>
        <p:spPr>
          <a:xfrm>
            <a:off x="644652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0"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13</a:t>
            </a:r>
          </a:p>
        </p:txBody>
      </p:sp>
      <p:sp>
        <p:nvSpPr>
          <p:cNvPr id="29" name="TOC item 7"/>
          <p:cNvSpPr txBox="1"/>
          <p:nvPr/>
        </p:nvSpPr>
        <p:spPr>
          <a:xfrm>
            <a:off x="726948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Testing and Validation</a:t>
            </a:r>
          </a:p>
        </p:txBody>
      </p:sp>
      <p:sp>
        <p:nvSpPr>
          <p:cNvPr id="30" name="TOC tile 8"/>
          <p:cNvSpPr/>
          <p:nvPr/>
        </p:nvSpPr>
        <p:spPr>
          <a:xfrm>
            <a:off x="644652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0"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14</a:t>
            </a:r>
          </a:p>
        </p:txBody>
      </p:sp>
      <p:sp>
        <p:nvSpPr>
          <p:cNvPr id="32" name="TOC item 8"/>
          <p:cNvSpPr txBox="1"/>
          <p:nvPr/>
        </p:nvSpPr>
        <p:spPr>
          <a:xfrm>
            <a:off x="726948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Results and Discussion</a:t>
            </a:r>
          </a:p>
        </p:txBody>
      </p:sp>
      <p:sp>
        <p:nvSpPr>
          <p:cNvPr id="33" name="TOC tile 9"/>
          <p:cNvSpPr/>
          <p:nvPr/>
        </p:nvSpPr>
        <p:spPr>
          <a:xfrm>
            <a:off x="644652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0"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18</a:t>
            </a:r>
          </a:p>
        </p:txBody>
      </p:sp>
      <p:sp>
        <p:nvSpPr>
          <p:cNvPr id="35" name="TOC item 9"/>
          <p:cNvSpPr txBox="1"/>
          <p:nvPr/>
        </p:nvSpPr>
        <p:spPr>
          <a:xfrm>
            <a:off x="726948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Conclusion</a:t>
            </a:r>
          </a:p>
        </p:txBody>
      </p:sp>
      <p:sp>
        <p:nvSpPr>
          <p:cNvPr id="36" name="TOC tile 10"/>
          <p:cNvSpPr/>
          <p:nvPr/>
        </p:nvSpPr>
        <p:spPr>
          <a:xfrm>
            <a:off x="644652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19</a:t>
            </a:r>
          </a:p>
        </p:txBody>
      </p:sp>
      <p:sp>
        <p:nvSpPr>
          <p:cNvPr id="38" name="TOC item 10"/>
          <p:cNvSpPr txBox="1"/>
          <p:nvPr/>
        </p:nvSpPr>
        <p:spPr>
          <a:xfrm>
            <a:off x="726948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POs mapping matrix</a:t>
            </a:r>
          </a:p>
        </p:txBody>
      </p:sp>
      <p:sp>
        <p:nvSpPr>
          <p:cNvPr id="39" name="TextBox 38"/>
          <p:cNvSpPr txBox="1"/>
          <p:nvPr/>
        </p:nvSpPr>
        <p:spPr>
          <a:xfrm>
            <a:off x="868680" y="6080760"/>
            <a:ext cx="7315200" cy="274320"/>
          </a:xfrm>
          <a:prstGeom prst="rect">
            <a:avLst/>
          </a:prstGeom>
          <a:noFill/>
        </p:spPr>
        <p:txBody>
          <a:bodyPr wrap="square" lIns="45720" rIns="45720" tIns="27432" bIns="27432" anchor="t">
            <a:noAutofit/>
          </a:bodyPr>
          <a:lstStyle/>
          <a:p>
            <a:pPr algn="l"/>
            <a:r>
              <a:rPr sz="1200" b="0" i="0">
                <a:solidFill>
                  <a:srgbClr val="8A97A8"/>
                </a:solidFill>
                <a:latin typeface="Calibri"/>
              </a:rPr>
              <a:t>Circle shows the slide number</a:t>
            </a:r>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Abstract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Card Three goals"/>
          <p:cNvSpPr/>
          <p:nvPr/>
        </p:nvSpPr>
        <p:spPr>
          <a:xfrm>
            <a:off x="59436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600200"/>
            <a:ext cx="3063240" cy="54864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Three goals</a:t>
            </a:r>
          </a:p>
        </p:txBody>
      </p:sp>
      <p:sp>
        <p:nvSpPr>
          <p:cNvPr id="10" name="Card Two optimisers"/>
          <p:cNvSpPr/>
          <p:nvPr/>
        </p:nvSpPr>
        <p:spPr>
          <a:xfrm>
            <a:off x="438912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600200"/>
            <a:ext cx="3063240" cy="54864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Two optimisers</a:t>
            </a:r>
          </a:p>
        </p:txBody>
      </p:sp>
      <p:sp>
        <p:nvSpPr>
          <p:cNvPr id="12" name="Card What we found"/>
          <p:cNvSpPr/>
          <p:nvPr/>
        </p:nvSpPr>
        <p:spPr>
          <a:xfrm>
            <a:off x="8183879"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0" y="1600200"/>
            <a:ext cx="3063240" cy="54864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What we found</a:t>
            </a:r>
          </a:p>
        </p:txBody>
      </p:sp>
      <p:sp>
        <p:nvSpPr>
          <p:cNvPr id="14" name="Rounded Rectangle 13"/>
          <p:cNvSpPr/>
          <p:nvPr/>
        </p:nvSpPr>
        <p:spPr>
          <a:xfrm>
            <a:off x="868680" y="2423160"/>
            <a:ext cx="2971800" cy="594360"/>
          </a:xfrm>
          <a:prstGeom prst="roundRect">
            <a:avLst>
              <a:gd name="adj" fmla="val 3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Maximise return</a:t>
            </a:r>
          </a:p>
        </p:txBody>
      </p:sp>
      <p:sp>
        <p:nvSpPr>
          <p:cNvPr id="15" name="Rounded Rectangle 14"/>
          <p:cNvSpPr/>
          <p:nvPr/>
        </p:nvSpPr>
        <p:spPr>
          <a:xfrm>
            <a:off x="868680" y="3200400"/>
            <a:ext cx="2971800" cy="594360"/>
          </a:xfrm>
          <a:prstGeom prst="roundRect">
            <a:avLst>
              <a:gd name="adj" fmla="val 30000"/>
            </a:avLst>
          </a:prstGeom>
          <a:solidFill>
            <a:srgbClr val="FFFFFF"/>
          </a:solidFill>
          <a:ln w="12700">
            <a:solidFill>
              <a:srgbClr val="335B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volatility</a:t>
            </a:r>
          </a:p>
        </p:txBody>
      </p:sp>
      <p:sp>
        <p:nvSpPr>
          <p:cNvPr id="16" name="Rounded Rectangle 15"/>
          <p:cNvSpPr/>
          <p:nvPr/>
        </p:nvSpPr>
        <p:spPr>
          <a:xfrm>
            <a:off x="868680" y="3977639"/>
            <a:ext cx="2971800" cy="594360"/>
          </a:xfrm>
          <a:prstGeom prst="roundRect">
            <a:avLst>
              <a:gd name="adj" fmla="val 30000"/>
            </a:avLst>
          </a:prstGeom>
          <a:solidFill>
            <a:srgbClr val="FFFFFF"/>
          </a:solidFill>
          <a:ln w="12700">
            <a:solidFill>
              <a:srgbClr val="8A97A8"/>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CVaR (tail loss)</a:t>
            </a:r>
          </a:p>
        </p:txBody>
      </p:sp>
      <p:sp>
        <p:nvSpPr>
          <p:cNvPr id="17" name="TextBox 16"/>
          <p:cNvSpPr txBox="1"/>
          <p:nvPr/>
        </p:nvSpPr>
        <p:spPr>
          <a:xfrm>
            <a:off x="868680" y="4754880"/>
            <a:ext cx="3017520" cy="457200"/>
          </a:xfrm>
          <a:prstGeom prst="rect">
            <a:avLst/>
          </a:prstGeom>
          <a:noFill/>
        </p:spPr>
        <p:txBody>
          <a:bodyPr wrap="square" lIns="45720" rIns="45720" tIns="27432" bIns="27432" anchor="t">
            <a:noAutofit/>
          </a:bodyPr>
          <a:lstStyle/>
          <a:p>
            <a:pPr algn="ctr"/>
            <a:r>
              <a:rPr sz="1400" b="0" i="0">
                <a:solidFill>
                  <a:srgbClr val="8A97A8"/>
                </a:solidFill>
                <a:latin typeface="Calibri"/>
              </a:rPr>
              <a:t>under cap, floor and holding limits</a:t>
            </a:r>
          </a:p>
        </p:txBody>
      </p:sp>
      <p:sp>
        <p:nvSpPr>
          <p:cNvPr id="18" name="Rounded Rectangle 17"/>
          <p:cNvSpPr/>
          <p:nvPr/>
        </p:nvSpPr>
        <p:spPr>
          <a:xfrm>
            <a:off x="4663440" y="2423160"/>
            <a:ext cx="2971800" cy="731520"/>
          </a:xfrm>
          <a:prstGeom prst="roundRect">
            <a:avLst>
              <a:gd name="adj" fmla="val 2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Particle swarm</a:t>
            </a:r>
          </a:p>
          <a:p>
            <a:pPr algn="ctr"/>
            <a:r>
              <a:rPr sz="1400" b="0" i="0">
                <a:solidFill>
                  <a:srgbClr val="8A97A8"/>
                </a:solidFill>
                <a:latin typeface="Calibri"/>
              </a:rPr>
              <a:t>MOPSO</a:t>
            </a:r>
          </a:p>
        </p:txBody>
      </p:sp>
      <p:sp>
        <p:nvSpPr>
          <p:cNvPr id="19" name="Rounded Rectangle 18"/>
          <p:cNvSpPr/>
          <p:nvPr/>
        </p:nvSpPr>
        <p:spPr>
          <a:xfrm>
            <a:off x="4663440" y="3291840"/>
            <a:ext cx="2971800" cy="731520"/>
          </a:xfrm>
          <a:prstGeom prst="roundRect">
            <a:avLst>
              <a:gd name="adj" fmla="val 2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Genetic algorithm</a:t>
            </a:r>
          </a:p>
          <a:p>
            <a:pPr algn="ctr"/>
            <a:r>
              <a:rPr sz="1400" b="0" i="0">
                <a:solidFill>
                  <a:srgbClr val="8A97A8"/>
                </a:solidFill>
                <a:latin typeface="Calibri"/>
              </a:rPr>
              <a:t>NSGA-II</a:t>
            </a:r>
          </a:p>
        </p:txBody>
      </p:sp>
      <p:sp>
        <p:nvSpPr>
          <p:cNvPr id="20" name="Rounded Rectangle 19"/>
          <p:cNvSpPr/>
          <p:nvPr/>
        </p:nvSpPr>
        <p:spPr>
          <a:xfrm>
            <a:off x="4663440" y="4206240"/>
            <a:ext cx="2971800" cy="731520"/>
          </a:xfrm>
          <a:prstGeom prst="roundRect">
            <a:avLst>
              <a:gd name="adj" fmla="val 2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1" i="0">
                <a:solidFill>
                  <a:srgbClr val="335B74"/>
                </a:solidFill>
                <a:latin typeface="Calibri"/>
              </a:rPr>
              <a:t>One shared repair operator</a:t>
            </a:r>
          </a:p>
        </p:txBody>
      </p:sp>
      <p:sp>
        <p:nvSpPr>
          <p:cNvPr id="21" name="TextBox 20"/>
          <p:cNvSpPr txBox="1"/>
          <p:nvPr/>
        </p:nvSpPr>
        <p:spPr>
          <a:xfrm>
            <a:off x="8458200" y="2331720"/>
            <a:ext cx="3017520" cy="822960"/>
          </a:xfrm>
          <a:prstGeom prst="rect">
            <a:avLst/>
          </a:prstGeom>
          <a:noFill/>
        </p:spPr>
        <p:txBody>
          <a:bodyPr wrap="square" lIns="45720" rIns="45720" tIns="27432" bIns="27432" anchor="t">
            <a:noAutofit/>
          </a:bodyPr>
          <a:lstStyle/>
          <a:p>
            <a:pPr algn="ctr"/>
            <a:r>
              <a:rPr sz="4000" b="1" i="0">
                <a:solidFill>
                  <a:srgbClr val="42BA97"/>
                </a:solidFill>
                <a:latin typeface="Calibri"/>
              </a:rPr>
              <a:t>0.70 vs 0.25</a:t>
            </a:r>
          </a:p>
        </p:txBody>
      </p:sp>
      <p:sp>
        <p:nvSpPr>
          <p:cNvPr id="22" name="TextBox 21"/>
          <p:cNvSpPr txBox="1"/>
          <p:nvPr/>
        </p:nvSpPr>
        <p:spPr>
          <a:xfrm>
            <a:off x="8458200" y="310896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front quality, optimisers vs random search</a:t>
            </a:r>
          </a:p>
        </p:txBody>
      </p:sp>
      <p:sp>
        <p:nvSpPr>
          <p:cNvPr id="23" name="TextBox 22"/>
          <p:cNvSpPr txBox="1"/>
          <p:nvPr/>
        </p:nvSpPr>
        <p:spPr>
          <a:xfrm>
            <a:off x="8458200" y="3794760"/>
            <a:ext cx="3017520" cy="822960"/>
          </a:xfrm>
          <a:prstGeom prst="rect">
            <a:avLst/>
          </a:prstGeom>
          <a:noFill/>
        </p:spPr>
        <p:txBody>
          <a:bodyPr wrap="square" lIns="45720" rIns="45720" tIns="27432" bIns="27432" anchor="t">
            <a:noAutofit/>
          </a:bodyPr>
          <a:lstStyle/>
          <a:p>
            <a:pPr algn="ctr"/>
            <a:r>
              <a:rPr sz="4000" b="1" i="0">
                <a:solidFill>
                  <a:srgbClr val="D9731A"/>
                </a:solidFill>
                <a:latin typeface="Calibri"/>
              </a:rPr>
              <a:t>1.34 to 0.53</a:t>
            </a:r>
          </a:p>
        </p:txBody>
      </p:sp>
      <p:sp>
        <p:nvSpPr>
          <p:cNvPr id="24" name="TextBox 23"/>
          <p:cNvSpPr txBox="1"/>
          <p:nvPr/>
        </p:nvSpPr>
        <p:spPr>
          <a:xfrm>
            <a:off x="8458200" y="457200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Sharpe ratio, training to held-out data</a:t>
            </a:r>
          </a:p>
        </p:txBody>
      </p:sp>
      <p:sp>
        <p:nvSpPr>
          <p:cNvPr id="25" name="TextBox 24"/>
          <p:cNvSpPr txBox="1"/>
          <p:nvPr/>
        </p:nvSpPr>
        <p:spPr>
          <a:xfrm>
            <a:off x="594360" y="5623560"/>
            <a:ext cx="11155680" cy="502920"/>
          </a:xfrm>
          <a:prstGeom prst="rect">
            <a:avLst/>
          </a:prstGeom>
          <a:noFill/>
        </p:spPr>
        <p:txBody>
          <a:bodyPr wrap="square" lIns="45720" rIns="45720" tIns="27432" bIns="27432" anchor="t">
            <a:noAutofit/>
          </a:bodyPr>
          <a:lstStyle/>
          <a:p>
            <a:pPr algn="ctr"/>
            <a:r>
              <a:rPr sz="2400" b="1" i="1">
                <a:solidFill>
                  <a:srgbClr val="335B74"/>
                </a:solidFill>
                <a:latin typeface="Calibri"/>
              </a:rPr>
              <a:t>A good front is not a promise of future return.</a:t>
            </a:r>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the problem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Efficient frontier figure" descr="crop_front_a.png"/>
          <p:cNvPicPr>
            <a:picLocks noChangeAspect="1"/>
          </p:cNvPicPr>
          <p:nvPr/>
        </p:nvPicPr>
        <p:blipFill>
          <a:blip r:embed="rId4"/>
          <a:stretch>
            <a:fillRect/>
          </a:stretch>
        </p:blipFill>
        <p:spPr>
          <a:xfrm>
            <a:off x="685800" y="1371600"/>
            <a:ext cx="4937760" cy="4106652"/>
          </a:xfrm>
          <a:prstGeom prst="rect">
            <a:avLst/>
          </a:prstGeom>
        </p:spPr>
      </p:pic>
      <p:sp>
        <p:nvSpPr>
          <p:cNvPr id="9" name="TextBox 8"/>
          <p:cNvSpPr txBox="1"/>
          <p:nvPr/>
        </p:nvSpPr>
        <p:spPr>
          <a:xfrm>
            <a:off x="548640" y="5669280"/>
            <a:ext cx="5486400" cy="365760"/>
          </a:xfrm>
          <a:prstGeom prst="rect">
            <a:avLst/>
          </a:prstGeom>
          <a:noFill/>
        </p:spPr>
        <p:txBody>
          <a:bodyPr wrap="square" lIns="45720" rIns="45720" tIns="27432" bIns="27432" anchor="t">
            <a:noAutofit/>
          </a:bodyPr>
          <a:lstStyle/>
          <a:p>
            <a:pPr algn="ctr"/>
            <a:r>
              <a:rPr sz="1300" b="0" i="0">
                <a:solidFill>
                  <a:srgbClr val="8A97A8"/>
                </a:solidFill>
                <a:latin typeface="Calibri"/>
              </a:rPr>
              <a:t>Each dot is a feasible portfolio; the front is the best trade-off</a:t>
            </a:r>
          </a:p>
        </p:txBody>
      </p:sp>
      <p:sp>
        <p:nvSpPr>
          <p:cNvPr id="10" name="Goal 1"/>
          <p:cNvSpPr/>
          <p:nvPr/>
        </p:nvSpPr>
        <p:spPr>
          <a:xfrm>
            <a:off x="6492240" y="146304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0" y="1645920"/>
            <a:ext cx="502920" cy="5029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7360920" y="153619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Maximise annual return</a:t>
            </a:r>
          </a:p>
        </p:txBody>
      </p:sp>
      <p:sp>
        <p:nvSpPr>
          <p:cNvPr id="13" name="Goal 2"/>
          <p:cNvSpPr/>
          <p:nvPr/>
        </p:nvSpPr>
        <p:spPr>
          <a:xfrm>
            <a:off x="6492240" y="251460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0" y="2697480"/>
            <a:ext cx="502920" cy="50292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7360920" y="258775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Minimise volatility</a:t>
            </a:r>
          </a:p>
        </p:txBody>
      </p:sp>
      <p:sp>
        <p:nvSpPr>
          <p:cNvPr id="16" name="Goal 3"/>
          <p:cNvSpPr/>
          <p:nvPr/>
        </p:nvSpPr>
        <p:spPr>
          <a:xfrm>
            <a:off x="6492240" y="356616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3749039"/>
            <a:ext cx="502920" cy="50292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7360920" y="3639312"/>
            <a:ext cx="4251960" cy="731520"/>
          </a:xfrm>
          <a:prstGeom prst="rect">
            <a:avLst/>
          </a:prstGeom>
          <a:noFill/>
        </p:spPr>
        <p:txBody>
          <a:bodyPr wrap="square" lIns="45720" rIns="45720" tIns="27432" bIns="27432" anchor="ctr">
            <a:noAutofit/>
          </a:bodyPr>
          <a:lstStyle/>
          <a:p>
            <a:pPr algn="l"/>
            <a:r>
              <a:rPr sz="1800" b="0" i="0">
                <a:solidFill>
                  <a:srgbClr val="335B74"/>
                </a:solidFill>
                <a:latin typeface="Calibri"/>
              </a:rPr>
              <a:t>Minimise CVaR: average loss on the worst 5% of days</a:t>
            </a:r>
          </a:p>
        </p:txBody>
      </p:sp>
      <p:sp>
        <p:nvSpPr>
          <p:cNvPr id="19" name="TextBox 18"/>
          <p:cNvSpPr txBox="1"/>
          <p:nvPr/>
        </p:nvSpPr>
        <p:spPr>
          <a:xfrm>
            <a:off x="6492240" y="4663440"/>
            <a:ext cx="5212080" cy="365760"/>
          </a:xfrm>
          <a:prstGeom prst="rect">
            <a:avLst/>
          </a:prstGeom>
          <a:noFill/>
        </p:spPr>
        <p:txBody>
          <a:bodyPr wrap="square" lIns="45720" rIns="45720" tIns="27432" bIns="27432" anchor="t">
            <a:noAutofit/>
          </a:bodyPr>
          <a:lstStyle/>
          <a:p>
            <a:pPr algn="l"/>
            <a:r>
              <a:rPr sz="1600" b="1" i="0">
                <a:solidFill>
                  <a:srgbClr val="2683C6"/>
                </a:solidFill>
                <a:latin typeface="Calibri"/>
              </a:rPr>
              <a:t>Constraints applied to every portfolio</a:t>
            </a:r>
          </a:p>
        </p:txBody>
      </p:sp>
      <p:sp>
        <p:nvSpPr>
          <p:cNvPr id="20" name="Rounded Rectangle 19"/>
          <p:cNvSpPr/>
          <p:nvPr/>
        </p:nvSpPr>
        <p:spPr>
          <a:xfrm>
            <a:off x="6492240" y="5120640"/>
            <a:ext cx="132588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Long-only</a:t>
            </a:r>
          </a:p>
        </p:txBody>
      </p:sp>
      <p:sp>
        <p:nvSpPr>
          <p:cNvPr id="21" name="Rounded Rectangle 20"/>
          <p:cNvSpPr/>
          <p:nvPr/>
        </p:nvSpPr>
        <p:spPr>
          <a:xfrm>
            <a:off x="7927848" y="5120640"/>
            <a:ext cx="160020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Fully invested</a:t>
            </a:r>
          </a:p>
        </p:txBody>
      </p:sp>
      <p:sp>
        <p:nvSpPr>
          <p:cNvPr id="22" name="Rounded Rectangle 21"/>
          <p:cNvSpPr/>
          <p:nvPr/>
        </p:nvSpPr>
        <p:spPr>
          <a:xfrm>
            <a:off x="9646920" y="5120640"/>
            <a:ext cx="1874519"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Cap 30% per stock</a:t>
            </a:r>
          </a:p>
        </p:txBody>
      </p:sp>
      <p:sp>
        <p:nvSpPr>
          <p:cNvPr id="23" name="Rounded Rectangle 22"/>
          <p:cNvSpPr/>
          <p:nvPr/>
        </p:nvSpPr>
        <p:spPr>
          <a:xfrm>
            <a:off x="6492240" y="5623560"/>
            <a:ext cx="16916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Min holding 1%</a:t>
            </a:r>
          </a:p>
        </p:txBody>
      </p:sp>
      <p:sp>
        <p:nvSpPr>
          <p:cNvPr id="24" name="Rounded Rectangle 23"/>
          <p:cNvSpPr/>
          <p:nvPr/>
        </p:nvSpPr>
        <p:spPr>
          <a:xfrm>
            <a:off x="8293608" y="5623560"/>
            <a:ext cx="19202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At most K holdings</a:t>
            </a:r>
          </a:p>
        </p:txBody>
      </p:sp>
    </p:spTree>
    <p:extLst>
      <p:ext uri="{BB962C8B-B14F-4D97-AF65-F5344CB8AC3E}">
        <p14:creationId xmlns:p14="http://schemas.microsoft.com/office/powerpoint/2010/main" val="249234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what we built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uilt tile 1"/>
          <p:cNvSpPr/>
          <p:nvPr/>
        </p:nvSpPr>
        <p:spPr>
          <a:xfrm>
            <a:off x="59436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1737360"/>
            <a:ext cx="822960" cy="8229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P</a:t>
            </a:r>
          </a:p>
        </p:txBody>
      </p:sp>
      <p:sp>
        <p:nvSpPr>
          <p:cNvPr id="10" name="TextBox 9"/>
          <p:cNvSpPr txBox="1"/>
          <p:nvPr/>
        </p:nvSpPr>
        <p:spPr>
          <a:xfrm>
            <a:off x="73152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Python library</a:t>
            </a:r>
          </a:p>
        </p:txBody>
      </p:sp>
      <p:sp>
        <p:nvSpPr>
          <p:cNvPr id="11" name="TextBox 10"/>
          <p:cNvSpPr txBox="1"/>
          <p:nvPr/>
        </p:nvSpPr>
        <p:spPr>
          <a:xfrm>
            <a:off x="77724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Portfolio model, repair operator, automated tests</a:t>
            </a:r>
          </a:p>
        </p:txBody>
      </p:sp>
      <p:sp>
        <p:nvSpPr>
          <p:cNvPr id="12" name="Built tile 2"/>
          <p:cNvSpPr/>
          <p:nvPr/>
        </p:nvSpPr>
        <p:spPr>
          <a:xfrm>
            <a:off x="342900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43400" y="1737360"/>
            <a:ext cx="822960" cy="8229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T</a:t>
            </a:r>
          </a:p>
        </p:txBody>
      </p:sp>
      <p:sp>
        <p:nvSpPr>
          <p:cNvPr id="14" name="TextBox 13"/>
          <p:cNvSpPr txBox="1"/>
          <p:nvPr/>
        </p:nvSpPr>
        <p:spPr>
          <a:xfrm>
            <a:off x="356616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Two optimisers</a:t>
            </a:r>
          </a:p>
        </p:txBody>
      </p:sp>
      <p:sp>
        <p:nvSpPr>
          <p:cNvPr id="15" name="TextBox 14"/>
          <p:cNvSpPr txBox="1"/>
          <p:nvPr/>
        </p:nvSpPr>
        <p:spPr>
          <a:xfrm>
            <a:off x="361188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MOPSO and NSGA-II on one feasible space</a:t>
            </a:r>
          </a:p>
        </p:txBody>
      </p:sp>
      <p:sp>
        <p:nvSpPr>
          <p:cNvPr id="16" name="Built tile 3"/>
          <p:cNvSpPr/>
          <p:nvPr/>
        </p:nvSpPr>
        <p:spPr>
          <a:xfrm>
            <a:off x="626364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78040" y="1737360"/>
            <a:ext cx="822960" cy="82296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F</a:t>
            </a:r>
          </a:p>
        </p:txBody>
      </p:sp>
      <p:sp>
        <p:nvSpPr>
          <p:cNvPr id="18" name="TextBox 17"/>
          <p:cNvSpPr txBox="1"/>
          <p:nvPr/>
        </p:nvSpPr>
        <p:spPr>
          <a:xfrm>
            <a:off x="640080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Fair evaluation</a:t>
            </a:r>
          </a:p>
        </p:txBody>
      </p:sp>
      <p:sp>
        <p:nvSpPr>
          <p:cNvPr id="19" name="TextBox 18"/>
          <p:cNvSpPr txBox="1"/>
          <p:nvPr/>
        </p:nvSpPr>
        <p:spPr>
          <a:xfrm>
            <a:off x="644652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Hypervolume, random search, 30 held-out markets</a:t>
            </a:r>
          </a:p>
        </p:txBody>
      </p:sp>
      <p:sp>
        <p:nvSpPr>
          <p:cNvPr id="20" name="Built tile 4"/>
          <p:cNvSpPr/>
          <p:nvPr/>
        </p:nvSpPr>
        <p:spPr>
          <a:xfrm>
            <a:off x="909828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12680" y="1737360"/>
            <a:ext cx="822960" cy="82296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W</a:t>
            </a:r>
          </a:p>
        </p:txBody>
      </p:sp>
      <p:sp>
        <p:nvSpPr>
          <p:cNvPr id="22" name="TextBox 21"/>
          <p:cNvSpPr txBox="1"/>
          <p:nvPr/>
        </p:nvSpPr>
        <p:spPr>
          <a:xfrm>
            <a:off x="923544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Web workbench</a:t>
            </a:r>
          </a:p>
        </p:txBody>
      </p:sp>
      <p:sp>
        <p:nvSpPr>
          <p:cNvPr id="23" name="TextBox 22"/>
          <p:cNvSpPr txBox="1"/>
          <p:nvPr/>
        </p:nvSpPr>
        <p:spPr>
          <a:xfrm>
            <a:off x="928116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Watch the search and inspect any portfolio</a:t>
            </a:r>
          </a:p>
        </p:txBody>
      </p:sp>
      <p:sp>
        <p:nvSpPr>
          <p:cNvPr id="24" name="TextBox 23"/>
          <p:cNvSpPr txBox="1"/>
          <p:nvPr/>
        </p:nvSpPr>
        <p:spPr>
          <a:xfrm>
            <a:off x="594360" y="4846320"/>
            <a:ext cx="3657600" cy="365760"/>
          </a:xfrm>
          <a:prstGeom prst="rect">
            <a:avLst/>
          </a:prstGeom>
          <a:noFill/>
        </p:spPr>
        <p:txBody>
          <a:bodyPr wrap="square" lIns="45720" rIns="45720" tIns="27432" bIns="27432" anchor="t">
            <a:noAutofit/>
          </a:bodyPr>
          <a:lstStyle/>
          <a:p>
            <a:pPr algn="l"/>
            <a:r>
              <a:rPr sz="1600" b="1" i="0">
                <a:solidFill>
                  <a:srgbClr val="2683C6"/>
                </a:solidFill>
                <a:latin typeface="Calibri"/>
              </a:rPr>
              <a:t>Sustainable Development Goals</a:t>
            </a:r>
          </a:p>
        </p:txBody>
      </p:sp>
      <p:sp>
        <p:nvSpPr>
          <p:cNvPr id="25" name="Rounded Rectangle 24"/>
          <p:cNvSpPr/>
          <p:nvPr/>
        </p:nvSpPr>
        <p:spPr>
          <a:xfrm>
            <a:off x="594360" y="5303520"/>
            <a:ext cx="274320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4  Quality Education</a:t>
            </a:r>
          </a:p>
        </p:txBody>
      </p:sp>
      <p:sp>
        <p:nvSpPr>
          <p:cNvPr id="26" name="Rounded Rectangle 25"/>
          <p:cNvSpPr/>
          <p:nvPr/>
        </p:nvSpPr>
        <p:spPr>
          <a:xfrm>
            <a:off x="3520440" y="5303520"/>
            <a:ext cx="44805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8  Decent Work and Economic Growth</a:t>
            </a:r>
          </a:p>
        </p:txBody>
      </p:sp>
      <p:sp>
        <p:nvSpPr>
          <p:cNvPr id="27" name="Rounded Rectangle 26"/>
          <p:cNvSpPr/>
          <p:nvPr/>
        </p:nvSpPr>
        <p:spPr>
          <a:xfrm>
            <a:off x="8092440" y="5303520"/>
            <a:ext cx="40233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9  Industry, Innovation, Infrastructure</a:t>
            </a:r>
          </a:p>
        </p:txBody>
      </p:sp>
      <p:sp>
        <p:nvSpPr>
          <p:cNvPr id="28" name="TextBox 27"/>
          <p:cNvSpPr txBox="1"/>
          <p:nvPr/>
        </p:nvSpPr>
        <p:spPr>
          <a:xfrm>
            <a:off x="594360" y="585216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Scope: simulated markets, long-only portfolios, no trading costs in the optimisation</a:t>
            </a:r>
          </a:p>
        </p:txBody>
      </p:sp>
    </p:spTree>
    <p:extLst>
      <p:ext uri="{BB962C8B-B14F-4D97-AF65-F5344CB8AC3E}">
        <p14:creationId xmlns:p14="http://schemas.microsoft.com/office/powerpoint/2010/main" val="2492349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Literature survey table"/>
          <p:cNvGraphicFramePr>
            <a:graphicFrameLocks noGrp="1"/>
          </p:cNvGraphicFramePr>
          <p:nvPr/>
        </p:nvGraphicFramePr>
        <p:xfrm>
          <a:off x="548640" y="1280160"/>
          <a:ext cx="11109959" cy="4498848"/>
        </p:xfrm>
        <a:graphic>
          <a:graphicData uri="http://schemas.openxmlformats.org/drawingml/2006/table">
            <a:tbl>
              <a:tblPr firstRow="1" bandRow="1">
                <a:tableStyleId>{5C22544A-7EE6-4342-B048-85BDC9FD1C3A}</a:tableStyleId>
              </a:tblPr>
              <a:tblGrid>
                <a:gridCol w="2788920"/>
                <a:gridCol w="1828800"/>
                <a:gridCol w="914400"/>
                <a:gridCol w="2011680"/>
                <a:gridCol w="1874519"/>
                <a:gridCol w="1691640"/>
              </a:tblGrid>
              <a:tr h="530352">
                <a:tc>
                  <a:txBody>
                    <a:bodyPr/>
                    <a:lstStyle/>
                    <a:p>
                      <a:r>
                        <a:rPr sz="1400" b="1">
                          <a:solidFill>
                            <a:srgbClr val="FFFFFF"/>
                          </a:solidFill>
                          <a:latin typeface="Calibri"/>
                        </a:rPr>
                        <a:t>Paper Title</a:t>
                      </a:r>
                    </a:p>
                  </a:txBody>
                  <a:tcPr marL="64008" marR="64008" marT="27432" marB="27432" anchor="ctr"/>
                </a:tc>
                <a:tc>
                  <a:txBody>
                    <a:bodyPr/>
                    <a:lstStyle/>
                    <a:p>
                      <a:r>
                        <a:rPr sz="1400" b="1">
                          <a:solidFill>
                            <a:srgbClr val="FFFFFF"/>
                          </a:solidFill>
                          <a:latin typeface="Calibri"/>
                        </a:rPr>
                        <a:t>Name of Journal / Conference</a:t>
                      </a:r>
                    </a:p>
                  </a:txBody>
                  <a:tcPr marL="64008" marR="64008" marT="27432" marB="27432" anchor="ctr"/>
                </a:tc>
                <a:tc>
                  <a:txBody>
                    <a:bodyPr/>
                    <a:lstStyle/>
                    <a:p>
                      <a:r>
                        <a:rPr sz="1400" b="1">
                          <a:solidFill>
                            <a:srgbClr val="FFFFFF"/>
                          </a:solidFill>
                          <a:latin typeface="Calibri"/>
                        </a:rPr>
                        <a:t>Published Year</a:t>
                      </a:r>
                    </a:p>
                  </a:txBody>
                  <a:tcPr marL="64008" marR="64008" marT="27432" marB="27432" anchor="ctr"/>
                </a:tc>
                <a:tc>
                  <a:txBody>
                    <a:bodyPr/>
                    <a:lstStyle/>
                    <a:p>
                      <a:r>
                        <a:rPr sz="1400" b="1">
                          <a:solidFill>
                            <a:srgbClr val="FFFFFF"/>
                          </a:solidFill>
                          <a:latin typeface="Calibri"/>
                        </a:rPr>
                        <a:t>Novelty / Techniques</a:t>
                      </a:r>
                    </a:p>
                  </a:txBody>
                  <a:tcPr marL="64008" marR="64008" marT="27432" marB="27432" anchor="ctr"/>
                </a:tc>
                <a:tc>
                  <a:txBody>
                    <a:bodyPr/>
                    <a:lstStyle/>
                    <a:p>
                      <a:r>
                        <a:rPr sz="1400" b="1">
                          <a:solidFill>
                            <a:srgbClr val="FFFFFF"/>
                          </a:solidFill>
                          <a:latin typeface="Calibri"/>
                        </a:rPr>
                        <a:t>Limitations</a:t>
                      </a:r>
                    </a:p>
                  </a:txBody>
                  <a:tcPr marL="64008" marR="64008" marT="27432" marB="27432" anchor="ctr"/>
                </a:tc>
                <a:tc>
                  <a:txBody>
                    <a:bodyPr/>
                    <a:lstStyle/>
                    <a:p>
                      <a:r>
                        <a:rPr sz="1400" b="1">
                          <a:solidFill>
                            <a:srgbClr val="FFFFFF"/>
                          </a:solidFill>
                          <a:latin typeface="Calibri"/>
                        </a:rPr>
                        <a:t>Gap Identified</a:t>
                      </a:r>
                    </a:p>
                  </a:txBody>
                  <a:tcPr marL="64008" marR="64008" marT="27432" marB="27432" anchor="ctr"/>
                </a:tc>
              </a:tr>
              <a:tr h="566928">
                <a:tc>
                  <a:txBody>
                    <a:bodyPr/>
                    <a:lstStyle/>
                    <a:p>
                      <a:r>
                        <a:rPr sz="1200" b="0">
                          <a:solidFill>
                            <a:srgbClr val="335B74"/>
                          </a:solidFill>
                          <a:latin typeface="Calibri"/>
                        </a:rPr>
                        <a:t>Portfolio selection (Markowitz)</a:t>
                      </a:r>
                    </a:p>
                  </a:txBody>
                  <a:tcPr marL="64008" marR="64008" marT="27432" marB="27432" anchor="ctr"/>
                </a:tc>
                <a:tc>
                  <a:txBody>
                    <a:bodyPr/>
                    <a:lstStyle/>
                    <a:p>
                      <a:r>
                        <a:rPr sz="1200" b="0">
                          <a:solidFill>
                            <a:srgbClr val="335B74"/>
                          </a:solidFill>
                          <a:latin typeface="Calibri"/>
                        </a:rPr>
                        <a:t>The Journal of Finance</a:t>
                      </a:r>
                    </a:p>
                  </a:txBody>
                  <a:tcPr marL="64008" marR="64008" marT="27432" marB="27432" anchor="ctr"/>
                </a:tc>
                <a:tc>
                  <a:txBody>
                    <a:bodyPr/>
                    <a:lstStyle/>
                    <a:p>
                      <a:r>
                        <a:rPr sz="1200" b="0">
                          <a:solidFill>
                            <a:srgbClr val="335B74"/>
                          </a:solidFill>
                          <a:latin typeface="Calibri"/>
                        </a:rPr>
                        <a:t>1952</a:t>
                      </a:r>
                    </a:p>
                  </a:txBody>
                  <a:tcPr marL="64008" marR="64008" marT="27432" marB="27432" anchor="ctr"/>
                </a:tc>
                <a:tc>
                  <a:txBody>
                    <a:bodyPr/>
                    <a:lstStyle/>
                    <a:p>
                      <a:r>
                        <a:rPr sz="1200" b="0">
                          <a:solidFill>
                            <a:srgbClr val="335B74"/>
                          </a:solidFill>
                          <a:latin typeface="Calibri"/>
                        </a:rPr>
                        <a:t>Mean-variance model, efficient frontier</a:t>
                      </a:r>
                    </a:p>
                  </a:txBody>
                  <a:tcPr marL="64008" marR="64008" marT="27432" marB="27432" anchor="ctr"/>
                </a:tc>
                <a:tc>
                  <a:txBody>
                    <a:bodyPr/>
                    <a:lstStyle/>
                    <a:p>
                      <a:r>
                        <a:rPr sz="1200" b="0">
                          <a:solidFill>
                            <a:srgbClr val="335B74"/>
                          </a:solidFill>
                          <a:latin typeface="Calibri"/>
                        </a:rPr>
                        <a:t>Variance only; no holding limits</a:t>
                      </a:r>
                    </a:p>
                  </a:txBody>
                  <a:tcPr marL="64008" marR="64008" marT="27432" marB="27432" anchor="ctr"/>
                </a:tc>
                <a:tc>
                  <a:txBody>
                    <a:bodyPr/>
                    <a:lstStyle/>
                    <a:p>
                      <a:r>
                        <a:rPr sz="1200" b="0">
                          <a:solidFill>
                            <a:srgbClr val="335B74"/>
                          </a:solidFill>
                          <a:latin typeface="Calibri"/>
                        </a:rPr>
                        <a:t>Needs tail risk and constraints</a:t>
                      </a:r>
                    </a:p>
                  </a:txBody>
                  <a:tcPr marL="64008" marR="64008" marT="27432" marB="27432" anchor="ctr"/>
                </a:tc>
              </a:tr>
              <a:tr h="566928">
                <a:tc>
                  <a:txBody>
                    <a:bodyPr/>
                    <a:lstStyle/>
                    <a:p>
                      <a:r>
                        <a:rPr sz="1200" b="0">
                          <a:solidFill>
                            <a:srgbClr val="335B74"/>
                          </a:solidFill>
                          <a:latin typeface="Calibri"/>
                        </a:rPr>
                        <a:t>Optimization of conditional value-at-risk (Rockafellar, Uryasev)</a:t>
                      </a:r>
                    </a:p>
                  </a:txBody>
                  <a:tcPr marL="64008" marR="64008" marT="27432" marB="27432" anchor="ctr"/>
                </a:tc>
                <a:tc>
                  <a:txBody>
                    <a:bodyPr/>
                    <a:lstStyle/>
                    <a:p>
                      <a:r>
                        <a:rPr sz="1200" b="0">
                          <a:solidFill>
                            <a:srgbClr val="335B74"/>
                          </a:solidFill>
                          <a:latin typeface="Calibri"/>
                        </a:rPr>
                        <a:t>The Journal of Risk</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CVaR as a tail-risk measure</a:t>
                      </a:r>
                    </a:p>
                  </a:txBody>
                  <a:tcPr marL="64008" marR="64008" marT="27432" marB="27432" anchor="ctr"/>
                </a:tc>
                <a:tc>
                  <a:txBody>
                    <a:bodyPr/>
                    <a:lstStyle/>
                    <a:p>
                      <a:r>
                        <a:rPr sz="1200" b="0">
                          <a:solidFill>
                            <a:srgbClr val="335B74"/>
                          </a:solidFill>
                          <a:latin typeface="Calibri"/>
                        </a:rPr>
                        <a:t>One risk measure at a time</a:t>
                      </a:r>
                    </a:p>
                  </a:txBody>
                  <a:tcPr marL="64008" marR="64008" marT="27432" marB="27432" anchor="ctr"/>
                </a:tc>
                <a:tc>
                  <a:txBody>
                    <a:bodyPr/>
                    <a:lstStyle/>
                    <a:p>
                      <a:r>
                        <a:rPr sz="1200" b="0">
                          <a:solidFill>
                            <a:srgbClr val="335B74"/>
                          </a:solidFill>
                          <a:latin typeface="Calibri"/>
                        </a:rPr>
                        <a:t>Combine with return and volatility</a:t>
                      </a:r>
                    </a:p>
                  </a:txBody>
                  <a:tcPr marL="64008" marR="64008" marT="27432" marB="27432" anchor="ctr"/>
                </a:tc>
              </a:tr>
              <a:tr h="566928">
                <a:tc>
                  <a:txBody>
                    <a:bodyPr/>
                    <a:lstStyle/>
                    <a:p>
                      <a:r>
                        <a:rPr sz="1200" b="0">
                          <a:solidFill>
                            <a:srgbClr val="335B74"/>
                          </a:solidFill>
                          <a:latin typeface="Calibri"/>
                        </a:rPr>
                        <a:t>Heuristics for cardinality constrained portfolio optimisation (Chang et al.)</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GA, tabu search, annealing with holding limits</a:t>
                      </a:r>
                    </a:p>
                  </a:txBody>
                  <a:tcPr marL="64008" marR="64008" marT="27432" marB="27432" anchor="ctr"/>
                </a:tc>
                <a:tc>
                  <a:txBody>
                    <a:bodyPr/>
                    <a:lstStyle/>
                    <a:p>
                      <a:r>
                        <a:rPr sz="1200" b="0">
                          <a:solidFill>
                            <a:srgbClr val="335B74"/>
                          </a:solidFill>
                          <a:latin typeface="Calibri"/>
                        </a:rPr>
                        <a:t>Limits make the frontier hard to compute exactly</a:t>
                      </a:r>
                    </a:p>
                  </a:txBody>
                  <a:tcPr marL="64008" marR="64008" marT="27432" marB="27432" anchor="ctr"/>
                </a:tc>
                <a:tc>
                  <a:txBody>
                    <a:bodyPr/>
                    <a:lstStyle/>
                    <a:p>
                      <a:r>
                        <a:rPr sz="1200" b="0">
                          <a:solidFill>
                            <a:srgbClr val="335B74"/>
                          </a:solidFill>
                          <a:latin typeface="Calibri"/>
                        </a:rPr>
                        <a:t>Fair comparison of heuristics</a:t>
                      </a:r>
                    </a:p>
                  </a:txBody>
                  <a:tcPr marL="64008" marR="64008" marT="27432" marB="27432" anchor="ctr"/>
                </a:tc>
              </a:tr>
              <a:tr h="566928">
                <a:tc>
                  <a:txBody>
                    <a:bodyPr/>
                    <a:lstStyle/>
                    <a:p>
                      <a:r>
                        <a:rPr sz="1200" b="0">
                          <a:solidFill>
                            <a:srgbClr val="335B74"/>
                          </a:solidFill>
                          <a:latin typeface="Calibri"/>
                        </a:rPr>
                        <a:t>A fast and elitist multiobjective GA: NSGA-II (Deb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2002</a:t>
                      </a:r>
                    </a:p>
                  </a:txBody>
                  <a:tcPr marL="64008" marR="64008" marT="27432" marB="27432" anchor="ctr"/>
                </a:tc>
                <a:tc>
                  <a:txBody>
                    <a:bodyPr/>
                    <a:lstStyle/>
                    <a:p>
                      <a:r>
                        <a:rPr sz="1200" b="0">
                          <a:solidFill>
                            <a:srgbClr val="335B74"/>
                          </a:solidFill>
                          <a:latin typeface="Calibri"/>
                        </a:rPr>
                        <a:t>Non-dominated sorting, crowding distance</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portfolio constraint handling</a:t>
                      </a:r>
                    </a:p>
                  </a:txBody>
                  <a:tcPr marL="64008" marR="64008" marT="27432" marB="27432" anchor="ctr"/>
                </a:tc>
              </a:tr>
              <a:tr h="566928">
                <a:tc>
                  <a:txBody>
                    <a:bodyPr/>
                    <a:lstStyle/>
                    <a:p>
                      <a:r>
                        <a:rPr sz="1200" b="0">
                          <a:solidFill>
                            <a:srgbClr val="335B74"/>
                          </a:solidFill>
                          <a:latin typeface="Calibri"/>
                        </a:rPr>
                        <a:t>Handling multiple objectives with PSO (Coello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2004</a:t>
                      </a:r>
                    </a:p>
                  </a:txBody>
                  <a:tcPr marL="64008" marR="64008" marT="27432" marB="27432" anchor="ctr"/>
                </a:tc>
                <a:tc>
                  <a:txBody>
                    <a:bodyPr/>
                    <a:lstStyle/>
                    <a:p>
                      <a:r>
                        <a:rPr sz="1200" b="0">
                          <a:solidFill>
                            <a:srgbClr val="335B74"/>
                          </a:solidFill>
                          <a:latin typeface="Calibri"/>
                        </a:rPr>
                        <a:t>External archive guides the swarm</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a swarm vs GA comparison</a:t>
                      </a:r>
                    </a:p>
                  </a:txBody>
                  <a:tcPr marL="64008" marR="64008" marT="27432" marB="27432" anchor="ctr"/>
                </a:tc>
              </a:tr>
              <a:tr h="566928">
                <a:tc>
                  <a:txBody>
                    <a:bodyPr/>
                    <a:lstStyle/>
                    <a:p>
                      <a:r>
                        <a:rPr sz="1200" b="0">
                          <a:solidFill>
                            <a:srgbClr val="335B74"/>
                          </a:solidFill>
                          <a:latin typeface="Calibri"/>
                        </a:rPr>
                        <a:t>PSO for constrained portfolios (Cura; Zhu et al.; Deng et al.)</a:t>
                      </a:r>
                    </a:p>
                  </a:txBody>
                  <a:tcPr marL="64008" marR="64008" marT="27432" marB="27432" anchor="ctr"/>
                </a:tc>
                <a:tc>
                  <a:txBody>
                    <a:bodyPr/>
                    <a:lstStyle/>
                    <a:p>
                      <a:r>
                        <a:rPr sz="1200" b="0">
                          <a:solidFill>
                            <a:srgbClr val="335B74"/>
                          </a:solidFill>
                          <a:latin typeface="Calibri"/>
                        </a:rPr>
                        <a:t>Nonlinear Anal. RWA; Expert Syst. Appl.</a:t>
                      </a:r>
                    </a:p>
                  </a:txBody>
                  <a:tcPr marL="64008" marR="64008" marT="27432" marB="27432" anchor="ctr"/>
                </a:tc>
                <a:tc>
                  <a:txBody>
                    <a:bodyPr/>
                    <a:lstStyle/>
                    <a:p>
                      <a:r>
                        <a:rPr sz="1200" b="0">
                          <a:solidFill>
                            <a:srgbClr val="335B74"/>
                          </a:solidFill>
                          <a:latin typeface="Calibri"/>
                        </a:rPr>
                        <a:t>2009 to 2012</a:t>
                      </a:r>
                    </a:p>
                  </a:txBody>
                  <a:tcPr marL="64008" marR="64008" marT="27432" marB="27432" anchor="ctr"/>
                </a:tc>
                <a:tc>
                  <a:txBody>
                    <a:bodyPr/>
                    <a:lstStyle/>
                    <a:p>
                      <a:r>
                        <a:rPr sz="1200" b="0">
                          <a:solidFill>
                            <a:srgbClr val="335B74"/>
                          </a:solidFill>
                          <a:latin typeface="Calibri"/>
                        </a:rPr>
                        <a:t>PSO with cardinality and other constraints</a:t>
                      </a:r>
                    </a:p>
                  </a:txBody>
                  <a:tcPr marL="64008" marR="64008" marT="27432" marB="27432" anchor="ctr"/>
                </a:tc>
                <a:tc>
                  <a:txBody>
                    <a:bodyPr/>
                    <a:lstStyle/>
                    <a:p>
                      <a:r>
                        <a:rPr sz="1200" b="0">
                          <a:solidFill>
                            <a:srgbClr val="335B74"/>
                          </a:solidFill>
                          <a:latin typeface="Calibri"/>
                        </a:rPr>
                        <a:t>One scalarised objective</a:t>
                      </a:r>
                    </a:p>
                  </a:txBody>
                  <a:tcPr marL="64008" marR="64008" marT="27432" marB="27432" anchor="ctr"/>
                </a:tc>
                <a:tc>
                  <a:txBody>
                    <a:bodyPr/>
                    <a:lstStyle/>
                    <a:p>
                      <a:r>
                        <a:rPr sz="1200" b="0">
                          <a:solidFill>
                            <a:srgbClr val="335B74"/>
                          </a:solidFill>
                          <a:latin typeface="Calibri"/>
                        </a:rPr>
                        <a:t>No three-objective front with CVaR</a:t>
                      </a:r>
                    </a:p>
                  </a:txBody>
                  <a:tcPr marL="64008" marR="64008" marT="27432" marB="27432" anchor="ctr"/>
                </a:tc>
              </a:tr>
              <a:tr h="566928">
                <a:tc>
                  <a:txBody>
                    <a:bodyPr/>
                    <a:lstStyle/>
                    <a:p>
                      <a:r>
                        <a:rPr sz="1200" b="0">
                          <a:solidFill>
                            <a:srgbClr val="335B74"/>
                          </a:solidFill>
                          <a:latin typeface="Calibri"/>
                        </a:rPr>
                        <a:t>A portfolio model with three objectives and discrete variables (Anagnostopoulos, Mamanis)</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2010</a:t>
                      </a:r>
                    </a:p>
                  </a:txBody>
                  <a:tcPr marL="64008" marR="64008" marT="27432" marB="27432" anchor="ctr"/>
                </a:tc>
                <a:tc>
                  <a:txBody>
                    <a:bodyPr/>
                    <a:lstStyle/>
                    <a:p>
                      <a:r>
                        <a:rPr sz="1200" b="0">
                          <a:solidFill>
                            <a:srgbClr val="335B74"/>
                          </a:solidFill>
                          <a:latin typeface="Calibri"/>
                        </a:rPr>
                        <a:t>Tri-objective MOEAs: risk, return, number of securities</a:t>
                      </a:r>
                    </a:p>
                  </a:txBody>
                  <a:tcPr marL="64008" marR="64008" marT="27432" marB="27432" anchor="ctr"/>
                </a:tc>
                <a:tc>
                  <a:txBody>
                    <a:bodyPr/>
                    <a:lstStyle/>
                    <a:p>
                      <a:r>
                        <a:rPr sz="1200" b="0">
                          <a:solidFill>
                            <a:srgbClr val="335B74"/>
                          </a:solidFill>
                          <a:latin typeface="Calibri"/>
                        </a:rPr>
                        <a:t>Third objective is holding count, not tail risk</a:t>
                      </a:r>
                    </a:p>
                  </a:txBody>
                  <a:tcPr marL="64008" marR="64008" marT="27432" marB="27432" anchor="ctr"/>
                </a:tc>
                <a:tc>
                  <a:txBody>
                    <a:bodyPr/>
                    <a:lstStyle/>
                    <a:p>
                      <a:r>
                        <a:rPr sz="1200" b="0">
                          <a:solidFill>
                            <a:srgbClr val="335B74"/>
                          </a:solidFill>
                          <a:latin typeface="Calibri"/>
                        </a:rPr>
                        <a:t>Swarm, CVaR and held-out tests added here</a:t>
                      </a:r>
                    </a:p>
                  </a:txBody>
                  <a:tcPr marL="64008" marR="64008" marT="27432" marB="27432" anchor="ctr"/>
                </a:tc>
              </a:tr>
            </a:tbl>
          </a:graphicData>
        </a:graphic>
      </p:graphicFrame>
    </p:spTree>
    <p:extLst>
      <p:ext uri="{BB962C8B-B14F-4D97-AF65-F5344CB8AC3E}">
        <p14:creationId xmlns:p14="http://schemas.microsoft.com/office/powerpoint/2010/main" val="41910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 gaps and our objectives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71600"/>
            <a:ext cx="4937760" cy="365760"/>
          </a:xfrm>
          <a:prstGeom prst="rect">
            <a:avLst/>
          </a:prstGeom>
          <a:noFill/>
        </p:spPr>
        <p:txBody>
          <a:bodyPr wrap="square" lIns="45720" rIns="45720" tIns="27432" bIns="27432" anchor="t">
            <a:noAutofit/>
          </a:bodyPr>
          <a:lstStyle/>
          <a:p>
            <a:pPr algn="l"/>
            <a:r>
              <a:rPr sz="1800" b="1" i="0">
                <a:solidFill>
                  <a:srgbClr val="2683C6"/>
                </a:solidFill>
                <a:latin typeface="Calibri"/>
              </a:rPr>
              <a:t>Research gap identified</a:t>
            </a:r>
          </a:p>
        </p:txBody>
      </p:sp>
      <p:sp>
        <p:nvSpPr>
          <p:cNvPr id="9" name="TextBox 8"/>
          <p:cNvSpPr txBox="1"/>
          <p:nvPr/>
        </p:nvSpPr>
        <p:spPr>
          <a:xfrm>
            <a:off x="6720840" y="1371600"/>
            <a:ext cx="4937760" cy="365760"/>
          </a:xfrm>
          <a:prstGeom prst="rect">
            <a:avLst/>
          </a:prstGeom>
          <a:noFill/>
        </p:spPr>
        <p:txBody>
          <a:bodyPr wrap="square" lIns="45720" rIns="45720" tIns="27432" bIns="27432" anchor="t">
            <a:noAutofit/>
          </a:bodyPr>
          <a:lstStyle/>
          <a:p>
            <a:pPr algn="l"/>
            <a:r>
              <a:rPr sz="1800" b="1" i="0">
                <a:solidFill>
                  <a:srgbClr val="D9731A"/>
                </a:solidFill>
                <a:latin typeface="Calibri"/>
              </a:rPr>
              <a:t>Our objective that addresses it</a:t>
            </a:r>
          </a:p>
        </p:txBody>
      </p:sp>
      <p:sp>
        <p:nvSpPr>
          <p:cNvPr id="10" name="Rounded Rectangle 9"/>
          <p:cNvSpPr/>
          <p:nvPr/>
        </p:nvSpPr>
        <p:spPr>
          <a:xfrm>
            <a:off x="594360" y="1874519"/>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Held-out testing across many markets is rare</a:t>
            </a:r>
          </a:p>
        </p:txBody>
      </p:sp>
      <p:sp>
        <p:nvSpPr>
          <p:cNvPr id="11" name="Rounded Rectangle 10"/>
          <p:cNvSpPr/>
          <p:nvPr/>
        </p:nvSpPr>
        <p:spPr>
          <a:xfrm>
            <a:off x="6492240" y="1874519"/>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Test portfolios on 30 simulated markets with a paired test</a:t>
            </a:r>
          </a:p>
        </p:txBody>
      </p:sp>
      <p:cxnSp>
        <p:nvCxnSpPr>
          <p:cNvPr id="12" name="Connector 11"/>
          <p:cNvCxnSpPr/>
          <p:nvPr/>
        </p:nvCxnSpPr>
        <p:spPr>
          <a:xfrm>
            <a:off x="5760720" y="2295144"/>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2898648"/>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Constraint handling differs between algorithms</a:t>
            </a:r>
          </a:p>
        </p:txBody>
      </p:sp>
      <p:sp>
        <p:nvSpPr>
          <p:cNvPr id="14" name="Rounded Rectangle 13"/>
          <p:cNvSpPr/>
          <p:nvPr/>
        </p:nvSpPr>
        <p:spPr>
          <a:xfrm>
            <a:off x="6492240" y="2898648"/>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One shared repair operator for the swarm and the GA</a:t>
            </a:r>
          </a:p>
        </p:txBody>
      </p:sp>
      <p:cxnSp>
        <p:nvCxnSpPr>
          <p:cNvPr id="15" name="Connector 14"/>
          <p:cNvCxnSpPr/>
          <p:nvPr/>
        </p:nvCxnSpPr>
        <p:spPr>
          <a:xfrm>
            <a:off x="5760720" y="3319272"/>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94360" y="3922776"/>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Swarm studies use a single scalarised objective</a:t>
            </a:r>
          </a:p>
        </p:txBody>
      </p:sp>
      <p:sp>
        <p:nvSpPr>
          <p:cNvPr id="17" name="Rounded Rectangle 16"/>
          <p:cNvSpPr/>
          <p:nvPr/>
        </p:nvSpPr>
        <p:spPr>
          <a:xfrm>
            <a:off x="6492240" y="3922776"/>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Three-objective model: return, volatility, CVaR</a:t>
            </a:r>
          </a:p>
        </p:txBody>
      </p:sp>
      <p:cxnSp>
        <p:nvCxnSpPr>
          <p:cNvPr id="18" name="Connector 17"/>
          <p:cNvCxnSpPr/>
          <p:nvPr/>
        </p:nvCxnSpPr>
        <p:spPr>
          <a:xfrm>
            <a:off x="5760720" y="4343400"/>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4946904"/>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Few tools let you watch and inspect the search</a:t>
            </a:r>
          </a:p>
        </p:txBody>
      </p:sp>
      <p:sp>
        <p:nvSpPr>
          <p:cNvPr id="20" name="Rounded Rectangle 19"/>
          <p:cNvSpPr/>
          <p:nvPr/>
        </p:nvSpPr>
        <p:spPr>
          <a:xfrm>
            <a:off x="6492240" y="4946904"/>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Browser workbench with live search and portfolio inspector</a:t>
            </a:r>
          </a:p>
        </p:txBody>
      </p:sp>
      <p:cxnSp>
        <p:nvCxnSpPr>
          <p:cNvPr id="21" name="Connector 20"/>
          <p:cNvCxnSpPr/>
          <p:nvPr/>
        </p:nvCxnSpPr>
        <p:spPr>
          <a:xfrm>
            <a:off x="5760720" y="5367528"/>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5943600"/>
            <a:ext cx="11064240" cy="365760"/>
          </a:xfrm>
          <a:prstGeom prst="rect">
            <a:avLst/>
          </a:prstGeom>
          <a:noFill/>
        </p:spPr>
        <p:txBody>
          <a:bodyPr wrap="square" lIns="45720" rIns="45720" tIns="27432" bIns="27432" anchor="t">
            <a:noAutofit/>
          </a:bodyPr>
          <a:lstStyle/>
          <a:p>
            <a:pPr algn="l"/>
            <a:r>
              <a:rPr sz="1300" b="0" i="0">
                <a:solidFill>
                  <a:srgbClr val="8A97A8"/>
                </a:solidFill>
                <a:latin typeface="Calibri"/>
              </a:rPr>
              <a:t>Gaps refer to the papers surveyed here, not the whole field</a:t>
            </a:r>
          </a:p>
        </p:txBody>
      </p:sp>
    </p:spTree>
    <p:extLst>
      <p:ext uri="{BB962C8B-B14F-4D97-AF65-F5344CB8AC3E}">
        <p14:creationId xmlns:p14="http://schemas.microsoft.com/office/powerpoint/2010/main" val="4191075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Requirement Analysis and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Stat 1"/>
          <p:cNvSpPr/>
          <p:nvPr/>
        </p:nvSpPr>
        <p:spPr>
          <a:xfrm>
            <a:off x="59436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5448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12</a:t>
            </a:r>
          </a:p>
        </p:txBody>
      </p:sp>
      <p:sp>
        <p:nvSpPr>
          <p:cNvPr id="10" name="TextBox 9"/>
          <p:cNvSpPr txBox="1"/>
          <p:nvPr/>
        </p:nvSpPr>
        <p:spPr>
          <a:xfrm>
            <a:off x="77724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functional requirements</a:t>
            </a:r>
          </a:p>
        </p:txBody>
      </p:sp>
      <p:sp>
        <p:nvSpPr>
          <p:cNvPr id="11" name="Stat 2"/>
          <p:cNvSpPr/>
          <p:nvPr/>
        </p:nvSpPr>
        <p:spPr>
          <a:xfrm>
            <a:off x="438912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5448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7</a:t>
            </a:r>
          </a:p>
        </p:txBody>
      </p:sp>
      <p:sp>
        <p:nvSpPr>
          <p:cNvPr id="13" name="TextBox 12"/>
          <p:cNvSpPr txBox="1"/>
          <p:nvPr/>
        </p:nvSpPr>
        <p:spPr>
          <a:xfrm>
            <a:off x="457200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non-functional requirements</a:t>
            </a:r>
          </a:p>
        </p:txBody>
      </p:sp>
      <p:sp>
        <p:nvSpPr>
          <p:cNvPr id="14" name="Stat 3"/>
          <p:cNvSpPr/>
          <p:nvPr/>
        </p:nvSpPr>
        <p:spPr>
          <a:xfrm>
            <a:off x="818388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5448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INR software cost, all open source</a:t>
            </a:r>
          </a:p>
        </p:txBody>
      </p:sp>
      <p:sp>
        <p:nvSpPr>
          <p:cNvPr id="17" name="TextBox 16"/>
          <p:cNvSpPr txBox="1"/>
          <p:nvPr/>
        </p:nvSpPr>
        <p:spPr>
          <a:xfrm>
            <a:off x="594360" y="39319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Software stack</a:t>
            </a:r>
          </a:p>
        </p:txBody>
      </p:sp>
      <p:sp>
        <p:nvSpPr>
          <p:cNvPr id="18" name="Rounded Rectangle 17"/>
          <p:cNvSpPr/>
          <p:nvPr/>
        </p:nvSpPr>
        <p:spPr>
          <a:xfrm>
            <a:off x="594360" y="4389120"/>
            <a:ext cx="17373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Python 3.13</a:t>
            </a:r>
          </a:p>
        </p:txBody>
      </p:sp>
      <p:sp>
        <p:nvSpPr>
          <p:cNvPr id="19" name="Rounded Rectangle 18"/>
          <p:cNvSpPr/>
          <p:nvPr/>
        </p:nvSpPr>
        <p:spPr>
          <a:xfrm>
            <a:off x="2441448"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NumPy</a:t>
            </a:r>
          </a:p>
        </p:txBody>
      </p:sp>
      <p:sp>
        <p:nvSpPr>
          <p:cNvPr id="20" name="Rounded Rectangle 19"/>
          <p:cNvSpPr/>
          <p:nvPr/>
        </p:nvSpPr>
        <p:spPr>
          <a:xfrm>
            <a:off x="3831335"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pandas</a:t>
            </a:r>
          </a:p>
        </p:txBody>
      </p:sp>
      <p:sp>
        <p:nvSpPr>
          <p:cNvPr id="21" name="Rounded Rectangle 20"/>
          <p:cNvSpPr/>
          <p:nvPr/>
        </p:nvSpPr>
        <p:spPr>
          <a:xfrm>
            <a:off x="5221224" y="4389120"/>
            <a:ext cx="15544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Matplotlib</a:t>
            </a:r>
          </a:p>
        </p:txBody>
      </p:sp>
      <p:sp>
        <p:nvSpPr>
          <p:cNvPr id="22" name="Rounded Rectangle 21"/>
          <p:cNvSpPr/>
          <p:nvPr/>
        </p:nvSpPr>
        <p:spPr>
          <a:xfrm>
            <a:off x="6885431"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SciPy</a:t>
            </a:r>
          </a:p>
        </p:txBody>
      </p:sp>
      <p:sp>
        <p:nvSpPr>
          <p:cNvPr id="23" name="Rounded Rectangle 22"/>
          <p:cNvSpPr/>
          <p:nvPr/>
        </p:nvSpPr>
        <p:spPr>
          <a:xfrm>
            <a:off x="8183879"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pytest</a:t>
            </a:r>
          </a:p>
        </p:txBody>
      </p:sp>
      <p:sp>
        <p:nvSpPr>
          <p:cNvPr id="24" name="Rounded Rectangle 23"/>
          <p:cNvSpPr/>
          <p:nvPr/>
        </p:nvSpPr>
        <p:spPr>
          <a:xfrm>
            <a:off x="9482328" y="4389120"/>
            <a:ext cx="20116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Browser canvas</a:t>
            </a:r>
          </a:p>
        </p:txBody>
      </p:sp>
      <p:sp>
        <p:nvSpPr>
          <p:cNvPr id="25" name="Performance"/>
          <p:cNvSpPr/>
          <p:nvPr/>
        </p:nvSpPr>
        <p:spPr>
          <a:xfrm>
            <a:off x="594360" y="5212080"/>
            <a:ext cx="11109960" cy="7772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257800"/>
            <a:ext cx="10789920" cy="685800"/>
          </a:xfrm>
          <a:prstGeom prst="rect">
            <a:avLst/>
          </a:prstGeom>
          <a:noFill/>
        </p:spPr>
        <p:txBody>
          <a:bodyPr wrap="square" lIns="45720" rIns="45720" tIns="27432" bIns="27432" anchor="ctr">
            <a:noAutofit/>
          </a:bodyPr>
          <a:lstStyle/>
          <a:p>
            <a:pPr algn="ctr"/>
            <a:r>
              <a:rPr sz="2000" b="1" i="0">
                <a:solidFill>
                  <a:srgbClr val="335B74"/>
                </a:solidFill>
                <a:latin typeface="Calibri"/>
              </a:rPr>
              <a:t>Default run: 100 individuals, 150 iterations, 20 assets finishes in about 1.5 seconds</a:t>
            </a:r>
          </a:p>
        </p:txBody>
      </p:sp>
    </p:spTree>
    <p:extLst>
      <p:ext uri="{BB962C8B-B14F-4D97-AF65-F5344CB8AC3E}">
        <p14:creationId xmlns:p14="http://schemas.microsoft.com/office/powerpoint/2010/main" val="402940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architecture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and Browser"/>
          <p:cNvSpPr/>
          <p:nvPr/>
        </p:nvSpPr>
        <p:spPr>
          <a:xfrm>
            <a:off x="594360" y="1371600"/>
            <a:ext cx="11109960" cy="12344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17320"/>
            <a:ext cx="2743200" cy="320040"/>
          </a:xfrm>
          <a:prstGeom prst="rect">
            <a:avLst/>
          </a:prstGeom>
          <a:noFill/>
        </p:spPr>
        <p:txBody>
          <a:bodyPr wrap="square" lIns="45720" rIns="45720" tIns="27432" bIns="27432" anchor="t">
            <a:noAutofit/>
          </a:bodyPr>
          <a:lstStyle/>
          <a:p>
            <a:pPr algn="l"/>
            <a:r>
              <a:rPr sz="1400" b="1" i="0">
                <a:solidFill>
                  <a:srgbClr val="2683C6"/>
                </a:solidFill>
                <a:latin typeface="Calibri"/>
              </a:rPr>
              <a:t>Browser</a:t>
            </a:r>
          </a:p>
        </p:txBody>
      </p:sp>
      <p:sp>
        <p:nvSpPr>
          <p:cNvPr id="10" name="Rounded Rectangle 9"/>
          <p:cNvSpPr/>
          <p:nvPr/>
        </p:nvSpPr>
        <p:spPr>
          <a:xfrm>
            <a:off x="82296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Control panel</a:t>
            </a:r>
          </a:p>
        </p:txBody>
      </p:sp>
      <p:sp>
        <p:nvSpPr>
          <p:cNvPr id="11" name="Rounded Rectangle 10"/>
          <p:cNvSpPr/>
          <p:nvPr/>
        </p:nvSpPr>
        <p:spPr>
          <a:xfrm>
            <a:off x="353187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Live swarm canvas</a:t>
            </a:r>
          </a:p>
        </p:txBody>
      </p:sp>
      <p:sp>
        <p:nvSpPr>
          <p:cNvPr id="12" name="Rounded Rectangle 11"/>
          <p:cNvSpPr/>
          <p:nvPr/>
        </p:nvSpPr>
        <p:spPr>
          <a:xfrm>
            <a:off x="624078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inspector</a:t>
            </a:r>
          </a:p>
        </p:txBody>
      </p:sp>
      <p:sp>
        <p:nvSpPr>
          <p:cNvPr id="13" name="Rounded Rectangle 12"/>
          <p:cNvSpPr/>
          <p:nvPr/>
        </p:nvSpPr>
        <p:spPr>
          <a:xfrm>
            <a:off x="894969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Wealth and convergence charts</a:t>
            </a:r>
          </a:p>
        </p:txBody>
      </p:sp>
      <p:sp>
        <p:nvSpPr>
          <p:cNvPr id="14" name="Band Server"/>
          <p:cNvSpPr/>
          <p:nvPr/>
        </p:nvSpPr>
        <p:spPr>
          <a:xfrm>
            <a:off x="594360" y="3063240"/>
            <a:ext cx="11109960" cy="1234440"/>
          </a:xfrm>
          <a:prstGeom prst="roundRect">
            <a:avLst>
              <a:gd name="adj" fmla="val 8000"/>
            </a:avLst>
          </a:prstGeom>
          <a:solidFill>
            <a:srgbClr val="E8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08960"/>
            <a:ext cx="2743200" cy="320040"/>
          </a:xfrm>
          <a:prstGeom prst="rect">
            <a:avLst/>
          </a:prstGeom>
          <a:noFill/>
        </p:spPr>
        <p:txBody>
          <a:bodyPr wrap="square" lIns="45720" rIns="45720" tIns="27432" bIns="27432" anchor="t">
            <a:noAutofit/>
          </a:bodyPr>
          <a:lstStyle/>
          <a:p>
            <a:pPr algn="l"/>
            <a:r>
              <a:rPr sz="1400" b="1" i="0">
                <a:solidFill>
                  <a:srgbClr val="42BA97"/>
                </a:solidFill>
                <a:latin typeface="Calibri"/>
              </a:rPr>
              <a:t>Server</a:t>
            </a:r>
          </a:p>
        </p:txBody>
      </p:sp>
      <p:sp>
        <p:nvSpPr>
          <p:cNvPr id="16" name="Rounded Rectangle 15"/>
          <p:cNvSpPr/>
          <p:nvPr/>
        </p:nvSpPr>
        <p:spPr>
          <a:xfrm>
            <a:off x="82296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/api/run</a:t>
            </a:r>
          </a:p>
        </p:txBody>
      </p:sp>
      <p:sp>
        <p:nvSpPr>
          <p:cNvPr id="17" name="Rounded Rectangle 16"/>
          <p:cNvSpPr/>
          <p:nvPr/>
        </p:nvSpPr>
        <p:spPr>
          <a:xfrm>
            <a:off x="353187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GET /api/jobs/id</a:t>
            </a:r>
          </a:p>
        </p:txBody>
      </p:sp>
      <p:sp>
        <p:nvSpPr>
          <p:cNvPr id="18" name="Rounded Rectangle 17"/>
          <p:cNvSpPr/>
          <p:nvPr/>
        </p:nvSpPr>
        <p:spPr>
          <a:xfrm>
            <a:off x="624078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.../cancel</a:t>
            </a:r>
          </a:p>
        </p:txBody>
      </p:sp>
      <p:sp>
        <p:nvSpPr>
          <p:cNvPr id="19" name="Rounded Rectangle 18"/>
          <p:cNvSpPr/>
          <p:nvPr/>
        </p:nvSpPr>
        <p:spPr>
          <a:xfrm>
            <a:off x="894969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Job manager and worker threads</a:t>
            </a:r>
          </a:p>
        </p:txBody>
      </p:sp>
      <p:sp>
        <p:nvSpPr>
          <p:cNvPr id="20" name="Band Optimisation core"/>
          <p:cNvSpPr/>
          <p:nvPr/>
        </p:nvSpPr>
        <p:spPr>
          <a:xfrm>
            <a:off x="594360" y="4754880"/>
            <a:ext cx="11109960" cy="13258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00600"/>
            <a:ext cx="2743200" cy="320040"/>
          </a:xfrm>
          <a:prstGeom prst="rect">
            <a:avLst/>
          </a:prstGeom>
          <a:noFill/>
        </p:spPr>
        <p:txBody>
          <a:bodyPr wrap="square" lIns="45720" rIns="45720" tIns="27432" bIns="27432" anchor="t">
            <a:noAutofit/>
          </a:bodyPr>
          <a:lstStyle/>
          <a:p>
            <a:pPr algn="l"/>
            <a:r>
              <a:rPr sz="1400" b="1" i="0">
                <a:solidFill>
                  <a:srgbClr val="335B74"/>
                </a:solidFill>
                <a:latin typeface="Calibri"/>
              </a:rPr>
              <a:t>Optimisation core</a:t>
            </a:r>
          </a:p>
        </p:txBody>
      </p:sp>
      <p:sp>
        <p:nvSpPr>
          <p:cNvPr id="22" name="Rounded Rectangle 21"/>
          <p:cNvSpPr/>
          <p:nvPr/>
        </p:nvSpPr>
        <p:spPr>
          <a:xfrm>
            <a:off x="822960"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model and repair</a:t>
            </a:r>
          </a:p>
        </p:txBody>
      </p:sp>
      <p:sp>
        <p:nvSpPr>
          <p:cNvPr id="23" name="Rounded Rectangle 22"/>
          <p:cNvSpPr/>
          <p:nvPr/>
        </p:nvSpPr>
        <p:spPr>
          <a:xfrm>
            <a:off x="2990088"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MOPSO</a:t>
            </a:r>
          </a:p>
        </p:txBody>
      </p:sp>
      <p:sp>
        <p:nvSpPr>
          <p:cNvPr id="24" name="Rounded Rectangle 23"/>
          <p:cNvSpPr/>
          <p:nvPr/>
        </p:nvSpPr>
        <p:spPr>
          <a:xfrm>
            <a:off x="5157216"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NSGA-II</a:t>
            </a:r>
          </a:p>
        </p:txBody>
      </p:sp>
      <p:sp>
        <p:nvSpPr>
          <p:cNvPr id="25" name="Rounded Rectangle 24"/>
          <p:cNvSpPr/>
          <p:nvPr/>
        </p:nvSpPr>
        <p:spPr>
          <a:xfrm>
            <a:off x="7324344"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Pareto utilities</a:t>
            </a:r>
          </a:p>
        </p:txBody>
      </p:sp>
      <p:sp>
        <p:nvSpPr>
          <p:cNvPr id="26" name="Rounded Rectangle 25"/>
          <p:cNvSpPr/>
          <p:nvPr/>
        </p:nvSpPr>
        <p:spPr>
          <a:xfrm>
            <a:off x="9491472"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Baselines and back-test</a:t>
            </a:r>
          </a:p>
        </p:txBody>
      </p:sp>
      <p:cxnSp>
        <p:nvCxnSpPr>
          <p:cNvPr id="27" name="Connector 26"/>
          <p:cNvCxnSpPr/>
          <p:nvPr/>
        </p:nvCxnSpPr>
        <p:spPr>
          <a:xfrm>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263640" y="265176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JSON over HTTP</a:t>
            </a:r>
          </a:p>
        </p:txBody>
      </p:sp>
      <p:sp>
        <p:nvSpPr>
          <p:cNvPr id="32" name="TextBox 31"/>
          <p:cNvSpPr txBox="1"/>
          <p:nvPr/>
        </p:nvSpPr>
        <p:spPr>
          <a:xfrm>
            <a:off x="6263640" y="434340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function calls</a:t>
            </a:r>
          </a:p>
        </p:txBody>
      </p:sp>
    </p:spTree>
    <p:extLst>
      <p:ext uri="{BB962C8B-B14F-4D97-AF65-F5344CB8AC3E}">
        <p14:creationId xmlns:p14="http://schemas.microsoft.com/office/powerpoint/2010/main" val="12380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methodology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One repair operator, shared by both algorithms</a:t>
            </a:r>
          </a:p>
        </p:txBody>
      </p:sp>
      <p:sp>
        <p:nvSpPr>
          <p:cNvPr id="9" name="Repair step 1"/>
          <p:cNvSpPr/>
          <p:nvPr/>
        </p:nvSpPr>
        <p:spPr>
          <a:xfrm>
            <a:off x="594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Clip negatives to zero</a:t>
            </a:r>
          </a:p>
        </p:txBody>
      </p:sp>
      <p:sp>
        <p:nvSpPr>
          <p:cNvPr id="10" name="Repair step 2"/>
          <p:cNvSpPr/>
          <p:nvPr/>
        </p:nvSpPr>
        <p:spPr>
          <a:xfrm>
            <a:off x="24231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Keep the K largest</a:t>
            </a:r>
          </a:p>
        </p:txBody>
      </p:sp>
      <p:sp>
        <p:nvSpPr>
          <p:cNvPr id="11" name="Repair step 3"/>
          <p:cNvSpPr/>
          <p:nvPr/>
        </p:nvSpPr>
        <p:spPr>
          <a:xfrm>
            <a:off x="42519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Drop tiny weights</a:t>
            </a:r>
          </a:p>
        </p:txBody>
      </p:sp>
      <p:sp>
        <p:nvSpPr>
          <p:cNvPr id="12" name="Repair step 4"/>
          <p:cNvSpPr/>
          <p:nvPr/>
        </p:nvSpPr>
        <p:spPr>
          <a:xfrm>
            <a:off x="60807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Add assets if the cap needs more</a:t>
            </a:r>
          </a:p>
        </p:txBody>
      </p:sp>
      <p:sp>
        <p:nvSpPr>
          <p:cNvPr id="13" name="Repair step 5"/>
          <p:cNvSpPr/>
          <p:nvPr/>
        </p:nvSpPr>
        <p:spPr>
          <a:xfrm>
            <a:off x="79095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Cap at 30% and redistribute</a:t>
            </a:r>
          </a:p>
        </p:txBody>
      </p:sp>
      <p:sp>
        <p:nvSpPr>
          <p:cNvPr id="14" name="Repair step 6"/>
          <p:cNvSpPr/>
          <p:nvPr/>
        </p:nvSpPr>
        <p:spPr>
          <a:xfrm>
            <a:off x="9738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Normalise to sum 1</a:t>
            </a:r>
          </a:p>
        </p:txBody>
      </p:sp>
      <p:sp>
        <p:nvSpPr>
          <p:cNvPr id="15" name="TextBox 14"/>
          <p:cNvSpPr txBox="1"/>
          <p:nvPr/>
        </p:nvSpPr>
        <p:spPr>
          <a:xfrm>
            <a:off x="594360" y="301752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Six experiments</a:t>
            </a:r>
          </a:p>
        </p:txBody>
      </p:sp>
      <p:sp>
        <p:nvSpPr>
          <p:cNvPr id="16" name="Experiment E1"/>
          <p:cNvSpPr/>
          <p:nvPr/>
        </p:nvSpPr>
        <p:spPr>
          <a:xfrm>
            <a:off x="59436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E1</a:t>
            </a:r>
          </a:p>
        </p:txBody>
      </p:sp>
      <p:sp>
        <p:nvSpPr>
          <p:cNvPr id="18" name="TextBox 17"/>
          <p:cNvSpPr txBox="1"/>
          <p:nvPr/>
        </p:nvSpPr>
        <p:spPr>
          <a:xfrm>
            <a:off x="141732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Front quality</a:t>
            </a:r>
          </a:p>
        </p:txBody>
      </p:sp>
      <p:sp>
        <p:nvSpPr>
          <p:cNvPr id="19" name="TextBox 18"/>
          <p:cNvSpPr txBox="1"/>
          <p:nvPr/>
        </p:nvSpPr>
        <p:spPr>
          <a:xfrm>
            <a:off x="141732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seeds against random search</a:t>
            </a:r>
          </a:p>
        </p:txBody>
      </p:sp>
      <p:sp>
        <p:nvSpPr>
          <p:cNvPr id="20" name="Experiment E2"/>
          <p:cNvSpPr/>
          <p:nvPr/>
        </p:nvSpPr>
        <p:spPr>
          <a:xfrm>
            <a:off x="438912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2628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E2</a:t>
            </a:r>
          </a:p>
        </p:txBody>
      </p:sp>
      <p:sp>
        <p:nvSpPr>
          <p:cNvPr id="22" name="TextBox 21"/>
          <p:cNvSpPr txBox="1"/>
          <p:nvPr/>
        </p:nvSpPr>
        <p:spPr>
          <a:xfrm>
            <a:off x="521208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Holding limits</a:t>
            </a:r>
          </a:p>
        </p:txBody>
      </p:sp>
      <p:sp>
        <p:nvSpPr>
          <p:cNvPr id="23" name="TextBox 22"/>
          <p:cNvSpPr txBox="1"/>
          <p:nvPr/>
        </p:nvSpPr>
        <p:spPr>
          <a:xfrm>
            <a:off x="521208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K = none, 10, 8 and 5</a:t>
            </a:r>
          </a:p>
        </p:txBody>
      </p:sp>
      <p:sp>
        <p:nvSpPr>
          <p:cNvPr id="24" name="Experiment E3"/>
          <p:cNvSpPr/>
          <p:nvPr/>
        </p:nvSpPr>
        <p:spPr>
          <a:xfrm>
            <a:off x="818388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E3</a:t>
            </a:r>
          </a:p>
        </p:txBody>
      </p:sp>
      <p:sp>
        <p:nvSpPr>
          <p:cNvPr id="26" name="TextBox 25"/>
          <p:cNvSpPr txBox="1"/>
          <p:nvPr/>
        </p:nvSpPr>
        <p:spPr>
          <a:xfrm>
            <a:off x="900684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Number of assets</a:t>
            </a:r>
          </a:p>
        </p:txBody>
      </p:sp>
      <p:sp>
        <p:nvSpPr>
          <p:cNvPr id="27" name="TextBox 26"/>
          <p:cNvSpPr txBox="1"/>
          <p:nvPr/>
        </p:nvSpPr>
        <p:spPr>
          <a:xfrm>
            <a:off x="900684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to 60 assets</a:t>
            </a:r>
          </a:p>
        </p:txBody>
      </p:sp>
      <p:sp>
        <p:nvSpPr>
          <p:cNvPr id="28" name="Experiment E4"/>
          <p:cNvSpPr/>
          <p:nvPr/>
        </p:nvSpPr>
        <p:spPr>
          <a:xfrm>
            <a:off x="59436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E4</a:t>
            </a:r>
          </a:p>
        </p:txBody>
      </p:sp>
      <p:sp>
        <p:nvSpPr>
          <p:cNvPr id="30" name="TextBox 29"/>
          <p:cNvSpPr txBox="1"/>
          <p:nvPr/>
        </p:nvSpPr>
        <p:spPr>
          <a:xfrm>
            <a:off x="141732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Search budget</a:t>
            </a:r>
          </a:p>
        </p:txBody>
      </p:sp>
      <p:sp>
        <p:nvSpPr>
          <p:cNvPr id="31" name="TextBox 30"/>
          <p:cNvSpPr txBox="1"/>
          <p:nvPr/>
        </p:nvSpPr>
        <p:spPr>
          <a:xfrm>
            <a:off x="141732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5 to 200 iterations</a:t>
            </a:r>
          </a:p>
        </p:txBody>
      </p:sp>
      <p:sp>
        <p:nvSpPr>
          <p:cNvPr id="32" name="Experiment E5"/>
          <p:cNvSpPr/>
          <p:nvPr/>
        </p:nvSpPr>
        <p:spPr>
          <a:xfrm>
            <a:off x="438912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2628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E5</a:t>
            </a:r>
          </a:p>
        </p:txBody>
      </p:sp>
      <p:sp>
        <p:nvSpPr>
          <p:cNvPr id="34" name="TextBox 33"/>
          <p:cNvSpPr txBox="1"/>
          <p:nvPr/>
        </p:nvSpPr>
        <p:spPr>
          <a:xfrm>
            <a:off x="521208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Held-out test</a:t>
            </a:r>
          </a:p>
        </p:txBody>
      </p:sp>
      <p:sp>
        <p:nvSpPr>
          <p:cNvPr id="35" name="TextBox 34"/>
          <p:cNvSpPr txBox="1"/>
          <p:nvPr/>
        </p:nvSpPr>
        <p:spPr>
          <a:xfrm>
            <a:off x="521208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30 simulated markets</a:t>
            </a:r>
          </a:p>
        </p:txBody>
      </p:sp>
      <p:sp>
        <p:nvSpPr>
          <p:cNvPr id="36" name="Experiment E6"/>
          <p:cNvSpPr/>
          <p:nvPr/>
        </p:nvSpPr>
        <p:spPr>
          <a:xfrm>
            <a:off x="818388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104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E6</a:t>
            </a:r>
          </a:p>
        </p:txBody>
      </p:sp>
      <p:sp>
        <p:nvSpPr>
          <p:cNvPr id="38" name="TextBox 37"/>
          <p:cNvSpPr txBox="1"/>
          <p:nvPr/>
        </p:nvSpPr>
        <p:spPr>
          <a:xfrm>
            <a:off x="900684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Operator ablation</a:t>
            </a:r>
          </a:p>
        </p:txBody>
      </p:sp>
      <p:sp>
        <p:nvSpPr>
          <p:cNvPr id="39" name="TextBox 38"/>
          <p:cNvSpPr txBox="1"/>
          <p:nvPr/>
        </p:nvSpPr>
        <p:spPr>
          <a:xfrm>
            <a:off x="900684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with and without</a:t>
            </a:r>
          </a:p>
        </p:txBody>
      </p:sp>
      <p:sp>
        <p:nvSpPr>
          <p:cNvPr id="40" name="TextBox 39"/>
          <p:cNvSpPr txBox="1"/>
          <p:nvPr/>
        </p:nvSpPr>
        <p:spPr>
          <a:xfrm>
            <a:off x="594360" y="594360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Seeded factor-model markets with fat tails and a crisis period; 70% training, 30% held-out</a:t>
            </a:r>
          </a:p>
        </p:txBody>
      </p:sp>
    </p:spTree>
    <p:extLst>
      <p:ext uri="{BB962C8B-B14F-4D97-AF65-F5344CB8AC3E}">
        <p14:creationId xmlns:p14="http://schemas.microsoft.com/office/powerpoint/2010/main" val="123800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two optimisers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unded Rectangle 7"/>
          <p:cNvSpPr/>
          <p:nvPr/>
        </p:nvSpPr>
        <p:spPr>
          <a:xfrm>
            <a:off x="594360" y="1371600"/>
            <a:ext cx="530352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MOPSO (particle swarm)</a:t>
            </a:r>
          </a:p>
        </p:txBody>
      </p:sp>
      <p:sp>
        <p:nvSpPr>
          <p:cNvPr id="9" name="Rounded Rectangle 8"/>
          <p:cNvSpPr/>
          <p:nvPr/>
        </p:nvSpPr>
        <p:spPr>
          <a:xfrm>
            <a:off x="594360" y="214884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Particles start as feasible portfolios</a:t>
            </a:r>
          </a:p>
        </p:txBody>
      </p:sp>
      <p:cxnSp>
        <p:nvCxnSpPr>
          <p:cNvPr id="10" name="Connector 9"/>
          <p:cNvCxnSpPr/>
          <p:nvPr/>
        </p:nvCxnSpPr>
        <p:spPr>
          <a:xfrm>
            <a:off x="3246120" y="277063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4360" y="292608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Leader chosen from the archive by crowding</a:t>
            </a:r>
          </a:p>
        </p:txBody>
      </p:sp>
      <p:cxnSp>
        <p:nvCxnSpPr>
          <p:cNvPr id="12" name="Connector 11"/>
          <p:cNvCxnSpPr/>
          <p:nvPr/>
        </p:nvCxnSpPr>
        <p:spPr>
          <a:xfrm>
            <a:off x="3246120" y="354787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70332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Velocity update, then repair</a:t>
            </a:r>
          </a:p>
        </p:txBody>
      </p:sp>
      <p:cxnSp>
        <p:nvCxnSpPr>
          <p:cNvPr id="14" name="Connector 13"/>
          <p:cNvCxnSpPr/>
          <p:nvPr/>
        </p:nvCxnSpPr>
        <p:spPr>
          <a:xfrm>
            <a:off x="3246120" y="432511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448056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Archive keeps the non-dominated set</a:t>
            </a:r>
          </a:p>
        </p:txBody>
      </p:sp>
      <p:sp>
        <p:nvSpPr>
          <p:cNvPr id="16" name="Rounded Rectangle 15"/>
          <p:cNvSpPr/>
          <p:nvPr/>
        </p:nvSpPr>
        <p:spPr>
          <a:xfrm>
            <a:off x="594360"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particles</a:t>
            </a:r>
          </a:p>
        </p:txBody>
      </p:sp>
      <p:sp>
        <p:nvSpPr>
          <p:cNvPr id="17" name="Rounded Rectangle 16"/>
          <p:cNvSpPr/>
          <p:nvPr/>
        </p:nvSpPr>
        <p:spPr>
          <a:xfrm>
            <a:off x="2395728"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inertia 0.9 to 0.4</a:t>
            </a:r>
          </a:p>
        </p:txBody>
      </p:sp>
      <p:sp>
        <p:nvSpPr>
          <p:cNvPr id="18" name="Rounded Rectangle 17"/>
          <p:cNvSpPr/>
          <p:nvPr/>
        </p:nvSpPr>
        <p:spPr>
          <a:xfrm>
            <a:off x="4197096"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c1 = c2 = 1.5</a:t>
            </a:r>
          </a:p>
        </p:txBody>
      </p:sp>
      <p:sp>
        <p:nvSpPr>
          <p:cNvPr id="19" name="Rounded Rectangle 18"/>
          <p:cNvSpPr/>
          <p:nvPr/>
        </p:nvSpPr>
        <p:spPr>
          <a:xfrm>
            <a:off x="6263640" y="1371600"/>
            <a:ext cx="530352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NSGA-II (genetic algorithm)</a:t>
            </a:r>
          </a:p>
        </p:txBody>
      </p:sp>
      <p:sp>
        <p:nvSpPr>
          <p:cNvPr id="20" name="Rounded Rectangle 19"/>
          <p:cNvSpPr/>
          <p:nvPr/>
        </p:nvSpPr>
        <p:spPr>
          <a:xfrm>
            <a:off x="6263640" y="214884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Population of feasible portfolios</a:t>
            </a:r>
          </a:p>
        </p:txBody>
      </p:sp>
      <p:cxnSp>
        <p:nvCxnSpPr>
          <p:cNvPr id="21" name="Connector 20"/>
          <p:cNvCxnSpPr/>
          <p:nvPr/>
        </p:nvCxnSpPr>
        <p:spPr>
          <a:xfrm>
            <a:off x="8915400" y="277063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63640" y="292608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Tournament by rank and crowding</a:t>
            </a:r>
          </a:p>
        </p:txBody>
      </p:sp>
      <p:cxnSp>
        <p:nvCxnSpPr>
          <p:cNvPr id="23" name="Connector 22"/>
          <p:cNvCxnSpPr/>
          <p:nvPr/>
        </p:nvCxnSpPr>
        <p:spPr>
          <a:xfrm>
            <a:off x="8915400" y="354787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63640" y="370332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SBX crossover, mutation and swap</a:t>
            </a:r>
          </a:p>
        </p:txBody>
      </p:sp>
      <p:cxnSp>
        <p:nvCxnSpPr>
          <p:cNvPr id="25" name="Connector 24"/>
          <p:cNvCxnSpPr/>
          <p:nvPr/>
        </p:nvCxnSpPr>
        <p:spPr>
          <a:xfrm>
            <a:off x="8915400" y="432511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63640" y="448056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Parents and children: keep the best</a:t>
            </a:r>
          </a:p>
        </p:txBody>
      </p:sp>
      <p:sp>
        <p:nvSpPr>
          <p:cNvPr id="27" name="Rounded Rectangle 26"/>
          <p:cNvSpPr/>
          <p:nvPr/>
        </p:nvSpPr>
        <p:spPr>
          <a:xfrm>
            <a:off x="6263640"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individuals</a:t>
            </a:r>
          </a:p>
        </p:txBody>
      </p:sp>
      <p:sp>
        <p:nvSpPr>
          <p:cNvPr id="28" name="Rounded Rectangle 27"/>
          <p:cNvSpPr/>
          <p:nvPr/>
        </p:nvSpPr>
        <p:spPr>
          <a:xfrm>
            <a:off x="8065008"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SBX index 15</a:t>
            </a:r>
          </a:p>
        </p:txBody>
      </p:sp>
      <p:sp>
        <p:nvSpPr>
          <p:cNvPr id="29" name="Rounded Rectangle 28"/>
          <p:cNvSpPr/>
          <p:nvPr/>
        </p:nvSpPr>
        <p:spPr>
          <a:xfrm>
            <a:off x="9866376"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swap mutation 0.2</a:t>
            </a:r>
          </a:p>
        </p:txBody>
      </p:sp>
      <p:sp>
        <p:nvSpPr>
          <p:cNvPr id="30" name="TextBox 29"/>
          <p:cNvSpPr txBox="1"/>
          <p:nvPr/>
        </p:nvSpPr>
        <p:spPr>
          <a:xfrm>
            <a:off x="594360" y="5897880"/>
            <a:ext cx="11155680" cy="365760"/>
          </a:xfrm>
          <a:prstGeom prst="rect">
            <a:avLst/>
          </a:prstGeom>
          <a:noFill/>
        </p:spPr>
        <p:txBody>
          <a:bodyPr wrap="square" lIns="45720" rIns="45720" tIns="27432" bIns="27432" anchor="t">
            <a:noAutofit/>
          </a:bodyPr>
          <a:lstStyle/>
          <a:p>
            <a:pPr algn="ctr"/>
            <a:r>
              <a:rPr sz="1600" b="1" i="0">
                <a:solidFill>
                  <a:srgbClr val="335B74"/>
                </a:solidFill>
                <a:latin typeface="Calibri"/>
              </a:rPr>
              <a:t>Same budget for both: 15,100 objective evaluations per run</a:t>
            </a:r>
          </a:p>
        </p:txBody>
      </p:sp>
    </p:spTree>
    <p:extLst>
      <p:ext uri="{BB962C8B-B14F-4D97-AF65-F5344CB8AC3E}">
        <p14:creationId xmlns:p14="http://schemas.microsoft.com/office/powerpoint/2010/main" val="606800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workbench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Workbench screenshot" descr="ui_overview.png"/>
          <p:cNvPicPr>
            <a:picLocks noChangeAspect="1"/>
          </p:cNvPicPr>
          <p:nvPr/>
        </p:nvPicPr>
        <p:blipFill>
          <a:blip r:embed="rId4"/>
          <a:stretch>
            <a:fillRect/>
          </a:stretch>
        </p:blipFill>
        <p:spPr>
          <a:xfrm>
            <a:off x="548640" y="1417320"/>
            <a:ext cx="6949440" cy="4536440"/>
          </a:xfrm>
          <a:prstGeom prst="rect">
            <a:avLst/>
          </a:prstGeom>
        </p:spPr>
      </p:pic>
      <p:sp>
        <p:nvSpPr>
          <p:cNvPr id="9" name="Callout 1"/>
          <p:cNvSpPr/>
          <p:nvPr/>
        </p:nvSpPr>
        <p:spPr>
          <a:xfrm>
            <a:off x="7818120" y="141732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0100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8686800" y="152704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Watch the search</a:t>
            </a:r>
          </a:p>
        </p:txBody>
      </p:sp>
      <p:sp>
        <p:nvSpPr>
          <p:cNvPr id="12" name="TextBox 11"/>
          <p:cNvSpPr txBox="1"/>
          <p:nvPr/>
        </p:nvSpPr>
        <p:spPr>
          <a:xfrm>
            <a:off x="8686800" y="198424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Both populations converge on their fronts, live</a:t>
            </a:r>
          </a:p>
        </p:txBody>
      </p:sp>
      <p:sp>
        <p:nvSpPr>
          <p:cNvPr id="13" name="Callout 2"/>
          <p:cNvSpPr/>
          <p:nvPr/>
        </p:nvSpPr>
        <p:spPr>
          <a:xfrm>
            <a:off x="7818120" y="297180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0100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8686800" y="308152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Inspect any portfolio</a:t>
            </a:r>
          </a:p>
        </p:txBody>
      </p:sp>
      <p:sp>
        <p:nvSpPr>
          <p:cNvPr id="16" name="TextBox 15"/>
          <p:cNvSpPr txBox="1"/>
          <p:nvPr/>
        </p:nvSpPr>
        <p:spPr>
          <a:xfrm>
            <a:off x="8686800" y="353872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Click a point: weights, training and held-out results</a:t>
            </a:r>
          </a:p>
        </p:txBody>
      </p:sp>
      <p:sp>
        <p:nvSpPr>
          <p:cNvPr id="17" name="Callout 3"/>
          <p:cNvSpPr/>
          <p:nvPr/>
        </p:nvSpPr>
        <p:spPr>
          <a:xfrm>
            <a:off x="7818120" y="452628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1000" y="4937760"/>
            <a:ext cx="548640" cy="54864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8686800" y="463600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Bring your own prices</a:t>
            </a:r>
          </a:p>
        </p:txBody>
      </p:sp>
      <p:sp>
        <p:nvSpPr>
          <p:cNvPr id="20" name="TextBox 19"/>
          <p:cNvSpPr txBox="1"/>
          <p:nvPr/>
        </p:nvSpPr>
        <p:spPr>
          <a:xfrm>
            <a:off x="8686800" y="509320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Upload a CSV, set constraints, press Run</a:t>
            </a:r>
          </a:p>
        </p:txBody>
      </p:sp>
    </p:spTree>
    <p:extLst>
      <p:ext uri="{BB962C8B-B14F-4D97-AF65-F5344CB8AC3E}">
        <p14:creationId xmlns:p14="http://schemas.microsoft.com/office/powerpoint/2010/main" val="606800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Testing and Validation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st stat 1"/>
          <p:cNvSpPr/>
          <p:nvPr/>
        </p:nvSpPr>
        <p:spPr>
          <a:xfrm>
            <a:off x="59436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0876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14</a:t>
            </a:r>
          </a:p>
        </p:txBody>
      </p:sp>
      <p:sp>
        <p:nvSpPr>
          <p:cNvPr id="10" name="TextBox 9"/>
          <p:cNvSpPr txBox="1"/>
          <p:nvPr/>
        </p:nvSpPr>
        <p:spPr>
          <a:xfrm>
            <a:off x="77724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automated tests pass</a:t>
            </a:r>
          </a:p>
        </p:txBody>
      </p:sp>
      <p:sp>
        <p:nvSpPr>
          <p:cNvPr id="11" name="Test stat 2"/>
          <p:cNvSpPr/>
          <p:nvPr/>
        </p:nvSpPr>
        <p:spPr>
          <a:xfrm>
            <a:off x="438912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0876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19</a:t>
            </a:r>
          </a:p>
        </p:txBody>
      </p:sp>
      <p:sp>
        <p:nvSpPr>
          <p:cNvPr id="13" name="TextBox 12"/>
          <p:cNvSpPr txBox="1"/>
          <p:nvPr/>
        </p:nvSpPr>
        <p:spPr>
          <a:xfrm>
            <a:off x="457200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system test cases: server and browser</a:t>
            </a:r>
          </a:p>
        </p:txBody>
      </p:sp>
      <p:sp>
        <p:nvSpPr>
          <p:cNvPr id="14" name="Test stat 3"/>
          <p:cNvSpPr/>
          <p:nvPr/>
        </p:nvSpPr>
        <p:spPr>
          <a:xfrm>
            <a:off x="818388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0876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constraint violations in every experiment run</a:t>
            </a:r>
          </a:p>
        </p:txBody>
      </p:sp>
      <p:sp>
        <p:nvSpPr>
          <p:cNvPr id="17" name="Rounded Rectangle 16"/>
          <p:cNvSpPr/>
          <p:nvPr/>
        </p:nvSpPr>
        <p:spPr>
          <a:xfrm>
            <a:off x="594360" y="3931920"/>
            <a:ext cx="338328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Component</a:t>
            </a:r>
          </a:p>
        </p:txBody>
      </p:sp>
      <p:sp>
        <p:nvSpPr>
          <p:cNvPr id="18" name="Rounded Rectangle 17"/>
          <p:cNvSpPr/>
          <p:nvPr/>
        </p:nvSpPr>
        <p:spPr>
          <a:xfrm>
            <a:off x="59436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Repair, objectives, Pareto maths</a:t>
            </a:r>
          </a:p>
        </p:txBody>
      </p:sp>
      <p:cxnSp>
        <p:nvCxnSpPr>
          <p:cNvPr id="19" name="Connector 18"/>
          <p:cNvCxnSpPr/>
          <p:nvPr/>
        </p:nvCxnSpPr>
        <p:spPr>
          <a:xfrm>
            <a:off x="4023360" y="4224528"/>
            <a:ext cx="457200"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26280" y="3931920"/>
            <a:ext cx="338328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Algorithm</a:t>
            </a:r>
          </a:p>
        </p:txBody>
      </p:sp>
      <p:sp>
        <p:nvSpPr>
          <p:cNvPr id="21" name="Rounded Rectangle 20"/>
          <p:cNvSpPr/>
          <p:nvPr/>
        </p:nvSpPr>
        <p:spPr>
          <a:xfrm>
            <a:off x="452628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Feasible, non-dominated, reproducible, beats random</a:t>
            </a:r>
          </a:p>
        </p:txBody>
      </p:sp>
      <p:cxnSp>
        <p:nvCxnSpPr>
          <p:cNvPr id="22" name="Connector 21"/>
          <p:cNvCxnSpPr/>
          <p:nvPr/>
        </p:nvCxnSpPr>
        <p:spPr>
          <a:xfrm>
            <a:off x="7955279" y="4224528"/>
            <a:ext cx="457201"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458200" y="3931920"/>
            <a:ext cx="3383280" cy="59436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System</a:t>
            </a:r>
          </a:p>
        </p:txBody>
      </p:sp>
      <p:sp>
        <p:nvSpPr>
          <p:cNvPr id="24" name="Rounded Rectangle 23"/>
          <p:cNvSpPr/>
          <p:nvPr/>
        </p:nvSpPr>
        <p:spPr>
          <a:xfrm>
            <a:off x="845820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Server jobs, error paths, browser, phone, dark mode</a:t>
            </a:r>
          </a:p>
        </p:txBody>
      </p:sp>
    </p:spTree>
    <p:extLst>
      <p:ext uri="{BB962C8B-B14F-4D97-AF65-F5344CB8AC3E}">
        <p14:creationId xmlns:p14="http://schemas.microsoft.com/office/powerpoint/2010/main" val="759842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front quality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Fronts figure" descr="fig_fronts_main.png"/>
          <p:cNvPicPr>
            <a:picLocks noChangeAspect="1"/>
          </p:cNvPicPr>
          <p:nvPr/>
        </p:nvPicPr>
        <p:blipFill>
          <a:blip r:embed="rId4"/>
          <a:stretch>
            <a:fillRect/>
          </a:stretch>
        </p:blipFill>
        <p:spPr>
          <a:xfrm>
            <a:off x="502920" y="1371600"/>
            <a:ext cx="7040880" cy="2957170"/>
          </a:xfrm>
          <a:prstGeom prst="rect">
            <a:avLst/>
          </a:prstGeom>
        </p:spPr>
      </p:pic>
      <p:graphicFrame>
        <p:nvGraphicFramePr>
          <p:cNvPr id="9" name="Hypervolume chart"/>
          <p:cNvGraphicFramePr>
            <a:graphicFrameLocks noGrp="1"/>
          </p:cNvGraphicFramePr>
          <p:nvPr/>
        </p:nvGraphicFramePr>
        <p:xfrm>
          <a:off x="7772400" y="1325880"/>
          <a:ext cx="3931920" cy="3108960"/>
        </p:xfrm>
        <a:graphic>
          <a:graphicData uri="http://schemas.openxmlformats.org/drawingml/2006/chart">
            <c:chart xmlns:c="http://schemas.openxmlformats.org/drawingml/2006/chart" r:id="rId5"/>
          </a:graphicData>
        </a:graphic>
      </p:graphicFrame>
      <p:sp>
        <p:nvSpPr>
          <p:cNvPr id="10" name="Result stat 1"/>
          <p:cNvSpPr/>
          <p:nvPr/>
        </p:nvSpPr>
        <p:spPr>
          <a:xfrm>
            <a:off x="59436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09160"/>
            <a:ext cx="3520440" cy="640080"/>
          </a:xfrm>
          <a:prstGeom prst="rect">
            <a:avLst/>
          </a:prstGeom>
          <a:noFill/>
        </p:spPr>
        <p:txBody>
          <a:bodyPr wrap="square" lIns="45720" rIns="45720" tIns="27432" bIns="27432" anchor="t">
            <a:noAutofit/>
          </a:bodyPr>
          <a:lstStyle/>
          <a:p>
            <a:pPr algn="ctr"/>
            <a:r>
              <a:rPr sz="3200" b="1" i="0">
                <a:solidFill>
                  <a:srgbClr val="2683C6"/>
                </a:solidFill>
                <a:latin typeface="Calibri"/>
              </a:rPr>
              <a:t>100 vs 20</a:t>
            </a:r>
          </a:p>
        </p:txBody>
      </p:sp>
      <p:sp>
        <p:nvSpPr>
          <p:cNvPr id="12" name="TextBox 11"/>
          <p:cNvSpPr txBox="1"/>
          <p:nvPr/>
        </p:nvSpPr>
        <p:spPr>
          <a:xfrm>
            <a:off x="77724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non-dominated portfolios per run: optimisers vs random</a:t>
            </a:r>
          </a:p>
        </p:txBody>
      </p:sp>
      <p:sp>
        <p:nvSpPr>
          <p:cNvPr id="13" name="Result stat 2"/>
          <p:cNvSpPr/>
          <p:nvPr/>
        </p:nvSpPr>
        <p:spPr>
          <a:xfrm>
            <a:off x="438912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4709160"/>
            <a:ext cx="3520440" cy="640080"/>
          </a:xfrm>
          <a:prstGeom prst="rect">
            <a:avLst/>
          </a:prstGeom>
          <a:noFill/>
        </p:spPr>
        <p:txBody>
          <a:bodyPr wrap="square" lIns="45720" rIns="45720" tIns="27432" bIns="27432" anchor="t">
            <a:noAutofit/>
          </a:bodyPr>
          <a:lstStyle/>
          <a:p>
            <a:pPr algn="ctr"/>
            <a:r>
              <a:rPr sz="3200" b="1" i="0">
                <a:solidFill>
                  <a:srgbClr val="42BA97"/>
                </a:solidFill>
                <a:latin typeface="Calibri"/>
              </a:rPr>
              <a:t>p = 0.002</a:t>
            </a:r>
          </a:p>
        </p:txBody>
      </p:sp>
      <p:sp>
        <p:nvSpPr>
          <p:cNvPr id="15" name="TextBox 14"/>
          <p:cNvSpPr txBox="1"/>
          <p:nvPr/>
        </p:nvSpPr>
        <p:spPr>
          <a:xfrm>
            <a:off x="457200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both optimisers vs random, paired test over 10 seeds</a:t>
            </a:r>
          </a:p>
        </p:txBody>
      </p:sp>
      <p:sp>
        <p:nvSpPr>
          <p:cNvPr id="16" name="Result stat 3"/>
          <p:cNvSpPr/>
          <p:nvPr/>
        </p:nvSpPr>
        <p:spPr>
          <a:xfrm>
            <a:off x="818388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4709160"/>
            <a:ext cx="3520440" cy="640080"/>
          </a:xfrm>
          <a:prstGeom prst="rect">
            <a:avLst/>
          </a:prstGeom>
          <a:noFill/>
        </p:spPr>
        <p:txBody>
          <a:bodyPr wrap="square" lIns="45720" rIns="45720" tIns="27432" bIns="27432" anchor="t">
            <a:noAutofit/>
          </a:bodyPr>
          <a:lstStyle/>
          <a:p>
            <a:pPr algn="ctr"/>
            <a:r>
              <a:rPr sz="3200" b="1" i="0">
                <a:solidFill>
                  <a:srgbClr val="D9731A"/>
                </a:solidFill>
                <a:latin typeface="Calibri"/>
              </a:rPr>
              <a:t>0.70 vs 0.71</a:t>
            </a:r>
          </a:p>
        </p:txBody>
      </p:sp>
      <p:sp>
        <p:nvSpPr>
          <p:cNvPr id="18" name="TextBox 17"/>
          <p:cNvSpPr txBox="1"/>
          <p:nvPr/>
        </p:nvSpPr>
        <p:spPr>
          <a:xfrm>
            <a:off x="836676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swarm vs genetic: a statistical tie in practice</a:t>
            </a:r>
          </a:p>
        </p:txBody>
      </p:sp>
    </p:spTree>
    <p:extLst>
      <p:ext uri="{BB962C8B-B14F-4D97-AF65-F5344CB8AC3E}">
        <p14:creationId xmlns:p14="http://schemas.microsoft.com/office/powerpoint/2010/main" val="2418263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search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Budget chart"/>
          <p:cNvGraphicFramePr>
            <a:graphicFrameLocks noGrp="1"/>
          </p:cNvGraphicFramePr>
          <p:nvPr/>
        </p:nvGraphicFramePr>
        <p:xfrm>
          <a:off x="548640" y="1371600"/>
          <a:ext cx="7315200" cy="4572000"/>
        </p:xfrm>
        <a:graphic>
          <a:graphicData uri="http://schemas.openxmlformats.org/drawingml/2006/chart">
            <c:chart xmlns:c="http://schemas.openxmlformats.org/drawingml/2006/chart" r:id="rId4"/>
          </a:graphicData>
        </a:graphic>
      </p:graphicFrame>
      <p:sp>
        <p:nvSpPr>
          <p:cNvPr id="9" name="Budget callout 1"/>
          <p:cNvSpPr/>
          <p:nvPr/>
        </p:nvSpPr>
        <p:spPr>
          <a:xfrm>
            <a:off x="8183879" y="141732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9052560" y="155448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Up to 50 iterations</a:t>
            </a:r>
          </a:p>
        </p:txBody>
      </p:sp>
      <p:sp>
        <p:nvSpPr>
          <p:cNvPr id="12" name="TextBox 11"/>
          <p:cNvSpPr txBox="1"/>
          <p:nvPr/>
        </p:nvSpPr>
        <p:spPr>
          <a:xfrm>
            <a:off x="9052560" y="201168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Swarm ahead in 5 of 5 seeds</a:t>
            </a:r>
          </a:p>
        </p:txBody>
      </p:sp>
      <p:sp>
        <p:nvSpPr>
          <p:cNvPr id="13" name="Budget callout 2"/>
          <p:cNvSpPr/>
          <p:nvPr/>
        </p:nvSpPr>
        <p:spPr>
          <a:xfrm>
            <a:off x="8183879" y="297180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6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9052560" y="310896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From 100 iterations</a:t>
            </a:r>
          </a:p>
        </p:txBody>
      </p:sp>
      <p:sp>
        <p:nvSpPr>
          <p:cNvPr id="16" name="TextBox 15"/>
          <p:cNvSpPr txBox="1"/>
          <p:nvPr/>
        </p:nvSpPr>
        <p:spPr>
          <a:xfrm>
            <a:off x="9052560" y="356616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Genetic algorithm ahead in 5 of 5 seeds</a:t>
            </a:r>
          </a:p>
        </p:txBody>
      </p:sp>
      <p:sp>
        <p:nvSpPr>
          <p:cNvPr id="17" name="Budget callout 3"/>
          <p:cNvSpPr/>
          <p:nvPr/>
        </p:nvSpPr>
        <p:spPr>
          <a:xfrm>
            <a:off x="8183879" y="452628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66760" y="4937760"/>
            <a:ext cx="548640" cy="54864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9052560" y="466344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Random search</a:t>
            </a:r>
          </a:p>
        </p:txBody>
      </p:sp>
      <p:sp>
        <p:nvSpPr>
          <p:cNvPr id="20" name="TextBox 19"/>
          <p:cNvSpPr txBox="1"/>
          <p:nvPr/>
        </p:nvSpPr>
        <p:spPr>
          <a:xfrm>
            <a:off x="9052560" y="512064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Stays far behind at every budget</a:t>
            </a:r>
          </a:p>
        </p:txBody>
      </p:sp>
    </p:spTree>
    <p:extLst>
      <p:ext uri="{BB962C8B-B14F-4D97-AF65-F5344CB8AC3E}">
        <p14:creationId xmlns:p14="http://schemas.microsoft.com/office/powerpoint/2010/main" val="2418263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held-out performance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Sharpe chart"/>
          <p:cNvGraphicFramePr>
            <a:graphicFrameLocks noGrp="1"/>
          </p:cNvGraphicFramePr>
          <p:nvPr/>
        </p:nvGraphicFramePr>
        <p:xfrm>
          <a:off x="548640" y="1325880"/>
          <a:ext cx="5760720" cy="3657600"/>
        </p:xfrm>
        <a:graphic>
          <a:graphicData uri="http://schemas.openxmlformats.org/drawingml/2006/chart">
            <c:chart xmlns:c="http://schemas.openxmlformats.org/drawingml/2006/chart" r:id="rId4"/>
          </a:graphicData>
        </a:graphic>
      </p:graphicFrame>
      <p:graphicFrame>
        <p:nvGraphicFramePr>
          <p:cNvPr id="9" name="Volatility chart"/>
          <p:cNvGraphicFramePr>
            <a:graphicFrameLocks noGrp="1"/>
          </p:cNvGraphicFramePr>
          <p:nvPr/>
        </p:nvGraphicFramePr>
        <p:xfrm>
          <a:off x="6492240" y="1325880"/>
          <a:ext cx="5212080" cy="3657600"/>
        </p:xfrm>
        <a:graphic>
          <a:graphicData uri="http://schemas.openxmlformats.org/drawingml/2006/chart">
            <c:chart xmlns:c="http://schemas.openxmlformats.org/drawingml/2006/chart" r:id="rId5"/>
          </a:graphicData>
        </a:graphic>
      </p:graphicFrame>
      <p:sp>
        <p:nvSpPr>
          <p:cNvPr id="10" name="Takeaway banner"/>
          <p:cNvSpPr/>
          <p:nvPr/>
        </p:nvSpPr>
        <p:spPr>
          <a:xfrm>
            <a:off x="594360" y="5212080"/>
            <a:ext cx="11109960" cy="868680"/>
          </a:xfrm>
          <a:prstGeom prst="roundRect">
            <a:avLst>
              <a:gd name="adj" fmla="val 8000"/>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30368"/>
            <a:ext cx="10744200" cy="822960"/>
          </a:xfrm>
          <a:prstGeom prst="rect">
            <a:avLst/>
          </a:prstGeom>
          <a:noFill/>
        </p:spPr>
        <p:txBody>
          <a:bodyPr wrap="square" lIns="45720" rIns="45720" tIns="27432" bIns="27432" anchor="ctr">
            <a:noAutofit/>
          </a:bodyPr>
          <a:lstStyle/>
          <a:p>
            <a:pPr algn="ctr"/>
            <a:r>
              <a:rPr sz="2200" b="1" i="0">
                <a:solidFill>
                  <a:srgbClr val="FFFFFF"/>
                </a:solidFill>
                <a:latin typeface="Calibri"/>
              </a:rPr>
              <a:t>Return does not transfer to new data. Risk does: lower held-out volatility in 30 of 30 markets</a:t>
            </a:r>
          </a:p>
        </p:txBody>
      </p:sp>
    </p:spTree>
    <p:extLst>
      <p:ext uri="{BB962C8B-B14F-4D97-AF65-F5344CB8AC3E}">
        <p14:creationId xmlns:p14="http://schemas.microsoft.com/office/powerpoint/2010/main" val="2418263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robustness checks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bustness tile 1"/>
          <p:cNvSpPr/>
          <p:nvPr/>
        </p:nvSpPr>
        <p:spPr>
          <a:xfrm>
            <a:off x="59436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bustness tile 2"/>
          <p:cNvSpPr/>
          <p:nvPr/>
        </p:nvSpPr>
        <p:spPr>
          <a:xfrm>
            <a:off x="438912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bustness tile 3"/>
          <p:cNvSpPr/>
          <p:nvPr/>
        </p:nvSpPr>
        <p:spPr>
          <a:xfrm>
            <a:off x="818388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08760"/>
            <a:ext cx="3520440" cy="457200"/>
          </a:xfrm>
          <a:prstGeom prst="rect">
            <a:avLst/>
          </a:prstGeom>
          <a:noFill/>
        </p:spPr>
        <p:txBody>
          <a:bodyPr wrap="square" lIns="45720" rIns="45720" tIns="27432" bIns="27432" anchor="t">
            <a:noAutofit/>
          </a:bodyPr>
          <a:lstStyle/>
          <a:p>
            <a:pPr algn="ctr"/>
            <a:r>
              <a:rPr sz="2000" b="1" i="0">
                <a:solidFill>
                  <a:srgbClr val="2683C6"/>
                </a:solidFill>
                <a:latin typeface="Calibri"/>
              </a:rPr>
              <a:t>Scale</a:t>
            </a:r>
          </a:p>
        </p:txBody>
      </p:sp>
      <p:graphicFrame>
        <p:nvGraphicFramePr>
          <p:cNvPr id="12" name="Runtime chart"/>
          <p:cNvGraphicFramePr>
            <a:graphicFrameLocks noGrp="1"/>
          </p:cNvGraphicFramePr>
          <p:nvPr/>
        </p:nvGraphicFramePr>
        <p:xfrm>
          <a:off x="731520" y="2011680"/>
          <a:ext cx="3246120" cy="2743200"/>
        </p:xfrm>
        <a:graphic>
          <a:graphicData uri="http://schemas.openxmlformats.org/drawingml/2006/chart">
            <c:chart xmlns:c="http://schemas.openxmlformats.org/drawingml/2006/chart" r:id="rId4"/>
          </a:graphicData>
        </a:graphic>
      </p:graphicFrame>
      <p:sp>
        <p:nvSpPr>
          <p:cNvPr id="13" name="TextBox 12"/>
          <p:cNvSpPr txBox="1"/>
          <p:nvPr/>
        </p:nvSpPr>
        <p:spPr>
          <a:xfrm>
            <a:off x="731520" y="4846320"/>
            <a:ext cx="3246120" cy="914400"/>
          </a:xfrm>
          <a:prstGeom prst="rect">
            <a:avLst/>
          </a:prstGeom>
          <a:noFill/>
        </p:spPr>
        <p:txBody>
          <a:bodyPr wrap="square" lIns="45720" rIns="45720" tIns="27432" bIns="27432" anchor="t">
            <a:noAutofit/>
          </a:bodyPr>
          <a:lstStyle/>
          <a:p>
            <a:pPr algn="ctr"/>
            <a:r>
              <a:rPr sz="1300" b="0" i="0">
                <a:solidFill>
                  <a:srgbClr val="335B74"/>
                </a:solidFill>
                <a:latin typeface="Calibri"/>
              </a:rPr>
              <a:t>Seconds per run, 10 to 60 assets</a:t>
            </a:r>
          </a:p>
          <a:p>
            <a:pPr algn="ctr"/>
            <a:r>
              <a:rPr sz="1400" b="1" i="0">
                <a:solidFill>
                  <a:srgbClr val="335B74"/>
                </a:solidFill>
                <a:latin typeface="Calibri"/>
              </a:rPr>
              <a:t>about 1.5 s whatever the size</a:t>
            </a:r>
          </a:p>
        </p:txBody>
      </p:sp>
      <p:sp>
        <p:nvSpPr>
          <p:cNvPr id="14" name="TextBox 13"/>
          <p:cNvSpPr txBox="1"/>
          <p:nvPr/>
        </p:nvSpPr>
        <p:spPr>
          <a:xfrm>
            <a:off x="4389120" y="1508760"/>
            <a:ext cx="3520440" cy="457200"/>
          </a:xfrm>
          <a:prstGeom prst="rect">
            <a:avLst/>
          </a:prstGeom>
          <a:noFill/>
        </p:spPr>
        <p:txBody>
          <a:bodyPr wrap="square" lIns="45720" rIns="45720" tIns="27432" bIns="27432" anchor="t">
            <a:noAutofit/>
          </a:bodyPr>
          <a:lstStyle/>
          <a:p>
            <a:pPr algn="ctr"/>
            <a:r>
              <a:rPr sz="2000" b="1" i="0">
                <a:solidFill>
                  <a:srgbClr val="42BA97"/>
                </a:solidFill>
                <a:latin typeface="Calibri"/>
              </a:rPr>
              <a:t>Constraints</a:t>
            </a:r>
          </a:p>
        </p:txBody>
      </p:sp>
      <p:sp>
        <p:nvSpPr>
          <p:cNvPr id="15" name="TextBox 14"/>
          <p:cNvSpPr txBox="1"/>
          <p:nvPr/>
        </p:nvSpPr>
        <p:spPr>
          <a:xfrm>
            <a:off x="4389120" y="2286000"/>
            <a:ext cx="3520440" cy="1371600"/>
          </a:xfrm>
          <a:prstGeom prst="rect">
            <a:avLst/>
          </a:prstGeom>
          <a:noFill/>
        </p:spPr>
        <p:txBody>
          <a:bodyPr wrap="square" lIns="45720" rIns="45720" tIns="27432" bIns="27432" anchor="t">
            <a:noAutofit/>
          </a:bodyPr>
          <a:lstStyle/>
          <a:p>
            <a:pPr algn="ctr"/>
            <a:r>
              <a:rPr sz="9600" b="1" i="0">
                <a:solidFill>
                  <a:srgbClr val="42BA97"/>
                </a:solidFill>
                <a:latin typeface="Calibri"/>
              </a:rPr>
              <a:t>0</a:t>
            </a:r>
          </a:p>
        </p:txBody>
      </p:sp>
      <p:sp>
        <p:nvSpPr>
          <p:cNvPr id="16" name="TextBox 15"/>
          <p:cNvSpPr txBox="1"/>
          <p:nvPr/>
        </p:nvSpPr>
        <p:spPr>
          <a:xfrm>
            <a:off x="4572000" y="4023360"/>
            <a:ext cx="3154680" cy="1645920"/>
          </a:xfrm>
          <a:prstGeom prst="rect">
            <a:avLst/>
          </a:prstGeom>
          <a:noFill/>
        </p:spPr>
        <p:txBody>
          <a:bodyPr wrap="square" lIns="45720" rIns="45720" tIns="27432" bIns="27432" anchor="t">
            <a:noAutofit/>
          </a:bodyPr>
          <a:lstStyle/>
          <a:p>
            <a:pPr algn="ctr"/>
            <a:r>
              <a:rPr sz="1600" b="0" i="0">
                <a:solidFill>
                  <a:srgbClr val="335B74"/>
                </a:solidFill>
                <a:latin typeface="Calibri"/>
              </a:rPr>
              <a:t>violations of the cap or the holding limit, for limits of none, 10, 8 and 5 holdings</a:t>
            </a:r>
          </a:p>
        </p:txBody>
      </p:sp>
      <p:sp>
        <p:nvSpPr>
          <p:cNvPr id="17" name="TextBox 16"/>
          <p:cNvSpPr txBox="1"/>
          <p:nvPr/>
        </p:nvSpPr>
        <p:spPr>
          <a:xfrm>
            <a:off x="8183879" y="1508760"/>
            <a:ext cx="3520440" cy="457200"/>
          </a:xfrm>
          <a:prstGeom prst="rect">
            <a:avLst/>
          </a:prstGeom>
          <a:noFill/>
        </p:spPr>
        <p:txBody>
          <a:bodyPr wrap="square" lIns="45720" rIns="45720" tIns="27432" bIns="27432" anchor="t">
            <a:noAutofit/>
          </a:bodyPr>
          <a:lstStyle/>
          <a:p>
            <a:pPr algn="ctr"/>
            <a:r>
              <a:rPr sz="2000" b="1" i="0">
                <a:solidFill>
                  <a:srgbClr val="D9731A"/>
                </a:solidFill>
                <a:latin typeface="Calibri"/>
              </a:rPr>
              <a:t>Operator ablation</a:t>
            </a:r>
          </a:p>
        </p:txBody>
      </p:sp>
      <p:sp>
        <p:nvSpPr>
          <p:cNvPr id="18" name="TextBox 17"/>
          <p:cNvSpPr txBox="1"/>
          <p:nvPr/>
        </p:nvSpPr>
        <p:spPr>
          <a:xfrm>
            <a:off x="8183879" y="2468880"/>
            <a:ext cx="3520440" cy="1097280"/>
          </a:xfrm>
          <a:prstGeom prst="rect">
            <a:avLst/>
          </a:prstGeom>
          <a:noFill/>
        </p:spPr>
        <p:txBody>
          <a:bodyPr wrap="square" lIns="45720" rIns="45720" tIns="27432" bIns="27432" anchor="t">
            <a:noAutofit/>
          </a:bodyPr>
          <a:lstStyle/>
          <a:p>
            <a:pPr algn="ctr"/>
            <a:r>
              <a:rPr sz="4400" b="1" i="0">
                <a:solidFill>
                  <a:srgbClr val="D9731A"/>
                </a:solidFill>
                <a:latin typeface="Calibri"/>
              </a:rPr>
              <a:t>No gain</a:t>
            </a:r>
          </a:p>
        </p:txBody>
      </p:sp>
      <p:sp>
        <p:nvSpPr>
          <p:cNvPr id="19" name="TextBox 18"/>
          <p:cNvSpPr txBox="1"/>
          <p:nvPr/>
        </p:nvSpPr>
        <p:spPr>
          <a:xfrm>
            <a:off x="8366760" y="3657600"/>
            <a:ext cx="3154680" cy="2011680"/>
          </a:xfrm>
          <a:prstGeom prst="rect">
            <a:avLst/>
          </a:prstGeom>
          <a:noFill/>
        </p:spPr>
        <p:txBody>
          <a:bodyPr wrap="square" lIns="45720" rIns="45720" tIns="27432" bIns="27432" anchor="t">
            <a:noAutofit/>
          </a:bodyPr>
          <a:lstStyle/>
          <a:p>
            <a:pPr algn="ctr">
              <a:spcAft>
                <a:spcPts val="1000"/>
              </a:spcAft>
            </a:pPr>
            <a:r>
              <a:rPr sz="1600" b="0" i="0">
                <a:solidFill>
                  <a:srgbClr val="335B74"/>
                </a:solidFill>
                <a:latin typeface="Calibri"/>
              </a:rPr>
              <a:t>No turbulence: p = 0.64</a:t>
            </a:r>
          </a:p>
          <a:p>
            <a:pPr algn="ctr">
              <a:spcAft>
                <a:spcPts val="1000"/>
              </a:spcAft>
            </a:pPr>
            <a:r>
              <a:rPr sz="1600" b="0" i="0">
                <a:solidFill>
                  <a:srgbClr val="335B74"/>
                </a:solidFill>
                <a:latin typeface="Calibri"/>
              </a:rPr>
              <a:t>No swap mutation: p = 0.55</a:t>
            </a:r>
          </a:p>
          <a:p>
            <a:pPr algn="ctr">
              <a:spcAft>
                <a:spcPts val="1000"/>
              </a:spcAft>
            </a:pPr>
            <a:r>
              <a:rPr sz="1400" b="1" i="0">
                <a:solidFill>
                  <a:srgbClr val="335B74"/>
                </a:solidFill>
                <a:latin typeface="Calibri"/>
              </a:rPr>
              <a:t>Neither changes front quality at these settings</a:t>
            </a:r>
          </a:p>
        </p:txBody>
      </p:sp>
    </p:spTree>
    <p:extLst>
      <p:ext uri="{BB962C8B-B14F-4D97-AF65-F5344CB8AC3E}">
        <p14:creationId xmlns:p14="http://schemas.microsoft.com/office/powerpoint/2010/main" val="241826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akeaway 1"/>
          <p:cNvSpPr/>
          <p:nvPr/>
        </p:nvSpPr>
        <p:spPr>
          <a:xfrm>
            <a:off x="59436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74519" y="1691640"/>
            <a:ext cx="960120" cy="9601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1</a:t>
            </a:r>
          </a:p>
        </p:txBody>
      </p:sp>
      <p:sp>
        <p:nvSpPr>
          <p:cNvPr id="10" name="TextBox 9"/>
          <p:cNvSpPr txBox="1"/>
          <p:nvPr/>
        </p:nvSpPr>
        <p:spPr>
          <a:xfrm>
            <a:off x="73152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Both optimisers work</a:t>
            </a:r>
          </a:p>
        </p:txBody>
      </p:sp>
      <p:sp>
        <p:nvSpPr>
          <p:cNvPr id="11" name="TextBox 10"/>
          <p:cNvSpPr txBox="1"/>
          <p:nvPr/>
        </p:nvSpPr>
        <p:spPr>
          <a:xfrm>
            <a:off x="82296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Far better fronts than random search; every constraint respected</a:t>
            </a:r>
          </a:p>
        </p:txBody>
      </p:sp>
      <p:sp>
        <p:nvSpPr>
          <p:cNvPr id="12" name="Takeaway 2"/>
          <p:cNvSpPr/>
          <p:nvPr/>
        </p:nvSpPr>
        <p:spPr>
          <a:xfrm>
            <a:off x="438912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91640"/>
            <a:ext cx="960120" cy="96012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2</a:t>
            </a:r>
          </a:p>
        </p:txBody>
      </p:sp>
      <p:sp>
        <p:nvSpPr>
          <p:cNvPr id="14" name="TextBox 13"/>
          <p:cNvSpPr txBox="1"/>
          <p:nvPr/>
        </p:nvSpPr>
        <p:spPr>
          <a:xfrm>
            <a:off x="452628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Return does not transfer</a:t>
            </a:r>
          </a:p>
        </p:txBody>
      </p:sp>
      <p:sp>
        <p:nvSpPr>
          <p:cNvPr id="15" name="TextBox 14"/>
          <p:cNvSpPr txBox="1"/>
          <p:nvPr/>
        </p:nvSpPr>
        <p:spPr>
          <a:xfrm>
            <a:off x="461772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Best-Sharpe picks: 1.34 in training, 0.53 held out; equal weight 0.59</a:t>
            </a:r>
          </a:p>
        </p:txBody>
      </p:sp>
      <p:sp>
        <p:nvSpPr>
          <p:cNvPr id="16" name="Takeaway 3"/>
          <p:cNvSpPr/>
          <p:nvPr/>
        </p:nvSpPr>
        <p:spPr>
          <a:xfrm>
            <a:off x="818388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1691640"/>
            <a:ext cx="960120" cy="96012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3</a:t>
            </a:r>
          </a:p>
        </p:txBody>
      </p:sp>
      <p:sp>
        <p:nvSpPr>
          <p:cNvPr id="18" name="TextBox 17"/>
          <p:cNvSpPr txBox="1"/>
          <p:nvPr/>
        </p:nvSpPr>
        <p:spPr>
          <a:xfrm>
            <a:off x="832104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Risk does</a:t>
            </a:r>
          </a:p>
        </p:txBody>
      </p:sp>
      <p:sp>
        <p:nvSpPr>
          <p:cNvPr id="19" name="TextBox 18"/>
          <p:cNvSpPr txBox="1"/>
          <p:nvPr/>
        </p:nvSpPr>
        <p:spPr>
          <a:xfrm>
            <a:off x="841248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Minimum-volatility picks were calmer than equal weight in 30 of 30 markets</a:t>
            </a:r>
          </a:p>
        </p:txBody>
      </p:sp>
      <p:sp>
        <p:nvSpPr>
          <p:cNvPr id="20" name="TextBox 19"/>
          <p:cNvSpPr txBox="1"/>
          <p:nvPr/>
        </p:nvSpPr>
        <p:spPr>
          <a:xfrm>
            <a:off x="594360" y="48463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Future scope</a:t>
            </a:r>
          </a:p>
        </p:txBody>
      </p:sp>
      <p:sp>
        <p:nvSpPr>
          <p:cNvPr id="21" name="Rounded Rectangle 20"/>
          <p:cNvSpPr/>
          <p:nvPr/>
        </p:nvSpPr>
        <p:spPr>
          <a:xfrm>
            <a:off x="594360" y="5303520"/>
            <a:ext cx="246888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Real market data</a:t>
            </a:r>
          </a:p>
        </p:txBody>
      </p:sp>
      <p:sp>
        <p:nvSpPr>
          <p:cNvPr id="22" name="Rounded Rectangle 21"/>
          <p:cNvSpPr/>
          <p:nvPr/>
        </p:nvSpPr>
        <p:spPr>
          <a:xfrm>
            <a:off x="3172968" y="5303520"/>
            <a:ext cx="27432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Shrinkage estimators</a:t>
            </a:r>
          </a:p>
        </p:txBody>
      </p:sp>
      <p:sp>
        <p:nvSpPr>
          <p:cNvPr id="23" name="Rounded Rectangle 22"/>
          <p:cNvSpPr/>
          <p:nvPr/>
        </p:nvSpPr>
        <p:spPr>
          <a:xfrm>
            <a:off x="6025896" y="5303520"/>
            <a:ext cx="32004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Trading costs as an objective</a:t>
            </a:r>
          </a:p>
        </p:txBody>
      </p:sp>
      <p:sp>
        <p:nvSpPr>
          <p:cNvPr id="24" name="Rounded Rectangle 23"/>
          <p:cNvSpPr/>
          <p:nvPr/>
        </p:nvSpPr>
        <p:spPr>
          <a:xfrm>
            <a:off x="9336024" y="5303520"/>
            <a:ext cx="237744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Hosted classroom version</a:t>
            </a:r>
          </a:p>
        </p:txBody>
      </p:sp>
    </p:spTree>
    <p:extLst>
      <p:ext uri="{BB962C8B-B14F-4D97-AF65-F5344CB8AC3E}">
        <p14:creationId xmlns:p14="http://schemas.microsoft.com/office/powerpoint/2010/main" val="68599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Program Outcomes Attained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PO1 tile"/>
          <p:cNvSpPr/>
          <p:nvPr/>
        </p:nvSpPr>
        <p:spPr>
          <a:xfrm>
            <a:off x="5943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PO1</a:t>
            </a:r>
          </a:p>
          <a:p>
            <a:pPr algn="ctr"/>
            <a:r>
              <a:rPr sz="1300" b="0" i="0">
                <a:solidFill>
                  <a:srgbClr val="FFFFFF"/>
                </a:solidFill>
                <a:latin typeface="Calibri"/>
              </a:rPr>
              <a:t>Engineering knowledge</a:t>
            </a:r>
          </a:p>
          <a:p>
            <a:pPr algn="ctr"/>
            <a:r>
              <a:rPr sz="1300" b="1" i="0">
                <a:solidFill>
                  <a:srgbClr val="FFFFFF"/>
                </a:solidFill>
                <a:latin typeface="Calibri"/>
              </a:rPr>
              <a:t>Level 3</a:t>
            </a:r>
          </a:p>
        </p:txBody>
      </p:sp>
      <p:sp>
        <p:nvSpPr>
          <p:cNvPr id="9" name="PO2 tile"/>
          <p:cNvSpPr/>
          <p:nvPr/>
        </p:nvSpPr>
        <p:spPr>
          <a:xfrm>
            <a:off x="21945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PO2</a:t>
            </a:r>
          </a:p>
          <a:p>
            <a:pPr algn="ctr"/>
            <a:r>
              <a:rPr sz="1300" b="0" i="0">
                <a:solidFill>
                  <a:srgbClr val="FFFFFF"/>
                </a:solidFill>
                <a:latin typeface="Calibri"/>
              </a:rPr>
              <a:t>Problem analysis</a:t>
            </a:r>
          </a:p>
          <a:p>
            <a:pPr algn="ctr"/>
            <a:r>
              <a:rPr sz="1300" b="1" i="0">
                <a:solidFill>
                  <a:srgbClr val="FFFFFF"/>
                </a:solidFill>
                <a:latin typeface="Calibri"/>
              </a:rPr>
              <a:t>Level 3</a:t>
            </a:r>
          </a:p>
        </p:txBody>
      </p:sp>
      <p:sp>
        <p:nvSpPr>
          <p:cNvPr id="10" name="PO3 tile"/>
          <p:cNvSpPr/>
          <p:nvPr/>
        </p:nvSpPr>
        <p:spPr>
          <a:xfrm>
            <a:off x="37947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PO3</a:t>
            </a:r>
          </a:p>
          <a:p>
            <a:pPr algn="ctr"/>
            <a:r>
              <a:rPr sz="1300" b="0" i="0">
                <a:solidFill>
                  <a:srgbClr val="335B74"/>
                </a:solidFill>
                <a:latin typeface="Calibri"/>
              </a:rPr>
              <a:t>Design of solutions</a:t>
            </a:r>
          </a:p>
          <a:p>
            <a:pPr algn="ctr"/>
            <a:r>
              <a:rPr sz="1300" b="1" i="0">
                <a:solidFill>
                  <a:srgbClr val="335B74"/>
                </a:solidFill>
                <a:latin typeface="Calibri"/>
              </a:rPr>
              <a:t>Level 2</a:t>
            </a:r>
          </a:p>
        </p:txBody>
      </p:sp>
      <p:sp>
        <p:nvSpPr>
          <p:cNvPr id="11" name="PO4 tile"/>
          <p:cNvSpPr/>
          <p:nvPr/>
        </p:nvSpPr>
        <p:spPr>
          <a:xfrm>
            <a:off x="53949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PO4</a:t>
            </a:r>
          </a:p>
          <a:p>
            <a:pPr algn="ctr"/>
            <a:r>
              <a:rPr sz="1300" b="0" i="0">
                <a:solidFill>
                  <a:srgbClr val="FFFFFF"/>
                </a:solidFill>
                <a:latin typeface="Calibri"/>
              </a:rPr>
              <a:t>Investigation of problems</a:t>
            </a:r>
          </a:p>
          <a:p>
            <a:pPr algn="ctr"/>
            <a:r>
              <a:rPr sz="1300" b="1" i="0">
                <a:solidFill>
                  <a:srgbClr val="FFFFFF"/>
                </a:solidFill>
                <a:latin typeface="Calibri"/>
              </a:rPr>
              <a:t>Level 3</a:t>
            </a:r>
          </a:p>
        </p:txBody>
      </p:sp>
      <p:sp>
        <p:nvSpPr>
          <p:cNvPr id="12" name="PO5 tile"/>
          <p:cNvSpPr/>
          <p:nvPr/>
        </p:nvSpPr>
        <p:spPr>
          <a:xfrm>
            <a:off x="69951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PO5</a:t>
            </a:r>
          </a:p>
          <a:p>
            <a:pPr algn="ctr"/>
            <a:r>
              <a:rPr sz="1300" b="0" i="0">
                <a:solidFill>
                  <a:srgbClr val="FFFFFF"/>
                </a:solidFill>
                <a:latin typeface="Calibri"/>
              </a:rPr>
              <a:t>Modern tool usage</a:t>
            </a:r>
          </a:p>
          <a:p>
            <a:pPr algn="ctr"/>
            <a:r>
              <a:rPr sz="1300" b="1" i="0">
                <a:solidFill>
                  <a:srgbClr val="FFFFFF"/>
                </a:solidFill>
                <a:latin typeface="Calibri"/>
              </a:rPr>
              <a:t>Level 3</a:t>
            </a:r>
          </a:p>
        </p:txBody>
      </p:sp>
      <p:sp>
        <p:nvSpPr>
          <p:cNvPr id="13" name="PO6 tile"/>
          <p:cNvSpPr/>
          <p:nvPr/>
        </p:nvSpPr>
        <p:spPr>
          <a:xfrm>
            <a:off x="8595360" y="1783080"/>
            <a:ext cx="1481328" cy="1554480"/>
          </a:xfrm>
          <a:prstGeom prst="roundRect">
            <a:avLst>
              <a:gd name="adj" fmla="val 1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PO6</a:t>
            </a:r>
          </a:p>
          <a:p>
            <a:pPr algn="ctr"/>
            <a:r>
              <a:rPr sz="1300" b="0" i="0">
                <a:solidFill>
                  <a:srgbClr val="335B74"/>
                </a:solidFill>
                <a:latin typeface="Calibri"/>
              </a:rPr>
              <a:t>Engineer and the world</a:t>
            </a:r>
          </a:p>
          <a:p>
            <a:pPr algn="ctr"/>
            <a:r>
              <a:rPr sz="1300" b="1" i="0">
                <a:solidFill>
                  <a:srgbClr val="335B74"/>
                </a:solidFill>
                <a:latin typeface="Calibri"/>
              </a:rPr>
              <a:t>Level 1</a:t>
            </a:r>
          </a:p>
        </p:txBody>
      </p:sp>
      <p:sp>
        <p:nvSpPr>
          <p:cNvPr id="14" name="PO7 tile"/>
          <p:cNvSpPr/>
          <p:nvPr/>
        </p:nvSpPr>
        <p:spPr>
          <a:xfrm>
            <a:off x="101955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PO7</a:t>
            </a:r>
          </a:p>
          <a:p>
            <a:pPr algn="ctr"/>
            <a:r>
              <a:rPr sz="1300" b="0" i="0">
                <a:solidFill>
                  <a:srgbClr val="335B74"/>
                </a:solidFill>
                <a:latin typeface="Calibri"/>
              </a:rPr>
              <a:t>Ethics</a:t>
            </a:r>
          </a:p>
          <a:p>
            <a:pPr algn="ctr"/>
            <a:r>
              <a:rPr sz="1300" b="1" i="0">
                <a:solidFill>
                  <a:srgbClr val="335B74"/>
                </a:solidFill>
                <a:latin typeface="Calibri"/>
              </a:rPr>
              <a:t>Level 2</a:t>
            </a:r>
          </a:p>
        </p:txBody>
      </p:sp>
      <p:sp>
        <p:nvSpPr>
          <p:cNvPr id="15" name="PO8 tile"/>
          <p:cNvSpPr/>
          <p:nvPr/>
        </p:nvSpPr>
        <p:spPr>
          <a:xfrm>
            <a:off x="5943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PO8</a:t>
            </a:r>
          </a:p>
          <a:p>
            <a:pPr algn="ctr"/>
            <a:r>
              <a:rPr sz="1300" b="0" i="0">
                <a:solidFill>
                  <a:srgbClr val="FFFFFF"/>
                </a:solidFill>
                <a:latin typeface="Calibri"/>
              </a:rPr>
              <a:t>Teamwork</a:t>
            </a:r>
          </a:p>
          <a:p>
            <a:pPr algn="ctr"/>
            <a:r>
              <a:rPr sz="1300" b="1" i="0">
                <a:solidFill>
                  <a:srgbClr val="FFFFFF"/>
                </a:solidFill>
                <a:latin typeface="Calibri"/>
              </a:rPr>
              <a:t>Level 3</a:t>
            </a:r>
          </a:p>
        </p:txBody>
      </p:sp>
      <p:sp>
        <p:nvSpPr>
          <p:cNvPr id="16" name="PO9 tile"/>
          <p:cNvSpPr/>
          <p:nvPr/>
        </p:nvSpPr>
        <p:spPr>
          <a:xfrm>
            <a:off x="21945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PO9</a:t>
            </a:r>
          </a:p>
          <a:p>
            <a:pPr algn="ctr"/>
            <a:r>
              <a:rPr sz="1300" b="0" i="0">
                <a:solidFill>
                  <a:srgbClr val="335B74"/>
                </a:solidFill>
                <a:latin typeface="Calibri"/>
              </a:rPr>
              <a:t>Communication</a:t>
            </a:r>
          </a:p>
          <a:p>
            <a:pPr algn="ctr"/>
            <a:r>
              <a:rPr sz="1300" b="1" i="0">
                <a:solidFill>
                  <a:srgbClr val="335B74"/>
                </a:solidFill>
                <a:latin typeface="Calibri"/>
              </a:rPr>
              <a:t>Level 2</a:t>
            </a:r>
          </a:p>
        </p:txBody>
      </p:sp>
      <p:sp>
        <p:nvSpPr>
          <p:cNvPr id="17" name="PO10 tile"/>
          <p:cNvSpPr/>
          <p:nvPr/>
        </p:nvSpPr>
        <p:spPr>
          <a:xfrm>
            <a:off x="37947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PO10</a:t>
            </a:r>
          </a:p>
          <a:p>
            <a:pPr algn="ctr"/>
            <a:r>
              <a:rPr sz="1300" b="0" i="0">
                <a:solidFill>
                  <a:srgbClr val="335B74"/>
                </a:solidFill>
                <a:latin typeface="Calibri"/>
              </a:rPr>
              <a:t>Project management</a:t>
            </a:r>
          </a:p>
          <a:p>
            <a:pPr algn="ctr"/>
            <a:r>
              <a:rPr sz="1300" b="1" i="0">
                <a:solidFill>
                  <a:srgbClr val="335B74"/>
                </a:solidFill>
                <a:latin typeface="Calibri"/>
              </a:rPr>
              <a:t>Level 2</a:t>
            </a:r>
          </a:p>
        </p:txBody>
      </p:sp>
      <p:sp>
        <p:nvSpPr>
          <p:cNvPr id="18" name="PO11 tile"/>
          <p:cNvSpPr/>
          <p:nvPr/>
        </p:nvSpPr>
        <p:spPr>
          <a:xfrm>
            <a:off x="53949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PO11</a:t>
            </a:r>
          </a:p>
          <a:p>
            <a:pPr algn="ctr"/>
            <a:r>
              <a:rPr sz="1300" b="0" i="0">
                <a:solidFill>
                  <a:srgbClr val="335B74"/>
                </a:solidFill>
                <a:latin typeface="Calibri"/>
              </a:rPr>
              <a:t>Life-long learning</a:t>
            </a:r>
          </a:p>
          <a:p>
            <a:pPr algn="ctr"/>
            <a:r>
              <a:rPr sz="1300" b="1" i="0">
                <a:solidFill>
                  <a:srgbClr val="335B74"/>
                </a:solidFill>
                <a:latin typeface="Calibri"/>
              </a:rPr>
              <a:t>Level 2</a:t>
            </a:r>
          </a:p>
        </p:txBody>
      </p:sp>
      <p:sp>
        <p:nvSpPr>
          <p:cNvPr id="19" name="PSO1 tile"/>
          <p:cNvSpPr/>
          <p:nvPr/>
        </p:nvSpPr>
        <p:spPr>
          <a:xfrm>
            <a:off x="69951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PSO1</a:t>
            </a:r>
          </a:p>
          <a:p>
            <a:pPr algn="ctr"/>
            <a:r>
              <a:rPr sz="1300" b="0" i="0">
                <a:solidFill>
                  <a:srgbClr val="FFFFFF"/>
                </a:solidFill>
                <a:latin typeface="Calibri"/>
              </a:rPr>
              <a:t>Design AI systems</a:t>
            </a:r>
          </a:p>
          <a:p>
            <a:pPr algn="ctr"/>
            <a:r>
              <a:rPr sz="1300" b="1" i="0">
                <a:solidFill>
                  <a:srgbClr val="FFFFFF"/>
                </a:solidFill>
                <a:latin typeface="Calibri"/>
              </a:rPr>
              <a:t>Level 3</a:t>
            </a:r>
          </a:p>
        </p:txBody>
      </p:sp>
      <p:sp>
        <p:nvSpPr>
          <p:cNvPr id="20" name="PSO2 tile"/>
          <p:cNvSpPr/>
          <p:nvPr/>
        </p:nvSpPr>
        <p:spPr>
          <a:xfrm>
            <a:off x="85953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PSO2</a:t>
            </a:r>
          </a:p>
          <a:p>
            <a:pPr algn="ctr"/>
            <a:r>
              <a:rPr sz="1300" b="0" i="0">
                <a:solidFill>
                  <a:srgbClr val="335B74"/>
                </a:solidFill>
                <a:latin typeface="Calibri"/>
              </a:rPr>
              <a:t>Decisions with AI and data</a:t>
            </a:r>
          </a:p>
          <a:p>
            <a:pPr algn="ctr"/>
            <a:r>
              <a:rPr sz="1300" b="1" i="0">
                <a:solidFill>
                  <a:srgbClr val="335B74"/>
                </a:solidFill>
                <a:latin typeface="Calibri"/>
              </a:rPr>
              <a:t>Level 2</a:t>
            </a:r>
          </a:p>
        </p:txBody>
      </p:sp>
      <p:sp>
        <p:nvSpPr>
          <p:cNvPr id="21" name="PSO3 tile"/>
          <p:cNvSpPr/>
          <p:nvPr/>
        </p:nvSpPr>
        <p:spPr>
          <a:xfrm>
            <a:off x="101955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PSO3</a:t>
            </a:r>
          </a:p>
          <a:p>
            <a:pPr algn="ctr"/>
            <a:r>
              <a:rPr sz="1300" b="0" i="0">
                <a:solidFill>
                  <a:srgbClr val="FFFFFF"/>
                </a:solidFill>
                <a:latin typeface="Calibri"/>
              </a:rPr>
              <a:t>End-to-end systems</a:t>
            </a:r>
          </a:p>
          <a:p>
            <a:pPr algn="ctr"/>
            <a:r>
              <a:rPr sz="1300" b="1" i="0">
                <a:solidFill>
                  <a:srgbClr val="FFFFFF"/>
                </a:solidFill>
                <a:latin typeface="Calibri"/>
              </a:rPr>
              <a:t>Level 3</a:t>
            </a:r>
          </a:p>
        </p:txBody>
      </p:sp>
      <p:sp>
        <p:nvSpPr>
          <p:cNvPr id="22" name="Rounded Rectangle 21"/>
          <p:cNvSpPr/>
          <p:nvPr/>
        </p:nvSpPr>
        <p:spPr>
          <a:xfrm>
            <a:off x="8595360" y="1325880"/>
            <a:ext cx="1005840" cy="347472"/>
          </a:xfrm>
          <a:prstGeom prst="roundRect">
            <a:avLst>
              <a:gd name="adj" fmla="val 4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FFFFFF"/>
                </a:solidFill>
                <a:latin typeface="Calibri"/>
              </a:rPr>
              <a:t>3  High</a:t>
            </a:r>
          </a:p>
        </p:txBody>
      </p:sp>
      <p:sp>
        <p:nvSpPr>
          <p:cNvPr id="23" name="Rounded Rectangle 22"/>
          <p:cNvSpPr/>
          <p:nvPr/>
        </p:nvSpPr>
        <p:spPr>
          <a:xfrm>
            <a:off x="9692640" y="1325880"/>
            <a:ext cx="1005840" cy="347472"/>
          </a:xfrm>
          <a:prstGeom prst="roundRect">
            <a:avLst>
              <a:gd name="adj" fmla="val 4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2  Medium</a:t>
            </a:r>
          </a:p>
        </p:txBody>
      </p:sp>
      <p:sp>
        <p:nvSpPr>
          <p:cNvPr id="24" name="Rounded Rectangle 23"/>
          <p:cNvSpPr/>
          <p:nvPr/>
        </p:nvSpPr>
        <p:spPr>
          <a:xfrm>
            <a:off x="10789920" y="1325880"/>
            <a:ext cx="1005840" cy="347472"/>
          </a:xfrm>
          <a:prstGeom prst="roundRect">
            <a:avLst>
              <a:gd name="adj" fmla="val 4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1  Low</a:t>
            </a:r>
          </a:p>
        </p:txBody>
      </p:sp>
      <p:sp>
        <p:nvSpPr>
          <p:cNvPr id="25" name="TextBox 24"/>
          <p:cNvSpPr txBox="1"/>
          <p:nvPr/>
        </p:nvSpPr>
        <p:spPr>
          <a:xfrm>
            <a:off x="594360" y="5257800"/>
            <a:ext cx="10972800" cy="457200"/>
          </a:xfrm>
          <a:prstGeom prst="rect">
            <a:avLst/>
          </a:prstGeom>
          <a:noFill/>
        </p:spPr>
        <p:txBody>
          <a:bodyPr wrap="square" lIns="45720" rIns="45720" tIns="27432" bIns="27432" anchor="t">
            <a:noAutofit/>
          </a:bodyPr>
          <a:lstStyle/>
          <a:p>
            <a:pPr algn="l"/>
            <a:r>
              <a:rPr sz="1400" b="0" i="0">
                <a:solidFill>
                  <a:srgbClr val="8A97A8"/>
                </a:solidFill>
                <a:latin typeface="Calibri"/>
              </a:rPr>
              <a:t>Each level is justified in the project report (attainment sheet).</a:t>
            </a:r>
          </a:p>
        </p:txBody>
      </p:sp>
    </p:spTree>
    <p:extLst>
      <p:ext uri="{BB962C8B-B14F-4D97-AF65-F5344CB8AC3E}">
        <p14:creationId xmlns:p14="http://schemas.microsoft.com/office/powerpoint/2010/main" val="2352204614"/>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78</TotalTime>
  <Words>199</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BMS College of Engineering (Autonomous College under VTU) Department of Artificial Intelligence and Data Science   Project Work Phase-2 (23AI7PWPP2) Final Presentation on   Project Title </vt:lpstr>
      <vt:lpstr>Table of Contents </vt:lpstr>
      <vt:lpstr>Abstract </vt:lpstr>
      <vt:lpstr>Introduction</vt:lpstr>
      <vt:lpstr>Literature Survey</vt:lpstr>
      <vt:lpstr>Requirement Analysis and Specification</vt:lpstr>
      <vt:lpstr>Design</vt:lpstr>
      <vt:lpstr>Implementation</vt:lpstr>
      <vt:lpstr>Testing and Validation </vt:lpstr>
      <vt:lpstr>Results and Discussion</vt:lpstr>
      <vt:lpstr>Conclusion </vt:lpstr>
      <vt:lpstr>Program Outcomes Attained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11</cp:revision>
  <dcterms:created xsi:type="dcterms:W3CDTF">2025-03-11T07:28:48Z</dcterms:created>
  <dcterms:modified xsi:type="dcterms:W3CDTF">2026-10-14T09:35:50Z</dcterms:modified>
</cp:coreProperties>
</file>