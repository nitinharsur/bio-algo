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ommentAuthors.xml" ContentType="application/vnd.openxmlformats-officedocument.presentationml.commentAuthor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59" r:id="rId1"/>
  </p:sldMasterIdLst>
  <p:notesMasterIdLst>
    <p:notesMasterId r:id="rId14"/>
  </p:notesMasterIdLst>
  <p:sldIdLst>
    <p:sldId id="256" r:id="rId2"/>
    <p:sldId id="263" r:id="rId3"/>
    <p:sldId id="264" r:id="rId4"/>
    <p:sldId id="265" r:id="rId5"/>
    <p:sldId id="274" r:id="rId20"/>
    <p:sldId id="266" r:id="rId6"/>
    <p:sldId id="267" r:id="rId7"/>
    <p:sldId id="268" r:id="rId8"/>
    <p:sldId id="275" r:id="rId21"/>
    <p:sldId id="269" r:id="rId9"/>
    <p:sldId id="276" r:id="rId22"/>
    <p:sldId id="270" r:id="rId10"/>
    <p:sldId id="271" r:id="rId11"/>
    <p:sldId id="277" r:id="rId23"/>
    <p:sldId id="278" r:id="rId24"/>
    <p:sldId id="279" r:id="rId25"/>
    <p:sldId id="272" r:id="rId12"/>
    <p:sldId id="27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dmin" initials="A" lastIdx="1" clrIdx="0">
    <p:extLst>
      <p:ext uri="{19B8F6BF-5375-455C-9EA6-DF929625EA0E}">
        <p15:presenceInfo xmlns:p15="http://schemas.microsoft.com/office/powerpoint/2012/main" userId="Adm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10.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7.xml"/><Relationship Id="rId13" Type="http://schemas.openxmlformats.org/officeDocument/2006/relationships/slide" Target="slides/slide18.xml"/><Relationship Id="rId14" Type="http://schemas.openxmlformats.org/officeDocument/2006/relationships/notesMaster" Target="notesMasters/notesMaster1.xml"/><Relationship Id="rId15" Type="http://schemas.openxmlformats.org/officeDocument/2006/relationships/commentAuthors" Target="commentAuthors.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5.xml"/><Relationship Id="rId21" Type="http://schemas.openxmlformats.org/officeDocument/2006/relationships/slide" Target="slides/slide9.xml"/><Relationship Id="rId22" Type="http://schemas.openxmlformats.org/officeDocument/2006/relationships/slide" Target="slides/slide11.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335B74"/>
                </a:solidFill>
                <a:latin typeface="Calibri"/>
              </a:rPr>
              <a:t>Hypervolume (higher is better)</a:t>
            </a:r>
          </a:p>
        </c:rich>
      </c:tx>
      <c:layout/>
      <c:overlay val="0"/>
    </c:title>
    <c:autoTitleDeleted val="0"/>
    <c:plotArea>
      <c:barChart>
        <c:barDir val="col"/>
        <c:grouping val="clustered"/>
        <c:ser>
          <c:idx val="0"/>
          <c:order val="0"/>
          <c:tx>
            <c:strRef>
              <c:f>Sheet1!$B$1</c:f>
              <c:strCache>
                <c:ptCount val="1"/>
                <c:pt idx="0">
                  <c:v>Hypervolume</c:v>
                </c:pt>
              </c:strCache>
            </c:strRef>
          </c:tx>
          <c:dPt>
            <c:idx val="0"/>
            <c:spPr>
              <a:solidFill>
                <a:srgbClr val="2683C6"/>
              </a:solidFill>
            </c:spPr>
          </c:dPt>
          <c:dPt>
            <c:idx val="1"/>
            <c:spPr>
              <a:solidFill>
                <a:srgbClr val="D9731A"/>
              </a:solidFill>
            </c:spPr>
          </c:dPt>
          <c:dPt>
            <c:idx val="2"/>
            <c:spPr>
              <a:solidFill>
                <a:srgbClr val="8A97A8"/>
              </a:solidFill>
            </c:spPr>
          </c:dPt>
          <c:cat>
            <c:strRef>
              <c:f>Sheet1!$A$2:$A$4</c:f>
              <c:strCache>
                <c:ptCount val="3"/>
                <c:pt idx="0">
                  <c:v>MOPSO</c:v>
                </c:pt>
                <c:pt idx="1">
                  <c:v>NSGA-II</c:v>
                </c:pt>
                <c:pt idx="2">
                  <c:v>Random</c:v>
                </c:pt>
              </c:strCache>
            </c:strRef>
          </c:cat>
          <c:val>
            <c:numRef>
              <c:f>Sheet1!$B$2:$B$4</c:f>
              <c:numCache>
                <c:formatCode>General</c:formatCode>
                <c:ptCount val="3"/>
                <c:pt idx="0">
                  <c:v>0.702</c:v>
                </c:pt>
                <c:pt idx="1">
                  <c:v>0.706</c:v>
                </c:pt>
                <c:pt idx="2">
                  <c:v>0.254</c:v>
                </c:pt>
              </c:numCache>
            </c:numRef>
          </c:val>
        </c:ser>
        <c:dLbls>
          <c:numFmt formatCode="0.00" sourceLinked="0"/>
          <c:txPr>
            <a:bodyPr/>
            <a:lstStyle/>
            <a:p>
              <a:pPr>
                <a:defRPr sz="14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300"/>
            </a:pPr>
          </a:p>
        </c:txPr>
        <c:crossAx val="-2113994440"/>
        <c:crosses val="autoZero"/>
        <c:auto val="1"/>
        <c:lblAlgn val="ctr"/>
        <c:lblOffset val="100"/>
        <c:noMultiLvlLbl val="0"/>
      </c:catAx>
      <c:valAx>
        <c:axId val="-2113994440"/>
        <c:scaling>
          <c:max val="0.9"/>
          <c:min val="0.0"/>
        </c:scaling>
        <c:delete val="0"/>
        <c:axPos val="l"/>
        <c:majorGridlines>
          <c:spPr>
            <a:ln>
              <a:solidFill>
                <a:srgbClr val="D5DEE5"/>
              </a:solidFill>
            </a:ln>
          </c:spPr>
        </c:majorGridlines>
        <c:numFmt formatCode="0.0" sourceLinked="0"/>
        <c:majorTickMark val="out"/>
        <c:minorTickMark val="none"/>
        <c:tickLblPos val="nextTo"/>
        <c:spPr>
          <a:ln>
            <a:noFill/>
          </a:ln>
        </c:spPr>
        <c:txPr>
          <a:bodyPr/>
          <a:lstStyle/>
          <a:p>
            <a:pPr>
              <a:defRPr sz="1300"/>
            </a:pPr>
          </a:p>
        </c:txPr>
        <c:crossAx val="-2068027336"/>
        <c:crosses val="autoZero"/>
      </c:valAx>
    </c:plotArea>
    <c:dispBlanksAs val="gap"/>
  </c:chart>
  <c:txPr>
    <a:bodyPr/>
    <a:lstStyle/>
    <a:p>
      <a:pPr>
        <a:defRPr sz="1300">
          <a:solidFill>
            <a:srgbClr val="335B7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solidFill>
                  <a:srgbClr val="335B74"/>
                </a:solidFill>
                <a:latin typeface="Calibri"/>
              </a:rPr>
              <a:t>Hypervolume against objective evaluations</a:t>
            </a:r>
          </a:p>
        </c:rich>
      </c:tx>
      <c:layout/>
      <c:overlay val="0"/>
    </c:title>
    <c:autoTitleDeleted val="0"/>
    <c:plotArea>
      <c:lineChart>
        <c:grouping val="standard"/>
        <c:varyColors val="0"/>
        <c:ser>
          <c:idx val="0"/>
          <c:order val="0"/>
          <c:tx>
            <c:strRef>
              <c:f>Sheet1!$B$1</c:f>
              <c:strCache>
                <c:ptCount val="1"/>
                <c:pt idx="0">
                  <c:v>MOPSO</c:v>
                </c:pt>
              </c:strCache>
            </c:strRef>
          </c:tx>
          <c:spPr>
            <a:ln w="38100">
              <a:solidFill>
                <a:srgbClr val="2683C6"/>
              </a:solidFill>
            </a:ln>
          </c:spPr>
          <c:marker>
            <c:size val="8"/>
            <c:spPr>
              <a:solidFill>
                <a:srgbClr val="2683C6"/>
              </a:solidFill>
              <a:ln>
                <a:solidFill>
                  <a:srgbClr val="2683C6"/>
                </a:solidFill>
              </a:ln>
            </c:spPr>
          </c:marker>
          <c:cat>
            <c:strRef>
              <c:f>Sheet1!$A$2:$A$7</c:f>
              <c:strCache>
                <c:ptCount val="6"/>
                <c:pt idx="0">
                  <c:v>600</c:v>
                </c:pt>
                <c:pt idx="1">
                  <c:v>1,100</c:v>
                </c:pt>
                <c:pt idx="2">
                  <c:v>2,600</c:v>
                </c:pt>
                <c:pt idx="3">
                  <c:v>5,100</c:v>
                </c:pt>
                <c:pt idx="4">
                  <c:v>10,100</c:v>
                </c:pt>
                <c:pt idx="5">
                  <c:v>20,100</c:v>
                </c:pt>
              </c:strCache>
            </c:strRef>
          </c:cat>
          <c:val>
            <c:numRef>
              <c:f>Sheet1!$B$2:$B$7</c:f>
              <c:numCache>
                <c:formatCode>General</c:formatCode>
                <c:ptCount val="6"/>
                <c:pt idx="0">
                  <c:v>0.628</c:v>
                </c:pt>
                <c:pt idx="1">
                  <c:v>0.752</c:v>
                </c:pt>
                <c:pt idx="2">
                  <c:v>0.788</c:v>
                </c:pt>
                <c:pt idx="3">
                  <c:v>0.797</c:v>
                </c:pt>
                <c:pt idx="4">
                  <c:v>0.801</c:v>
                </c:pt>
                <c:pt idx="5">
                  <c:v>0.802</c:v>
                </c:pt>
              </c:numCache>
            </c:numRef>
          </c:val>
          <c:smooth val="0"/>
        </c:ser>
        <c:ser>
          <c:idx val="1"/>
          <c:order val="1"/>
          <c:tx>
            <c:strRef>
              <c:f>Sheet1!$C$1</c:f>
              <c:strCache>
                <c:ptCount val="1"/>
                <c:pt idx="0">
                  <c:v>NSGA-II</c:v>
                </c:pt>
              </c:strCache>
            </c:strRef>
          </c:tx>
          <c:spPr>
            <a:ln w="38100">
              <a:solidFill>
                <a:srgbClr val="D9731A"/>
              </a:solidFill>
            </a:ln>
          </c:spPr>
          <c:marker>
            <c:size val="8"/>
            <c:spPr>
              <a:solidFill>
                <a:srgbClr val="D9731A"/>
              </a:solidFill>
              <a:ln>
                <a:solidFill>
                  <a:srgbClr val="D9731A"/>
                </a:solidFill>
              </a:ln>
            </c:spPr>
          </c:marker>
          <c:cat>
            <c:strRef>
              <c:f>Sheet1!$A$2:$A$7</c:f>
              <c:strCache>
                <c:ptCount val="6"/>
                <c:pt idx="0">
                  <c:v>600</c:v>
                </c:pt>
                <c:pt idx="1">
                  <c:v>1,100</c:v>
                </c:pt>
                <c:pt idx="2">
                  <c:v>2,600</c:v>
                </c:pt>
                <c:pt idx="3">
                  <c:v>5,100</c:v>
                </c:pt>
                <c:pt idx="4">
                  <c:v>10,100</c:v>
                </c:pt>
                <c:pt idx="5">
                  <c:v>20,100</c:v>
                </c:pt>
              </c:strCache>
            </c:strRef>
          </c:cat>
          <c:val>
            <c:numRef>
              <c:f>Sheet1!$C$2:$C$7</c:f>
              <c:numCache>
                <c:formatCode>General</c:formatCode>
                <c:ptCount val="6"/>
                <c:pt idx="0">
                  <c:v>0.369</c:v>
                </c:pt>
                <c:pt idx="1">
                  <c:v>0.463</c:v>
                </c:pt>
                <c:pt idx="2">
                  <c:v>0.646</c:v>
                </c:pt>
                <c:pt idx="3">
                  <c:v>0.769</c:v>
                </c:pt>
                <c:pt idx="4">
                  <c:v>0.804</c:v>
                </c:pt>
                <c:pt idx="5">
                  <c:v>0.811</c:v>
                </c:pt>
              </c:numCache>
            </c:numRef>
          </c:val>
          <c:smooth val="0"/>
        </c:ser>
        <c:ser>
          <c:idx val="2"/>
          <c:order val="2"/>
          <c:tx>
            <c:strRef>
              <c:f>Sheet1!$D$1</c:f>
              <c:strCache>
                <c:ptCount val="1"/>
                <c:pt idx="0">
                  <c:v>Random search</c:v>
                </c:pt>
              </c:strCache>
            </c:strRef>
          </c:tx>
          <c:spPr>
            <a:ln w="38100">
              <a:solidFill>
                <a:srgbClr val="8A97A8"/>
              </a:solidFill>
            </a:ln>
          </c:spPr>
          <c:marker>
            <c:size val="8"/>
            <c:spPr>
              <a:solidFill>
                <a:srgbClr val="8A97A8"/>
              </a:solidFill>
              <a:ln>
                <a:solidFill>
                  <a:srgbClr val="8A97A8"/>
                </a:solidFill>
              </a:ln>
            </c:spPr>
          </c:marker>
          <c:cat>
            <c:strRef>
              <c:f>Sheet1!$A$2:$A$7</c:f>
              <c:strCache>
                <c:ptCount val="6"/>
                <c:pt idx="0">
                  <c:v>600</c:v>
                </c:pt>
                <c:pt idx="1">
                  <c:v>1,100</c:v>
                </c:pt>
                <c:pt idx="2">
                  <c:v>2,600</c:v>
                </c:pt>
                <c:pt idx="3">
                  <c:v>5,100</c:v>
                </c:pt>
                <c:pt idx="4">
                  <c:v>10,100</c:v>
                </c:pt>
                <c:pt idx="5">
                  <c:v>20,100</c:v>
                </c:pt>
              </c:strCache>
            </c:strRef>
          </c:cat>
          <c:val>
            <c:numRef>
              <c:f>Sheet1!$D$2:$D$7</c:f>
              <c:numCache>
                <c:formatCode>General</c:formatCode>
                <c:ptCount val="6"/>
                <c:pt idx="0">
                  <c:v>0.284</c:v>
                </c:pt>
                <c:pt idx="1">
                  <c:v>0.33</c:v>
                </c:pt>
                <c:pt idx="2">
                  <c:v>0.353</c:v>
                </c:pt>
                <c:pt idx="3">
                  <c:v>0.381</c:v>
                </c:pt>
                <c:pt idx="4">
                  <c:v>0.395</c:v>
                </c:pt>
                <c:pt idx="5">
                  <c:v>0.43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5DEE5"/>
            </a:solidFill>
          </a:ln>
        </c:spPr>
        <c:txPr>
          <a:bodyPr/>
          <a:lstStyle/>
          <a:p>
            <a:pPr>
              <a:defRPr sz="1400"/>
            </a:pPr>
          </a:p>
        </c:txPr>
        <c:crossAx val="2140495176"/>
        <c:crosses val="autoZero"/>
        <c:auto val="1"/>
        <c:lblAlgn val="ctr"/>
        <c:lblOffset val="100"/>
        <c:noMultiLvlLbl val="0"/>
      </c:catAx>
      <c:valAx>
        <c:axId val="2140495176"/>
        <c:scaling>
          <c:max val="1.0"/>
          <c:min val="0.0"/>
        </c:scaling>
        <c:delete val="0"/>
        <c:axPos val="l"/>
        <c:majorGridlines>
          <c:spPr>
            <a:ln>
              <a:solidFill>
                <a:srgbClr val="D5DEE5"/>
              </a:solidFill>
            </a:ln>
          </c:spPr>
        </c:majorGridlines>
        <c:numFmt formatCode="0.0" sourceLinked="0"/>
        <c:majorTickMark val="out"/>
        <c:minorTickMark val="none"/>
        <c:tickLblPos val="nextTo"/>
        <c:spPr>
          <a:ln>
            <a:noFill/>
          </a:ln>
        </c:spPr>
        <c:txPr>
          <a:bodyPr/>
          <a:lstStyle/>
          <a:p>
            <a:pPr>
              <a:defRPr sz="1400"/>
            </a:pPr>
          </a:p>
        </c:txPr>
        <c:crossAx val="2118791784"/>
        <c:crosses val="autoZero"/>
      </c:valAx>
    </c:plotArea>
    <c:legend>
      <c:legendPos val="b"/>
      <c:layout/>
      <c:overlay val="0"/>
      <c:txPr>
        <a:bodyPr/>
        <a:lstStyle/>
        <a:p>
          <a:pPr>
            <a:defRPr sz="1400"/>
          </a:pPr>
        </a:p>
      </c:txPr>
    </c:legend>
    <c:plotVisOnly val="1"/>
    <c:dispBlanksAs val="gap"/>
    <c:showDLblsOverMax val="0"/>
  </c:chart>
  <c:txPr>
    <a:bodyPr/>
    <a:lstStyle/>
    <a:p>
      <a:pPr>
        <a:defRPr sz="1400">
          <a:solidFill>
            <a:srgbClr val="335B7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335B74"/>
                </a:solidFill>
                <a:latin typeface="Calibri"/>
              </a:rPr>
              <a:t>Sharpe ratio: training vs held-out</a:t>
            </a:r>
          </a:p>
        </c:rich>
      </c:tx>
      <c:layout/>
      <c:overlay val="0"/>
    </c:title>
    <c:autoTitleDeleted val="0"/>
    <c:plotArea>
      <c:barChart>
        <c:barDir val="col"/>
        <c:grouping val="clustered"/>
        <c:ser>
          <c:idx val="0"/>
          <c:order val="0"/>
          <c:tx>
            <c:strRef>
              <c:f>Sheet1!$B$1</c:f>
              <c:strCache>
                <c:ptCount val="1"/>
                <c:pt idx="0">
                  <c:v>Training window</c:v>
                </c:pt>
              </c:strCache>
            </c:strRef>
          </c:tx>
          <c:spPr>
            <a:solidFill>
              <a:srgbClr val="9CC8E8"/>
            </a:solidFill>
          </c:spPr>
          <c:cat>
            <c:strRef>
              <c:f>Sheet1!$A$2:$A$6</c:f>
              <c:strCache>
                <c:ptCount val="5"/>
                <c:pt idx="0">
                  <c:v>Equal weight</c:v>
                </c:pt>
                <c:pt idx="1">
                  <c:v>Swarm: best Sharpe</c:v>
                </c:pt>
                <c:pt idx="2">
                  <c:v>GA: best Sharpe</c:v>
                </c:pt>
                <c:pt idx="3">
                  <c:v>Swarm: min vol.</c:v>
                </c:pt>
                <c:pt idx="4">
                  <c:v>GA: min vol.</c:v>
                </c:pt>
              </c:strCache>
            </c:strRef>
          </c:cat>
          <c:val>
            <c:numRef>
              <c:f>Sheet1!$B$2:$B$6</c:f>
              <c:numCache>
                <c:formatCode>General</c:formatCode>
                <c:ptCount val="5"/>
                <c:pt idx="0">
                  <c:v>0.52</c:v>
                </c:pt>
                <c:pt idx="1">
                  <c:v>1.34</c:v>
                </c:pt>
                <c:pt idx="2">
                  <c:v>1.34</c:v>
                </c:pt>
                <c:pt idx="3">
                  <c:v>0.64</c:v>
                </c:pt>
                <c:pt idx="4">
                  <c:v>0.57</c:v>
                </c:pt>
              </c:numCache>
            </c:numRef>
          </c:val>
        </c:ser>
        <c:ser>
          <c:idx val="1"/>
          <c:order val="1"/>
          <c:tx>
            <c:strRef>
              <c:f>Sheet1!$C$1</c:f>
              <c:strCache>
                <c:ptCount val="1"/>
                <c:pt idx="0">
                  <c:v>Held-out window</c:v>
                </c:pt>
              </c:strCache>
            </c:strRef>
          </c:tx>
          <c:spPr>
            <a:solidFill>
              <a:srgbClr val="335B74"/>
            </a:solidFill>
          </c:spPr>
          <c:cat>
            <c:strRef>
              <c:f>Sheet1!$A$2:$A$6</c:f>
              <c:strCache>
                <c:ptCount val="5"/>
                <c:pt idx="0">
                  <c:v>Equal weight</c:v>
                </c:pt>
                <c:pt idx="1">
                  <c:v>Swarm: best Sharpe</c:v>
                </c:pt>
                <c:pt idx="2">
                  <c:v>GA: best Sharpe</c:v>
                </c:pt>
                <c:pt idx="3">
                  <c:v>Swarm: min vol.</c:v>
                </c:pt>
                <c:pt idx="4">
                  <c:v>GA: min vol.</c:v>
                </c:pt>
              </c:strCache>
            </c:strRef>
          </c:cat>
          <c:val>
            <c:numRef>
              <c:f>Sheet1!$C$2:$C$6</c:f>
              <c:numCache>
                <c:formatCode>General</c:formatCode>
                <c:ptCount val="5"/>
                <c:pt idx="0">
                  <c:v>0.59</c:v>
                </c:pt>
                <c:pt idx="1">
                  <c:v>0.53</c:v>
                </c:pt>
                <c:pt idx="2">
                  <c:v>0.53</c:v>
                </c:pt>
                <c:pt idx="3">
                  <c:v>0.61</c:v>
                </c:pt>
                <c:pt idx="4">
                  <c:v>0.62</c:v>
                </c:pt>
              </c:numCache>
            </c:numRef>
          </c:val>
        </c:ser>
        <c:dLbls>
          <c:numFmt formatCode="0.00" sourceLinked="0"/>
          <c:txPr>
            <a:bodyPr/>
            <a:lstStyle/>
            <a:p>
              <a:pPr>
                <a:defRPr sz="1200"/>
              </a:pPr>
            </a:p>
          </c:txPr>
          <c:dLblPos val="outEnd"/>
          <c:showLegendKey val="0"/>
          <c:showVal val="1"/>
          <c:showCatName val="0"/>
          <c:showSerName val="0"/>
          <c:showPercent val="0"/>
          <c:showBubbleSize val="0"/>
          <c:showLeaderLines val="1"/>
        </c:dLbls>
        <c:gapWidth val="70"/>
        <c:overlap val="-5"/>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200"/>
            </a:pPr>
          </a:p>
        </c:txPr>
        <c:crossAx val="-2113994440"/>
        <c:crosses val="autoZero"/>
        <c:auto val="1"/>
        <c:lblAlgn val="ctr"/>
        <c:lblOffset val="100"/>
        <c:noMultiLvlLbl val="0"/>
      </c:catAx>
      <c:valAx>
        <c:axId val="-2113994440"/>
        <c:scaling>
          <c:max val="1.6"/>
          <c:min val="0.0"/>
        </c:scaling>
        <c:delete val="0"/>
        <c:axPos val="l"/>
        <c:majorGridlines>
          <c:spPr>
            <a:ln>
              <a:solidFill>
                <a:srgbClr val="D5DEE5"/>
              </a:solidFill>
            </a:ln>
          </c:spPr>
        </c:majorGridlines>
        <c:numFmt formatCode="0.0" sourceLinked="0"/>
        <c:majorTickMark val="out"/>
        <c:minorTickMark val="none"/>
        <c:tickLblPos val="nextTo"/>
        <c:spPr>
          <a:ln>
            <a:noFill/>
          </a:ln>
        </c:spPr>
        <c:txPr>
          <a:bodyPr/>
          <a:lstStyle/>
          <a:p>
            <a:pPr>
              <a:defRPr sz="12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335B7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335B74"/>
                </a:solidFill>
                <a:latin typeface="Calibri"/>
              </a:rPr>
              <a:t>Held-out volatility (% a year)</a:t>
            </a:r>
          </a:p>
        </c:rich>
      </c:tx>
      <c:layout/>
      <c:overlay val="0"/>
    </c:title>
    <c:autoTitleDeleted val="0"/>
    <c:plotArea>
      <c:barChart>
        <c:barDir val="col"/>
        <c:grouping val="clustered"/>
        <c:ser>
          <c:idx val="0"/>
          <c:order val="0"/>
          <c:tx>
            <c:strRef>
              <c:f>Sheet1!$B$1</c:f>
              <c:strCache>
                <c:ptCount val="1"/>
                <c:pt idx="0">
                  <c:v>Held-out volatility (%)</c:v>
                </c:pt>
              </c:strCache>
            </c:strRef>
          </c:tx>
          <c:dPt>
            <c:idx val="0"/>
            <c:spPr>
              <a:solidFill>
                <a:srgbClr val="42BA97"/>
              </a:solidFill>
            </c:spPr>
          </c:dPt>
          <c:dPt>
            <c:idx val="1"/>
            <c:spPr>
              <a:solidFill>
                <a:srgbClr val="2683C6"/>
              </a:solidFill>
            </c:spPr>
          </c:dPt>
          <c:dPt>
            <c:idx val="2"/>
            <c:spPr>
              <a:solidFill>
                <a:srgbClr val="D9731A"/>
              </a:solidFill>
            </c:spPr>
          </c:dPt>
          <c:dPt>
            <c:idx val="3"/>
            <c:spPr>
              <a:solidFill>
                <a:srgbClr val="2683C6"/>
              </a:solidFill>
            </c:spPr>
          </c:dPt>
          <c:dPt>
            <c:idx val="4"/>
            <c:spPr>
              <a:solidFill>
                <a:srgbClr val="D9731A"/>
              </a:solidFill>
            </c:spPr>
          </c:dPt>
          <c:cat>
            <c:strRef>
              <c:f>Sheet1!$A$2:$A$6</c:f>
              <c:strCache>
                <c:ptCount val="5"/>
                <c:pt idx="0">
                  <c:v>Equal weight</c:v>
                </c:pt>
                <c:pt idx="1">
                  <c:v>Swarm: best Sharpe</c:v>
                </c:pt>
                <c:pt idx="2">
                  <c:v>GA: best Sharpe</c:v>
                </c:pt>
                <c:pt idx="3">
                  <c:v>Swarm: min vol.</c:v>
                </c:pt>
                <c:pt idx="4">
                  <c:v>GA: min vol.</c:v>
                </c:pt>
              </c:strCache>
            </c:strRef>
          </c:cat>
          <c:val>
            <c:numRef>
              <c:f>Sheet1!$B$2:$B$6</c:f>
              <c:numCache>
                <c:formatCode>General</c:formatCode>
                <c:ptCount val="5"/>
                <c:pt idx="0">
                  <c:v>14.7</c:v>
                </c:pt>
                <c:pt idx="1">
                  <c:v>16.6</c:v>
                </c:pt>
                <c:pt idx="2">
                  <c:v>16.7</c:v>
                </c:pt>
                <c:pt idx="3">
                  <c:v>12.6</c:v>
                </c:pt>
                <c:pt idx="4">
                  <c:v>12.4</c:v>
                </c:pt>
              </c:numCache>
            </c:numRef>
          </c:val>
        </c:ser>
        <c:dLbls>
          <c:numFmt formatCode="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200"/>
            </a:pPr>
          </a:p>
        </c:txPr>
        <c:crossAx val="-2113994440"/>
        <c:crosses val="autoZero"/>
        <c:auto val="1"/>
        <c:lblAlgn val="ctr"/>
        <c:lblOffset val="100"/>
        <c:noMultiLvlLbl val="0"/>
      </c:catAx>
      <c:valAx>
        <c:axId val="-2113994440"/>
        <c:scaling>
          <c:max val="20.0"/>
          <c:min val="0.0"/>
        </c:scaling>
        <c:delete val="0"/>
        <c:axPos val="l"/>
        <c:majorGridlines>
          <c:spPr>
            <a:ln>
              <a:solidFill>
                <a:srgbClr val="D5DEE5"/>
              </a:solidFill>
            </a:ln>
          </c:spPr>
        </c:majorGridlines>
        <c:majorTickMark val="out"/>
        <c:minorTickMark val="none"/>
        <c:tickLblPos val="nextTo"/>
        <c:spPr>
          <a:ln>
            <a:noFill/>
          </a:ln>
        </c:spPr>
        <c:txPr>
          <a:bodyPr/>
          <a:lstStyle/>
          <a:p>
            <a:pPr>
              <a:defRPr sz="1200"/>
            </a:pPr>
          </a:p>
        </c:txPr>
        <c:crossAx val="-2068027336"/>
        <c:crosses val="autoZero"/>
      </c:valAx>
    </c:plotArea>
    <c:dispBlanksAs val="gap"/>
  </c:chart>
  <c:txPr>
    <a:bodyPr/>
    <a:lstStyle/>
    <a:p>
      <a:pPr>
        <a:defRPr sz="1200">
          <a:solidFill>
            <a:srgbClr val="335B74"/>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MOPSO</c:v>
                </c:pt>
              </c:strCache>
            </c:strRef>
          </c:tx>
          <c:spPr>
            <a:solidFill>
              <a:srgbClr val="2683C6"/>
            </a:solidFill>
          </c:spPr>
          <c:cat>
            <c:strRef>
              <c:f>Sheet1!$A$2:$A$5</c:f>
              <c:strCache>
                <c:ptCount val="4"/>
                <c:pt idx="0">
                  <c:v>10</c:v>
                </c:pt>
                <c:pt idx="1">
                  <c:v>20</c:v>
                </c:pt>
                <c:pt idx="2">
                  <c:v>40</c:v>
                </c:pt>
                <c:pt idx="3">
                  <c:v>60</c:v>
                </c:pt>
              </c:strCache>
            </c:strRef>
          </c:cat>
          <c:val>
            <c:numRef>
              <c:f>Sheet1!$B$2:$B$5</c:f>
              <c:numCache>
                <c:formatCode>General</c:formatCode>
                <c:ptCount val="4"/>
                <c:pt idx="0">
                  <c:v>1.51</c:v>
                </c:pt>
                <c:pt idx="1">
                  <c:v>1.49</c:v>
                </c:pt>
                <c:pt idx="2">
                  <c:v>1.38</c:v>
                </c:pt>
                <c:pt idx="3">
                  <c:v>1.4</c:v>
                </c:pt>
              </c:numCache>
            </c:numRef>
          </c:val>
        </c:ser>
        <c:ser>
          <c:idx val="1"/>
          <c:order val="1"/>
          <c:tx>
            <c:strRef>
              <c:f>Sheet1!$C$1</c:f>
              <c:strCache>
                <c:ptCount val="1"/>
                <c:pt idx="0">
                  <c:v>NSGA-II</c:v>
                </c:pt>
              </c:strCache>
            </c:strRef>
          </c:tx>
          <c:spPr>
            <a:solidFill>
              <a:srgbClr val="D9731A"/>
            </a:solidFill>
          </c:spPr>
          <c:cat>
            <c:strRef>
              <c:f>Sheet1!$A$2:$A$5</c:f>
              <c:strCache>
                <c:ptCount val="4"/>
                <c:pt idx="0">
                  <c:v>10</c:v>
                </c:pt>
                <c:pt idx="1">
                  <c:v>20</c:v>
                </c:pt>
                <c:pt idx="2">
                  <c:v>40</c:v>
                </c:pt>
                <c:pt idx="3">
                  <c:v>60</c:v>
                </c:pt>
              </c:strCache>
            </c:strRef>
          </c:cat>
          <c:val>
            <c:numRef>
              <c:f>Sheet1!$C$2:$C$5</c:f>
              <c:numCache>
                <c:formatCode>General</c:formatCode>
                <c:ptCount val="4"/>
                <c:pt idx="0">
                  <c:v>1.31</c:v>
                </c:pt>
                <c:pt idx="1">
                  <c:v>1.27</c:v>
                </c:pt>
                <c:pt idx="2">
                  <c:v>1.33</c:v>
                </c:pt>
                <c:pt idx="3">
                  <c:v>1.24</c:v>
                </c:pt>
              </c:numCache>
            </c:numRef>
          </c:val>
        </c:ser>
        <c:gapWidth val="60"/>
        <c:axId val="-2068027336"/>
        <c:axId val="-2113994440"/>
      </c:barChart>
      <c:catAx>
        <c:axId val="-2068027336"/>
        <c:scaling>
          <c:orientation val="minMax"/>
        </c:scaling>
        <c:delete val="0"/>
        <c:axPos val="b"/>
        <c:majorTickMark val="out"/>
        <c:minorTickMark val="none"/>
        <c:tickLblPos val="nextTo"/>
        <c:spPr>
          <a:ln>
            <a:solidFill>
              <a:srgbClr val="D5DEE5"/>
            </a:solidFill>
          </a:ln>
        </c:spPr>
        <c:txPr>
          <a:bodyPr/>
          <a:lstStyle/>
          <a:p>
            <a:pPr>
              <a:defRPr sz="1200"/>
            </a:pPr>
          </a:p>
        </c:txPr>
        <c:crossAx val="-2113994440"/>
        <c:crosses val="autoZero"/>
        <c:auto val="1"/>
        <c:lblAlgn val="ctr"/>
        <c:lblOffset val="100"/>
        <c:noMultiLvlLbl val="0"/>
      </c:catAx>
      <c:valAx>
        <c:axId val="-2113994440"/>
        <c:scaling>
          <c:max val="3.0"/>
          <c:min val="0.0"/>
        </c:scaling>
        <c:delete val="0"/>
        <c:axPos val="l"/>
        <c:majorGridlines>
          <c:spPr>
            <a:ln>
              <a:solidFill>
                <a:srgbClr val="D5DEE5"/>
              </a:solidFill>
            </a:ln>
          </c:spPr>
        </c:majorGridlines>
        <c:numFmt formatCode="0" sourceLinked="0"/>
        <c:majorTickMark val="out"/>
        <c:minorTickMark val="none"/>
        <c:tickLblPos val="nextTo"/>
        <c:spPr>
          <a:ln>
            <a:noFill/>
          </a:ln>
        </c:spPr>
        <c:txPr>
          <a:bodyPr/>
          <a:lstStyle/>
          <a:p>
            <a:pPr>
              <a:defRPr sz="12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335B7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BE64CC-FAEA-419F-85AD-198B850C8D23}" type="datetimeFigureOut">
              <a:rPr lang="en-IN" smtClean="0"/>
              <a:t>14-10-2026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C8047E-ABDD-4AF6-BACE-9BE3DC3E46C3}" type="slidenum">
              <a:rPr lang="en-IN" smtClean="0"/>
              <a:t>‹#›</a:t>
            </a:fld>
            <a:endParaRPr lang="en-IN"/>
          </a:p>
        </p:txBody>
      </p:sp>
    </p:spTree>
    <p:extLst>
      <p:ext uri="{BB962C8B-B14F-4D97-AF65-F5344CB8AC3E}">
        <p14:creationId xmlns:p14="http://schemas.microsoft.com/office/powerpoint/2010/main" val="11324219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project and the team. SwarmFolio compares a particle swarm optimiser and a genetic algorithm on a three-objective stock portfolio problem.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of the talk. The circles show the slide number where each section starts.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choice trades return against volatility and tail loss. We built two optimisers on one shared constraint-repair step. Both beat random search clearly, but portfolios picked for the best Sharpe ratio lost most of their advantage on unseen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portfolio has to balance return against volatility and tail loss, and real mandates add constraints. The result is not one answer but a front of trade-offs.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deliverables: the library, two optimisers, a fair evaluation protocol and a browser workbench. Scope is limited to simulated markets, which is stated as a limitation.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Markowitz to NSGA-II and multi-objective PSO. The surveyed portfolio-PSO papers optimise one scalarised objective and evaluate mostly in-sample, which motivates the four gaps shown.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 cover data input, constraints, both optimisers, live progress, inspection and error messages. Everything runs on free software; a default run takes about a second and a half.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layers. The browser draws and sends JSON. The server runs jobs on worker threads and stores the latest snapshot of each population. The core is plain Python and is shared by the tests, the command line and the web app.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repair operator guarantees every portfolio is long-only, fully invested, capped and within the holding limit. Six experiments vary one factor at a time, with the last using 30 independent markets.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algorithms see exactly the same problem and the same evaluation budget. The swarm uses an external archive and crowding-based leaders; the genetic algorithm is standard NSGA-II with a swap mutation added.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workbench runs both optimisers side by side and animates them. After the run you can click any point on a front to see its weights and how it behaved on held-out 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Tests run at three levels. Fourteen automated tests, nineteen system test cases including browser checks, and zero constraint violations across all experiment runs. Same seed gives the same front.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optimisers find roughly one hundred non-dominated portfolios against about twenty for random search, with hypervolume about 0.70 versus 0.25. The genetic algorithm is marginally ahead on average but the difference is tiny next to the seed-to-seed spread.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few evaluations the swarm is clearly better; it reaches in 10 iterations what the genetic algorithm needs 25 to 50 iterations to match. From 100 iterations the genetic algorithm finishes slightly ahead.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Average over 30 independent simulated markets. Portfolios chosen for the best Sharpe ratio looked excellent in training but fell below equal weight on unseen data. Minimum-volatility portfolios were calmer than equal weight in every one of the 30 markets.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time stays near one and a half seconds from 10 to 60 assets. The repair operator kept every portfolio feasible. The two extra operators we added did not measurably help, which we report honestly.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take-aways: the optimisers work, historical returns do not predict future returns well, but risk estimates do transfer. Future work: real market data, shrinkage estimators, costs as an objective and a hosted version for classes.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Levels as assessed in the report. Strongest: engineering knowledge, problem analysis, investigations, tool usage and teamwork. Weakest: the engineer and the world, since societal impact is only addressed through the SDGs.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48DC7-A1AF-454D-8F51-1EED3626D65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355B11F-023F-4919-AB4A-585D993C1A6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B51392C-B085-4A0C-835C-887FE05E4D59}"/>
              </a:ext>
            </a:extLst>
          </p:cNvPr>
          <p:cNvSpPr>
            <a:spLocks noGrp="1"/>
          </p:cNvSpPr>
          <p:nvPr>
            <p:ph type="dt" sz="half" idx="10"/>
          </p:nvPr>
        </p:nvSpPr>
        <p:spPr/>
        <p:txBody>
          <a:bodyPr/>
          <a:lstStyle/>
          <a:p>
            <a:fld id="{F96B690A-2018-4C35-84C1-074B36A8631B}" type="datetime3">
              <a:rPr lang="en-US" smtClean="0"/>
              <a:t>14 October 2026</a:t>
            </a:fld>
            <a:endParaRPr lang="en-US" dirty="0"/>
          </a:p>
        </p:txBody>
      </p:sp>
      <p:sp>
        <p:nvSpPr>
          <p:cNvPr id="5" name="Footer Placeholder 4">
            <a:extLst>
              <a:ext uri="{FF2B5EF4-FFF2-40B4-BE49-F238E27FC236}">
                <a16:creationId xmlns:a16="http://schemas.microsoft.com/office/drawing/2014/main" id="{B6216E43-37A0-4A7C-8D2E-D56ED0504E6F}"/>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2AD48056-AE10-4E2D-836A-8FE0A2148E5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9650150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CCB72E-9EB0-4D5C-9212-928BA268060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86C7BAEB-BDDE-4D24-8B52-E7DA57FB6D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263259-5941-4A24-9144-10E25DA07401}"/>
              </a:ext>
            </a:extLst>
          </p:cNvPr>
          <p:cNvSpPr>
            <a:spLocks noGrp="1"/>
          </p:cNvSpPr>
          <p:nvPr>
            <p:ph type="dt" sz="half" idx="10"/>
          </p:nvPr>
        </p:nvSpPr>
        <p:spPr/>
        <p:txBody>
          <a:bodyPr/>
          <a:lstStyle/>
          <a:p>
            <a:fld id="{8B5D5C25-6344-4FCC-B0C5-B8E7C09A7920}" type="datetime3">
              <a:rPr lang="en-US" smtClean="0"/>
              <a:t>14 October 2026</a:t>
            </a:fld>
            <a:endParaRPr lang="en-US" dirty="0"/>
          </a:p>
        </p:txBody>
      </p:sp>
      <p:sp>
        <p:nvSpPr>
          <p:cNvPr id="5" name="Footer Placeholder 4">
            <a:extLst>
              <a:ext uri="{FF2B5EF4-FFF2-40B4-BE49-F238E27FC236}">
                <a16:creationId xmlns:a16="http://schemas.microsoft.com/office/drawing/2014/main" id="{34462CA2-E8B4-4C80-8E31-44F6F336A443}"/>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C3FCB4F3-0B0C-45B4-8CD2-8CEA99260068}"/>
              </a:ext>
            </a:extLst>
          </p:cNvPr>
          <p:cNvSpPr>
            <a:spLocks noGrp="1"/>
          </p:cNvSpPr>
          <p:nvPr>
            <p:ph type="sldNum" sz="quarter" idx="12"/>
          </p:nvPr>
        </p:nvSpPr>
        <p:spPr/>
        <p:txBody>
          <a:bodyPr/>
          <a:lstStyle/>
          <a:p>
            <a:fld id="{E97799C9-84D9-46D2-A11E-BCF8A720529D}" type="slidenum">
              <a:rPr lang="en-US" smtClean="0"/>
              <a:t>‹#›</a:t>
            </a:fld>
            <a:endParaRPr lang="en-US" dirty="0"/>
          </a:p>
        </p:txBody>
      </p:sp>
    </p:spTree>
    <p:extLst>
      <p:ext uri="{BB962C8B-B14F-4D97-AF65-F5344CB8AC3E}">
        <p14:creationId xmlns:p14="http://schemas.microsoft.com/office/powerpoint/2010/main" val="32568490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7C05A-F84C-46F4-AA53-E5BD71E6CE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46758BEB-486A-40BF-BFA4-AAC41F702A3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E777AD-1E4A-49AD-B010-4B5F4094713E}"/>
              </a:ext>
            </a:extLst>
          </p:cNvPr>
          <p:cNvSpPr>
            <a:spLocks noGrp="1"/>
          </p:cNvSpPr>
          <p:nvPr>
            <p:ph type="dt" sz="half" idx="10"/>
          </p:nvPr>
        </p:nvSpPr>
        <p:spPr/>
        <p:txBody>
          <a:bodyPr/>
          <a:lstStyle/>
          <a:p>
            <a:fld id="{5B63C459-52BE-4A7F-8B66-B0BDD5930200}" type="datetime3">
              <a:rPr lang="en-US" smtClean="0"/>
              <a:t>14 October 2026</a:t>
            </a:fld>
            <a:endParaRPr lang="en-US" dirty="0"/>
          </a:p>
        </p:txBody>
      </p:sp>
      <p:sp>
        <p:nvSpPr>
          <p:cNvPr id="5" name="Footer Placeholder 4">
            <a:extLst>
              <a:ext uri="{FF2B5EF4-FFF2-40B4-BE49-F238E27FC236}">
                <a16:creationId xmlns:a16="http://schemas.microsoft.com/office/drawing/2014/main" id="{EA639839-E3C8-4668-B4BB-8F9AA9CFDB8A}"/>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8523822D-B98B-437B-820A-234A636795F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02895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45003-09BE-47AD-ABD9-CF3855D76DB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164CB74-49D3-41E8-95EE-82990C4440D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FEFC566-6024-497C-BE11-8D0352BC35F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CC4B89F-D41B-462A-A991-2D4B63239AFD}"/>
              </a:ext>
            </a:extLst>
          </p:cNvPr>
          <p:cNvSpPr>
            <a:spLocks noGrp="1"/>
          </p:cNvSpPr>
          <p:nvPr>
            <p:ph type="dt" sz="half" idx="10"/>
          </p:nvPr>
        </p:nvSpPr>
        <p:spPr/>
        <p:txBody>
          <a:bodyPr/>
          <a:lstStyle/>
          <a:p>
            <a:fld id="{85600D5F-C7D7-4DA9-8ED1-6A26ED488053}" type="datetime3">
              <a:rPr lang="en-US" smtClean="0"/>
              <a:t>14 October 2026</a:t>
            </a:fld>
            <a:endParaRPr lang="en-US" dirty="0"/>
          </a:p>
        </p:txBody>
      </p:sp>
      <p:sp>
        <p:nvSpPr>
          <p:cNvPr id="6" name="Footer Placeholder 5">
            <a:extLst>
              <a:ext uri="{FF2B5EF4-FFF2-40B4-BE49-F238E27FC236}">
                <a16:creationId xmlns:a16="http://schemas.microsoft.com/office/drawing/2014/main" id="{D2B69D38-E1C2-4933-BBFE-F57C39178E8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1BD9292E-2746-4501-ADF7-C4F14A8DB8BE}"/>
              </a:ext>
            </a:extLst>
          </p:cNvPr>
          <p:cNvSpPr>
            <a:spLocks noGrp="1"/>
          </p:cNvSpPr>
          <p:nvPr>
            <p:ph type="sldNum" sz="quarter" idx="12"/>
          </p:nvPr>
        </p:nvSpPr>
        <p:spPr/>
        <p:txBody>
          <a:bodyPr/>
          <a:lstStyle/>
          <a:p>
            <a:fld id="{5D84065D-F351-4B03-BD91-D8A6B8D4B362}" type="slidenum">
              <a:rPr lang="en-US" smtClean="0"/>
              <a:t>‹#›</a:t>
            </a:fld>
            <a:endParaRPr lang="en-US" dirty="0"/>
          </a:p>
        </p:txBody>
      </p:sp>
    </p:spTree>
    <p:extLst>
      <p:ext uri="{BB962C8B-B14F-4D97-AF65-F5344CB8AC3E}">
        <p14:creationId xmlns:p14="http://schemas.microsoft.com/office/powerpoint/2010/main" val="17806180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20879-8E62-45BC-AF8C-25286B3B2CA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F483ABB-CE83-403E-8621-103F660E8A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12C4F16-181B-418B-8C33-53BD349A33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854CB22-06EF-4C53-97AD-6005175A8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1EDC58C-36E6-4ED2-A747-8257F32B099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FD59A9E8-C2BF-4670-8445-296C9B28891B}"/>
              </a:ext>
            </a:extLst>
          </p:cNvPr>
          <p:cNvSpPr>
            <a:spLocks noGrp="1"/>
          </p:cNvSpPr>
          <p:nvPr>
            <p:ph type="dt" sz="half" idx="10"/>
          </p:nvPr>
        </p:nvSpPr>
        <p:spPr/>
        <p:txBody>
          <a:bodyPr/>
          <a:lstStyle/>
          <a:p>
            <a:fld id="{9DF619B0-41D6-4259-BDD5-5E4016DE45FE}" type="datetime3">
              <a:rPr lang="en-US" smtClean="0"/>
              <a:t>14 October 2026</a:t>
            </a:fld>
            <a:endParaRPr lang="en-US" dirty="0"/>
          </a:p>
        </p:txBody>
      </p:sp>
      <p:sp>
        <p:nvSpPr>
          <p:cNvPr id="8" name="Footer Placeholder 7">
            <a:extLst>
              <a:ext uri="{FF2B5EF4-FFF2-40B4-BE49-F238E27FC236}">
                <a16:creationId xmlns:a16="http://schemas.microsoft.com/office/drawing/2014/main" id="{38029DB8-1E8B-4256-906C-E498D14E7FF7}"/>
              </a:ext>
            </a:extLst>
          </p:cNvPr>
          <p:cNvSpPr>
            <a:spLocks noGrp="1"/>
          </p:cNvSpPr>
          <p:nvPr>
            <p:ph type="ftr" sz="quarter" idx="11"/>
          </p:nvPr>
        </p:nvSpPr>
        <p:spPr/>
        <p:txBody>
          <a:bodyPr/>
          <a:lstStyle/>
          <a:p>
            <a:r>
              <a:rPr lang="en-US"/>
              <a:t>Dept of AI &amp; DS</a:t>
            </a:r>
            <a:endParaRPr lang="en-US" dirty="0"/>
          </a:p>
        </p:txBody>
      </p:sp>
      <p:sp>
        <p:nvSpPr>
          <p:cNvPr id="9" name="Slide Number Placeholder 8">
            <a:extLst>
              <a:ext uri="{FF2B5EF4-FFF2-40B4-BE49-F238E27FC236}">
                <a16:creationId xmlns:a16="http://schemas.microsoft.com/office/drawing/2014/main" id="{43F8EAA8-29C1-4CB8-9FB3-CA8AC6ADF66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085738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C2AEF7-FFC2-4F73-B673-20FA77FA56D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902BD792-97FD-4783-B155-DCBBCEC6958C}"/>
              </a:ext>
            </a:extLst>
          </p:cNvPr>
          <p:cNvSpPr>
            <a:spLocks noGrp="1"/>
          </p:cNvSpPr>
          <p:nvPr>
            <p:ph type="dt" sz="half" idx="10"/>
          </p:nvPr>
        </p:nvSpPr>
        <p:spPr/>
        <p:txBody>
          <a:bodyPr/>
          <a:lstStyle/>
          <a:p>
            <a:fld id="{7AAB6B39-79AD-49CF-9581-BBED8573797D}" type="datetime3">
              <a:rPr lang="en-US" smtClean="0"/>
              <a:t>14 October 2026</a:t>
            </a:fld>
            <a:endParaRPr lang="en-US" dirty="0"/>
          </a:p>
        </p:txBody>
      </p:sp>
      <p:sp>
        <p:nvSpPr>
          <p:cNvPr id="4" name="Footer Placeholder 3">
            <a:extLst>
              <a:ext uri="{FF2B5EF4-FFF2-40B4-BE49-F238E27FC236}">
                <a16:creationId xmlns:a16="http://schemas.microsoft.com/office/drawing/2014/main" id="{50E01A47-5CA7-49DD-B220-7036801F4C5D}"/>
              </a:ext>
            </a:extLst>
          </p:cNvPr>
          <p:cNvSpPr>
            <a:spLocks noGrp="1"/>
          </p:cNvSpPr>
          <p:nvPr>
            <p:ph type="ftr" sz="quarter" idx="11"/>
          </p:nvPr>
        </p:nvSpPr>
        <p:spPr/>
        <p:txBody>
          <a:bodyPr/>
          <a:lstStyle/>
          <a:p>
            <a:r>
              <a:rPr lang="en-US"/>
              <a:t>Dept of AI &amp; DS</a:t>
            </a:r>
            <a:endParaRPr lang="en-US" dirty="0"/>
          </a:p>
        </p:txBody>
      </p:sp>
      <p:sp>
        <p:nvSpPr>
          <p:cNvPr id="5" name="Slide Number Placeholder 4">
            <a:extLst>
              <a:ext uri="{FF2B5EF4-FFF2-40B4-BE49-F238E27FC236}">
                <a16:creationId xmlns:a16="http://schemas.microsoft.com/office/drawing/2014/main" id="{C53A02EB-4172-4384-8A07-825746F55A03}"/>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75737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5F028B-BC35-4777-8DA5-349770F4D7E3}"/>
              </a:ext>
            </a:extLst>
          </p:cNvPr>
          <p:cNvSpPr>
            <a:spLocks noGrp="1"/>
          </p:cNvSpPr>
          <p:nvPr>
            <p:ph type="dt" sz="half" idx="10"/>
          </p:nvPr>
        </p:nvSpPr>
        <p:spPr/>
        <p:txBody>
          <a:bodyPr/>
          <a:lstStyle/>
          <a:p>
            <a:fld id="{354D09DC-397F-4C90-BEF8-1B27AE70C1B8}" type="datetime3">
              <a:rPr lang="en-US" smtClean="0"/>
              <a:t>14 October 2026</a:t>
            </a:fld>
            <a:endParaRPr lang="en-US" dirty="0"/>
          </a:p>
        </p:txBody>
      </p:sp>
      <p:sp>
        <p:nvSpPr>
          <p:cNvPr id="3" name="Footer Placeholder 2">
            <a:extLst>
              <a:ext uri="{FF2B5EF4-FFF2-40B4-BE49-F238E27FC236}">
                <a16:creationId xmlns:a16="http://schemas.microsoft.com/office/drawing/2014/main" id="{0781F0F5-4C14-4F89-807A-BAFA18E6D703}"/>
              </a:ext>
            </a:extLst>
          </p:cNvPr>
          <p:cNvSpPr>
            <a:spLocks noGrp="1"/>
          </p:cNvSpPr>
          <p:nvPr>
            <p:ph type="ftr" sz="quarter" idx="11"/>
          </p:nvPr>
        </p:nvSpPr>
        <p:spPr/>
        <p:txBody>
          <a:bodyPr/>
          <a:lstStyle/>
          <a:p>
            <a:r>
              <a:rPr lang="en-US"/>
              <a:t>Dept of AI &amp; DS</a:t>
            </a:r>
            <a:endParaRPr lang="en-US" dirty="0"/>
          </a:p>
        </p:txBody>
      </p:sp>
      <p:sp>
        <p:nvSpPr>
          <p:cNvPr id="4" name="Slide Number Placeholder 3">
            <a:extLst>
              <a:ext uri="{FF2B5EF4-FFF2-40B4-BE49-F238E27FC236}">
                <a16:creationId xmlns:a16="http://schemas.microsoft.com/office/drawing/2014/main" id="{2B1ECB63-3832-410F-B52B-EA5059FB4258}"/>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19201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265A5-589F-436F-B963-51B674C2C3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B5C5788-6A11-41D3-AFA3-9AEA251F63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ADCE902-1E56-451A-B337-0A06E5A5F0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5E3FBC-6860-44C4-AA13-71D32C829D41}"/>
              </a:ext>
            </a:extLst>
          </p:cNvPr>
          <p:cNvSpPr>
            <a:spLocks noGrp="1"/>
          </p:cNvSpPr>
          <p:nvPr>
            <p:ph type="dt" sz="half" idx="10"/>
          </p:nvPr>
        </p:nvSpPr>
        <p:spPr/>
        <p:txBody>
          <a:bodyPr/>
          <a:lstStyle/>
          <a:p>
            <a:fld id="{CB0CD71C-7E0D-4C06-BD4A-154CEF952E54}" type="datetime3">
              <a:rPr lang="en-US" smtClean="0"/>
              <a:t>14 October 2026</a:t>
            </a:fld>
            <a:endParaRPr lang="en-US" dirty="0"/>
          </a:p>
        </p:txBody>
      </p:sp>
      <p:sp>
        <p:nvSpPr>
          <p:cNvPr id="6" name="Footer Placeholder 5">
            <a:extLst>
              <a:ext uri="{FF2B5EF4-FFF2-40B4-BE49-F238E27FC236}">
                <a16:creationId xmlns:a16="http://schemas.microsoft.com/office/drawing/2014/main" id="{C0717787-1889-4CB9-A6B6-0B536CE46FBD}"/>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A11C5F25-288D-4C05-A2D0-34DF85E3C325}"/>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684739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DD07F-8DC5-4B8C-9A7F-3DCCA66B92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A75A51A-5EDE-4327-972A-56F8AD07C2A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3C9361E-CE10-493C-AEDB-CA7DA6A2E7F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BCDBE5-0868-41ED-B735-08360E926664}"/>
              </a:ext>
            </a:extLst>
          </p:cNvPr>
          <p:cNvSpPr>
            <a:spLocks noGrp="1"/>
          </p:cNvSpPr>
          <p:nvPr>
            <p:ph type="dt" sz="half" idx="10"/>
          </p:nvPr>
        </p:nvSpPr>
        <p:spPr/>
        <p:txBody>
          <a:bodyPr/>
          <a:lstStyle/>
          <a:p>
            <a:fld id="{7A48FDE7-01DF-4ABF-99D1-733E01D15C4D}" type="datetime3">
              <a:rPr lang="en-US" smtClean="0"/>
              <a:t>14 October 2026</a:t>
            </a:fld>
            <a:endParaRPr lang="en-US" dirty="0"/>
          </a:p>
        </p:txBody>
      </p:sp>
      <p:sp>
        <p:nvSpPr>
          <p:cNvPr id="6" name="Footer Placeholder 5">
            <a:extLst>
              <a:ext uri="{FF2B5EF4-FFF2-40B4-BE49-F238E27FC236}">
                <a16:creationId xmlns:a16="http://schemas.microsoft.com/office/drawing/2014/main" id="{5018971D-9DD4-4EF2-9CE0-1E2EA1EF7CF9}"/>
              </a:ext>
            </a:extLst>
          </p:cNvPr>
          <p:cNvSpPr>
            <a:spLocks noGrp="1"/>
          </p:cNvSpPr>
          <p:nvPr>
            <p:ph type="ftr" sz="quarter" idx="11"/>
          </p:nvPr>
        </p:nvSpPr>
        <p:spPr/>
        <p:txBody>
          <a:bodyPr/>
          <a:lstStyle/>
          <a:p>
            <a:r>
              <a:rPr lang="en-US"/>
              <a:t>Dept of AI &amp; DS</a:t>
            </a:r>
            <a:endParaRPr lang="en-US" dirty="0"/>
          </a:p>
        </p:txBody>
      </p:sp>
      <p:sp>
        <p:nvSpPr>
          <p:cNvPr id="7" name="Slide Number Placeholder 6">
            <a:extLst>
              <a:ext uri="{FF2B5EF4-FFF2-40B4-BE49-F238E27FC236}">
                <a16:creationId xmlns:a16="http://schemas.microsoft.com/office/drawing/2014/main" id="{5E6E5A19-0667-4C50-872A-ADBEF04AF0BB}"/>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539921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7A367-7B98-4B2A-AD6F-870DCECC2A3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2F63E8-4F90-40DC-B1B5-8723F4D226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44E234-4D4A-47CB-BF9E-3E0A5A2E1017}"/>
              </a:ext>
            </a:extLst>
          </p:cNvPr>
          <p:cNvSpPr>
            <a:spLocks noGrp="1"/>
          </p:cNvSpPr>
          <p:nvPr>
            <p:ph type="dt" sz="half" idx="10"/>
          </p:nvPr>
        </p:nvSpPr>
        <p:spPr/>
        <p:txBody>
          <a:bodyPr/>
          <a:lstStyle/>
          <a:p>
            <a:fld id="{97C4DF75-2FED-488D-BFD6-8E71635C4D39}" type="datetime3">
              <a:rPr lang="en-US" smtClean="0"/>
              <a:t>14 October 2026</a:t>
            </a:fld>
            <a:endParaRPr lang="en-US" dirty="0"/>
          </a:p>
        </p:txBody>
      </p:sp>
      <p:sp>
        <p:nvSpPr>
          <p:cNvPr id="5" name="Footer Placeholder 4">
            <a:extLst>
              <a:ext uri="{FF2B5EF4-FFF2-40B4-BE49-F238E27FC236}">
                <a16:creationId xmlns:a16="http://schemas.microsoft.com/office/drawing/2014/main" id="{C6F46CE3-AF2A-4CBF-AA79-BFBF38FF4AC2}"/>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51BFBBF8-FA99-4380-AC6E-975D048364DE}"/>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37013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61571-5B71-44C5-B8A1-03F5C543A66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212296D-5675-43B3-A998-5E03CAB29D3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387514F-7C52-405E-9731-6E25A1D84DE2}"/>
              </a:ext>
            </a:extLst>
          </p:cNvPr>
          <p:cNvSpPr>
            <a:spLocks noGrp="1"/>
          </p:cNvSpPr>
          <p:nvPr>
            <p:ph type="dt" sz="half" idx="10"/>
          </p:nvPr>
        </p:nvSpPr>
        <p:spPr/>
        <p:txBody>
          <a:bodyPr/>
          <a:lstStyle/>
          <a:p>
            <a:fld id="{9425C36C-502D-4ECE-A30C-9E599D171CDD}" type="datetime3">
              <a:rPr lang="en-US" smtClean="0"/>
              <a:t>14 October 2026</a:t>
            </a:fld>
            <a:endParaRPr lang="en-US" dirty="0"/>
          </a:p>
        </p:txBody>
      </p:sp>
      <p:sp>
        <p:nvSpPr>
          <p:cNvPr id="5" name="Footer Placeholder 4">
            <a:extLst>
              <a:ext uri="{FF2B5EF4-FFF2-40B4-BE49-F238E27FC236}">
                <a16:creationId xmlns:a16="http://schemas.microsoft.com/office/drawing/2014/main" id="{BAA16880-27F0-438E-8025-61DE8779EFEC}"/>
              </a:ext>
            </a:extLst>
          </p:cNvPr>
          <p:cNvSpPr>
            <a:spLocks noGrp="1"/>
          </p:cNvSpPr>
          <p:nvPr>
            <p:ph type="ftr" sz="quarter" idx="11"/>
          </p:nvPr>
        </p:nvSpPr>
        <p:spPr/>
        <p:txBody>
          <a:bodyPr/>
          <a:lstStyle/>
          <a:p>
            <a:r>
              <a:rPr lang="en-US"/>
              <a:t>Dept of AI &amp; DS</a:t>
            </a:r>
            <a:endParaRPr lang="en-US" dirty="0"/>
          </a:p>
        </p:txBody>
      </p:sp>
      <p:sp>
        <p:nvSpPr>
          <p:cNvPr id="6" name="Slide Number Placeholder 5">
            <a:extLst>
              <a:ext uri="{FF2B5EF4-FFF2-40B4-BE49-F238E27FC236}">
                <a16:creationId xmlns:a16="http://schemas.microsoft.com/office/drawing/2014/main" id="{6AEC0B98-06B8-4EC1-9657-61C66E3F3280}"/>
              </a:ext>
            </a:extLst>
          </p:cNvPr>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590956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C45A6E-8825-46BC-99DE-D500EC37E2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1BCE6DD-1CF5-45D9-A60F-1126C62EE2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48227C5-F783-4179-A852-7DEB6E167D5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9C68655-725C-4355-803F-4C179E033006}" type="datetime3">
              <a:rPr lang="en-US" smtClean="0"/>
              <a:t>14 October 2026</a:t>
            </a:fld>
            <a:endParaRPr lang="en-US" dirty="0"/>
          </a:p>
        </p:txBody>
      </p:sp>
      <p:sp>
        <p:nvSpPr>
          <p:cNvPr id="5" name="Footer Placeholder 4">
            <a:extLst>
              <a:ext uri="{FF2B5EF4-FFF2-40B4-BE49-F238E27FC236}">
                <a16:creationId xmlns:a16="http://schemas.microsoft.com/office/drawing/2014/main" id="{E2C64982-03A8-46F2-A6BE-9F377DEF7A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Dept of AI &amp; DS</a:t>
            </a:r>
            <a:endParaRPr lang="en-US" dirty="0"/>
          </a:p>
        </p:txBody>
      </p:sp>
      <p:sp>
        <p:nvSpPr>
          <p:cNvPr id="6" name="Slide Number Placeholder 5">
            <a:extLst>
              <a:ext uri="{FF2B5EF4-FFF2-40B4-BE49-F238E27FC236}">
                <a16:creationId xmlns:a16="http://schemas.microsoft.com/office/drawing/2014/main" id="{2D2755F6-3403-4B19-B155-5ED22F4EAD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80821695"/>
      </p:ext>
    </p:extLst>
  </p:cSld>
  <p:clrMap bg1="lt1" tx1="dk1" bg2="lt2" tx2="dk2" accent1="accent1" accent2="accent2" accent3="accent3" accent4="accent4" accent5="accent5" accent6="accent6" hlink="hlink" folHlink="folHlink"/>
  <p:sldLayoutIdLst>
    <p:sldLayoutId id="2147483760" r:id="rId1"/>
    <p:sldLayoutId id="2147483761" r:id="rId2"/>
    <p:sldLayoutId id="2147483762" r:id="rId3"/>
    <p:sldLayoutId id="2147483763" r:id="rId4"/>
    <p:sldLayoutId id="2147483764" r:id="rId5"/>
    <p:sldLayoutId id="2147483765" r:id="rId6"/>
    <p:sldLayoutId id="2147483766" r:id="rId7"/>
    <p:sldLayoutId id="2147483767" r:id="rId8"/>
    <p:sldLayoutId id="2147483768" r:id="rId9"/>
    <p:sldLayoutId id="2147483769" r:id="rId10"/>
    <p:sldLayoutId id="2147483770"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4.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5.png"/><Relationship Id="rId5" Type="http://schemas.openxmlformats.org/officeDocument/2006/relationships/chart" Target="../charts/char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chart" Target="../charts/char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chart" Target="../charts/chart5.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828800" y="274320"/>
            <a:ext cx="8778240" cy="3566160"/>
          </a:xfrm>
        </p:spPr>
        <p:txBody>
          <a:bodyPr>
            <a:noAutofit/>
          </a:bodyPr>
          <a:lstStyle/>
          <a:p>
            <a:r>
              <a:rPr lang="en-US" sz="4000" b="1" dirty="0">
                <a:solidFill>
                  <a:srgbClr val="0070C0"/>
                </a:solidFill>
                <a:latin typeface="Calibri"/>
              </a:rPr>
              <a:t>BMS College of Engineering</a:t>
            </a:r>
            <a:br>
              <a:rPr lang="en-US" sz="3200" dirty="0"/>
            </a:br>
            <a:r>
              <a:rPr lang="en-US" sz="1600" dirty="0">
                <a:latin typeface="Calibri"/>
              </a:rPr>
              <a:t>(Autonomous College under VTU)</a:t>
            </a:r>
            <a:br>
              <a:rPr lang="en-US" sz="3200" dirty="0"/>
            </a:br>
            <a:r>
              <a:rPr lang="en-US" sz="2400" b="1" dirty="0">
                <a:solidFill>
                  <a:schemeClr val="accent4">
                    <a:lumMod val="50000"/>
                  </a:schemeClr>
                </a:solidFill>
                <a:latin typeface="Calibri"/>
              </a:rPr>
              <a:t>Department of Artificial Intelligence and Data Science</a:t>
            </a:r>
            <a:br>
              <a:rPr lang="en-US" sz="2400" dirty="0">
                <a:solidFill>
                  <a:schemeClr val="accent4">
                    <a:lumMod val="50000"/>
                  </a:schemeClr>
                </a:solidFill>
              </a:rPr>
            </a:br>
            <a:br>
              <a:rPr lang="en-US" sz="2400" dirty="0">
                <a:solidFill>
                  <a:schemeClr val="accent4">
                    <a:lumMod val="50000"/>
                  </a:schemeClr>
                </a:solidFill>
              </a:rPr>
            </a:br>
            <a:r>
              <a:rPr lang="en-US" sz="1600" dirty="0">
                <a:latin typeface="Calibri" panose="02020603050405020304" pitchFamily="18" charset="0"/>
                <a:cs typeface="Times New Roman" panose="02020603050405020304" pitchFamily="18" charset="0"/>
              </a:rPr>
              <a:t>Project Work Phase-2 (23AI7PWPP2) Final Presentation on</a:t>
            </a:r>
            <a:br>
              <a:rPr lang="en-US" dirty="0"/>
            </a:br>
            <a:r>
              <a:rPr lang="en-US" sz="2200" dirty="0" b="1">
                <a:solidFill>
                  <a:srgbClr val="335B74"/>
                </a:solidFill>
                <a:latin typeface="Calibri" panose="02020603050405020304" pitchFamily="18" charset="0"/>
                <a:cs typeface="Times New Roman" panose="02020603050405020304" pitchFamily="18" charset="0"/>
              </a:rPr>
              <a:t>SwarmFolio: Multi-Objective Stock Portfolio Optimization Using Particle Swarm Optimization and Genetic Algorithms</a:t>
            </a:r>
            <a:endParaRPr lang="en-IN" dirty="0">
              <a:latin typeface="Times New Roman" panose="02020603050405020304" pitchFamily="18" charset="0"/>
              <a:cs typeface="Times New Roman" panose="02020603050405020304" pitchFamily="18" charset="0"/>
            </a:endParaRP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4735" y="136525"/>
            <a:ext cx="1159932" cy="1159932"/>
          </a:xfrm>
          <a:prstGeom prst="rect">
            <a:avLst/>
          </a:prstGeom>
        </p:spPr>
      </p:pic>
      <p:sp>
        <p:nvSpPr>
          <p:cNvPr id="4" name="Date Placeholder 3">
            <a:extLst>
              <a:ext uri="{FF2B5EF4-FFF2-40B4-BE49-F238E27FC236}">
                <a16:creationId xmlns:a16="http://schemas.microsoft.com/office/drawing/2014/main" id="{0D1240E3-26F4-4429-8843-A286E3DCB8D9}"/>
              </a:ext>
            </a:extLst>
          </p:cNvPr>
          <p:cNvSpPr>
            <a:spLocks noGrp="1"/>
          </p:cNvSpPr>
          <p:nvPr>
            <p:ph type="dt" sz="half" idx="10"/>
          </p:nvPr>
        </p:nvSpPr>
        <p:spPr/>
        <p:txBody>
          <a:bodyPr/>
          <a:lstStyle/>
          <a:p>
            <a:fld id="{3824AD60-7A91-4584-9CFF-40792E6A86E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485B91F5-5ED3-4E5D-840C-40EC0896DC36}"/>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
        <p:nvSpPr>
          <p:cNvPr id="7" name="Footer Placeholder 6">
            <a:extLst>
              <a:ext uri="{FF2B5EF4-FFF2-40B4-BE49-F238E27FC236}">
                <a16:creationId xmlns:a16="http://schemas.microsoft.com/office/drawing/2014/main" id="{66A3399C-E55B-4351-BDB5-EC39B3EC36B2}"/>
              </a:ext>
            </a:extLst>
          </p:cNvPr>
          <p:cNvSpPr>
            <a:spLocks noGrp="1"/>
          </p:cNvSpPr>
          <p:nvPr>
            <p:ph type="ftr" sz="quarter" idx="11"/>
          </p:nvPr>
        </p:nvSpPr>
        <p:spPr/>
        <p:txBody>
          <a:bodyPr/>
          <a:lstStyle/>
          <a:p>
            <a:r>
              <a:rPr lang="en-US"/>
              <a:t>Dept of AI &amp; DS</a:t>
            </a:r>
            <a:endParaRPr lang="en-US" dirty="0"/>
          </a:p>
        </p:txBody>
      </p:sp>
      <p:sp>
        <p:nvSpPr>
          <p:cNvPr id="8" name="Team heading"/>
          <p:cNvSpPr txBox="1"/>
          <p:nvPr/>
        </p:nvSpPr>
        <p:spPr>
          <a:xfrm>
            <a:off x="2103120" y="4069080"/>
            <a:ext cx="4297680" cy="365760"/>
          </a:xfrm>
          <a:prstGeom prst="rect">
            <a:avLst/>
          </a:prstGeom>
          <a:noFill/>
        </p:spPr>
        <p:txBody>
          <a:bodyPr wrap="square" lIns="45720" rIns="45720" tIns="27432" bIns="27432" anchor="t">
            <a:noAutofit/>
          </a:bodyPr>
          <a:lstStyle/>
          <a:p>
            <a:pPr algn="l"/>
            <a:r>
              <a:rPr sz="1600" b="1" i="0">
                <a:solidFill>
                  <a:srgbClr val="2683C6"/>
                </a:solidFill>
                <a:latin typeface="Calibri"/>
              </a:rPr>
              <a:t>Submitted by</a:t>
            </a:r>
          </a:p>
        </p:txBody>
      </p:sp>
      <p:sp>
        <p:nvSpPr>
          <p:cNvPr id="9" name="Team name 1"/>
          <p:cNvSpPr txBox="1"/>
          <p:nvPr/>
        </p:nvSpPr>
        <p:spPr>
          <a:xfrm>
            <a:off x="2103120" y="4480560"/>
            <a:ext cx="2377440" cy="365760"/>
          </a:xfrm>
          <a:prstGeom prst="rect">
            <a:avLst/>
          </a:prstGeom>
          <a:noFill/>
        </p:spPr>
        <p:txBody>
          <a:bodyPr wrap="square" lIns="45720" rIns="45720" tIns="27432" bIns="27432" anchor="t">
            <a:noAutofit/>
          </a:bodyPr>
          <a:lstStyle/>
          <a:p>
            <a:pPr algn="l"/>
            <a:r>
              <a:rPr sz="1800" b="1" i="0">
                <a:solidFill>
                  <a:srgbClr val="335B74"/>
                </a:solidFill>
                <a:latin typeface="Calibri"/>
              </a:rPr>
              <a:t>Vivek Boora</a:t>
            </a:r>
          </a:p>
        </p:txBody>
      </p:sp>
      <p:sp>
        <p:nvSpPr>
          <p:cNvPr id="10" name="Team USN 1"/>
          <p:cNvSpPr txBox="1"/>
          <p:nvPr/>
        </p:nvSpPr>
        <p:spPr>
          <a:xfrm>
            <a:off x="4480560" y="4480560"/>
            <a:ext cx="2011680" cy="365760"/>
          </a:xfrm>
          <a:prstGeom prst="rect">
            <a:avLst/>
          </a:prstGeom>
          <a:noFill/>
        </p:spPr>
        <p:txBody>
          <a:bodyPr wrap="square" lIns="45720" rIns="45720" tIns="27432" bIns="27432" anchor="t">
            <a:noAutofit/>
          </a:bodyPr>
          <a:lstStyle/>
          <a:p>
            <a:pPr algn="l"/>
            <a:r>
              <a:rPr sz="1800" b="0" i="0">
                <a:solidFill>
                  <a:srgbClr val="335B74"/>
                </a:solidFill>
                <a:latin typeface="Calibri"/>
              </a:rPr>
              <a:t>1BM23AD073</a:t>
            </a:r>
          </a:p>
        </p:txBody>
      </p:sp>
      <p:sp>
        <p:nvSpPr>
          <p:cNvPr id="11" name="Team name 2"/>
          <p:cNvSpPr txBox="1"/>
          <p:nvPr/>
        </p:nvSpPr>
        <p:spPr>
          <a:xfrm>
            <a:off x="2103120" y="4892040"/>
            <a:ext cx="2377440" cy="365760"/>
          </a:xfrm>
          <a:prstGeom prst="rect">
            <a:avLst/>
          </a:prstGeom>
          <a:noFill/>
        </p:spPr>
        <p:txBody>
          <a:bodyPr wrap="square" lIns="45720" rIns="45720" tIns="27432" bIns="27432" anchor="t">
            <a:noAutofit/>
          </a:bodyPr>
          <a:lstStyle/>
          <a:p>
            <a:pPr algn="l"/>
            <a:r>
              <a:rPr sz="1800" b="1" i="0">
                <a:solidFill>
                  <a:srgbClr val="335B74"/>
                </a:solidFill>
                <a:latin typeface="Calibri"/>
              </a:rPr>
              <a:t>Ayush Pandey</a:t>
            </a:r>
          </a:p>
        </p:txBody>
      </p:sp>
      <p:sp>
        <p:nvSpPr>
          <p:cNvPr id="12" name="Team USN 2"/>
          <p:cNvSpPr txBox="1"/>
          <p:nvPr/>
        </p:nvSpPr>
        <p:spPr>
          <a:xfrm>
            <a:off x="4480560" y="4892040"/>
            <a:ext cx="2011680" cy="365760"/>
          </a:xfrm>
          <a:prstGeom prst="rect">
            <a:avLst/>
          </a:prstGeom>
          <a:noFill/>
        </p:spPr>
        <p:txBody>
          <a:bodyPr wrap="square" lIns="45720" rIns="45720" tIns="27432" bIns="27432" anchor="t">
            <a:noAutofit/>
          </a:bodyPr>
          <a:lstStyle/>
          <a:p>
            <a:pPr algn="l"/>
            <a:r>
              <a:rPr sz="1800" b="0" i="0">
                <a:solidFill>
                  <a:srgbClr val="335B74"/>
                </a:solidFill>
                <a:latin typeface="Calibri"/>
              </a:rPr>
              <a:t>1BM23AD074</a:t>
            </a:r>
          </a:p>
        </p:txBody>
      </p:sp>
      <p:sp>
        <p:nvSpPr>
          <p:cNvPr id="13" name="Team name 3"/>
          <p:cNvSpPr txBox="1"/>
          <p:nvPr/>
        </p:nvSpPr>
        <p:spPr>
          <a:xfrm>
            <a:off x="2103120" y="5303520"/>
            <a:ext cx="2377440" cy="365760"/>
          </a:xfrm>
          <a:prstGeom prst="rect">
            <a:avLst/>
          </a:prstGeom>
          <a:noFill/>
        </p:spPr>
        <p:txBody>
          <a:bodyPr wrap="square" lIns="45720" rIns="45720" tIns="27432" bIns="27432" anchor="t">
            <a:noAutofit/>
          </a:bodyPr>
          <a:lstStyle/>
          <a:p>
            <a:pPr algn="l"/>
            <a:r>
              <a:rPr sz="1800" b="1" i="0">
                <a:solidFill>
                  <a:srgbClr val="335B74"/>
                </a:solidFill>
                <a:latin typeface="Calibri"/>
              </a:rPr>
              <a:t>Nitin</a:t>
            </a:r>
          </a:p>
        </p:txBody>
      </p:sp>
      <p:sp>
        <p:nvSpPr>
          <p:cNvPr id="14" name="Team USN 3"/>
          <p:cNvSpPr txBox="1"/>
          <p:nvPr/>
        </p:nvSpPr>
        <p:spPr>
          <a:xfrm>
            <a:off x="4480560" y="5303520"/>
            <a:ext cx="2011680" cy="365760"/>
          </a:xfrm>
          <a:prstGeom prst="rect">
            <a:avLst/>
          </a:prstGeom>
          <a:noFill/>
        </p:spPr>
        <p:txBody>
          <a:bodyPr wrap="square" lIns="45720" rIns="45720" tIns="27432" bIns="27432" anchor="t">
            <a:noAutofit/>
          </a:bodyPr>
          <a:lstStyle/>
          <a:p>
            <a:pPr algn="l"/>
            <a:r>
              <a:rPr sz="1800" b="0" i="0">
                <a:solidFill>
                  <a:srgbClr val="335B74"/>
                </a:solidFill>
                <a:latin typeface="Calibri"/>
              </a:rPr>
              <a:t>1BM24AD404</a:t>
            </a:r>
          </a:p>
        </p:txBody>
      </p:sp>
      <p:sp>
        <p:nvSpPr>
          <p:cNvPr id="15" name="Guide heading"/>
          <p:cNvSpPr txBox="1"/>
          <p:nvPr/>
        </p:nvSpPr>
        <p:spPr>
          <a:xfrm>
            <a:off x="7223760" y="4069080"/>
            <a:ext cx="4206240" cy="365760"/>
          </a:xfrm>
          <a:prstGeom prst="rect">
            <a:avLst/>
          </a:prstGeom>
          <a:noFill/>
        </p:spPr>
        <p:txBody>
          <a:bodyPr wrap="square" lIns="45720" rIns="45720" tIns="27432" bIns="27432" anchor="t">
            <a:noAutofit/>
          </a:bodyPr>
          <a:lstStyle/>
          <a:p>
            <a:pPr algn="l"/>
            <a:r>
              <a:rPr sz="1600" b="1" i="0">
                <a:solidFill>
                  <a:srgbClr val="2683C6"/>
                </a:solidFill>
                <a:latin typeface="Calibri"/>
              </a:rPr>
              <a:t>Under the guidance of</a:t>
            </a:r>
          </a:p>
        </p:txBody>
      </p:sp>
      <p:sp>
        <p:nvSpPr>
          <p:cNvPr id="16" name="Guide"/>
          <p:cNvSpPr txBox="1"/>
          <p:nvPr/>
        </p:nvSpPr>
        <p:spPr>
          <a:xfrm>
            <a:off x="7223760" y="4480560"/>
            <a:ext cx="4206240" cy="1280160"/>
          </a:xfrm>
          <a:prstGeom prst="rect">
            <a:avLst/>
          </a:prstGeom>
          <a:noFill/>
        </p:spPr>
        <p:txBody>
          <a:bodyPr wrap="square" lIns="45720" rIns="45720" tIns="27432" bIns="27432" anchor="t">
            <a:noAutofit/>
          </a:bodyPr>
          <a:lstStyle/>
          <a:p>
            <a:pPr algn="l"/>
            <a:r>
              <a:rPr sz="2000" b="1" i="0">
                <a:solidFill>
                  <a:srgbClr val="335B74"/>
                </a:solidFill>
                <a:latin typeface="Calibri"/>
              </a:rPr>
              <a:t>Prof. Suman M</a:t>
            </a:r>
          </a:p>
          <a:p>
            <a:pPr algn="l"/>
            <a:r>
              <a:rPr sz="1800" b="0" i="0">
                <a:solidFill>
                  <a:srgbClr val="335B74"/>
                </a:solidFill>
                <a:latin typeface="Calibri"/>
              </a:rPr>
              <a:t>Assistant Professor</a:t>
            </a:r>
          </a:p>
          <a:p>
            <a:pPr algn="l"/>
            <a:r>
              <a:rPr sz="1800" b="0" i="0">
                <a:solidFill>
                  <a:srgbClr val="335B74"/>
                </a:solidFill>
                <a:latin typeface="Calibri"/>
              </a:rPr>
              <a:t>Dept of AI &amp; DS</a:t>
            </a:r>
          </a:p>
        </p:txBody>
      </p:sp>
    </p:spTree>
    <p:extLst>
      <p:ext uri="{BB962C8B-B14F-4D97-AF65-F5344CB8AC3E}">
        <p14:creationId xmlns:p14="http://schemas.microsoft.com/office/powerpoint/2010/main" val="301783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Table of Contents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6" name="Date Placeholder 5">
            <a:extLst>
              <a:ext uri="{FF2B5EF4-FFF2-40B4-BE49-F238E27FC236}">
                <a16:creationId xmlns:a16="http://schemas.microsoft.com/office/drawing/2014/main" id="{D9101FD2-598A-4BE2-AC54-854A97F64A5A}"/>
              </a:ext>
            </a:extLst>
          </p:cNvPr>
          <p:cNvSpPr>
            <a:spLocks noGrp="1"/>
          </p:cNvSpPr>
          <p:nvPr>
            <p:ph type="dt" sz="half" idx="10"/>
          </p:nvPr>
        </p:nvSpPr>
        <p:spPr/>
        <p:txBody>
          <a:bodyPr/>
          <a:lstStyle/>
          <a:p>
            <a:fld id="{1719FD98-5FDC-4CCE-BD5A-59D793565931}" type="datetime3">
              <a:rPr lang="en-US" smtClean="0"/>
              <a:t>14 October 2026</a:t>
            </a:fld>
            <a:endParaRPr lang="en-US" dirty="0"/>
          </a:p>
        </p:txBody>
      </p:sp>
      <p:sp>
        <p:nvSpPr>
          <p:cNvPr id="7" name="Slide Number Placeholder 6">
            <a:extLst>
              <a:ext uri="{FF2B5EF4-FFF2-40B4-BE49-F238E27FC236}">
                <a16:creationId xmlns:a16="http://schemas.microsoft.com/office/drawing/2014/main" id="{DB034A87-4A6E-4927-B895-60B8978B0D0B}"/>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
        <p:nvSpPr>
          <p:cNvPr id="8" name="Footer Placeholder 7">
            <a:extLst>
              <a:ext uri="{FF2B5EF4-FFF2-40B4-BE49-F238E27FC236}">
                <a16:creationId xmlns:a16="http://schemas.microsoft.com/office/drawing/2014/main" id="{690EDBAA-3DAF-4A0B-ADCD-B56430B133C1}"/>
              </a:ext>
            </a:extLst>
          </p:cNvPr>
          <p:cNvSpPr>
            <a:spLocks noGrp="1"/>
          </p:cNvSpPr>
          <p:nvPr>
            <p:ph type="ftr" sz="quarter" idx="11"/>
          </p:nvPr>
        </p:nvSpPr>
        <p:spPr/>
        <p:txBody>
          <a:bodyPr/>
          <a:lstStyle/>
          <a:p>
            <a:r>
              <a:rPr lang="en-US"/>
              <a:t>Dept of AI &amp; DS</a:t>
            </a:r>
            <a:endParaRPr lang="en-US" dirty="0"/>
          </a:p>
        </p:txBody>
      </p:sp>
      <p:sp>
        <p:nvSpPr>
          <p:cNvPr id="9" name="TOC tile 1"/>
          <p:cNvSpPr/>
          <p:nvPr/>
        </p:nvSpPr>
        <p:spPr>
          <a:xfrm>
            <a:off x="868680" y="1691640"/>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05839" y="17830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3</a:t>
            </a:r>
          </a:p>
        </p:txBody>
      </p:sp>
      <p:sp>
        <p:nvSpPr>
          <p:cNvPr id="11" name="TOC item 1"/>
          <p:cNvSpPr txBox="1"/>
          <p:nvPr/>
        </p:nvSpPr>
        <p:spPr>
          <a:xfrm>
            <a:off x="1691640" y="1783080"/>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Abstract</a:t>
            </a:r>
          </a:p>
        </p:txBody>
      </p:sp>
      <p:sp>
        <p:nvSpPr>
          <p:cNvPr id="12" name="TOC tile 2"/>
          <p:cNvSpPr/>
          <p:nvPr/>
        </p:nvSpPr>
        <p:spPr>
          <a:xfrm>
            <a:off x="868680" y="2569464"/>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05839" y="2660904"/>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4</a:t>
            </a:r>
          </a:p>
        </p:txBody>
      </p:sp>
      <p:sp>
        <p:nvSpPr>
          <p:cNvPr id="14" name="TOC item 2"/>
          <p:cNvSpPr txBox="1"/>
          <p:nvPr/>
        </p:nvSpPr>
        <p:spPr>
          <a:xfrm>
            <a:off x="1691640" y="2660904"/>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Introduction</a:t>
            </a:r>
          </a:p>
        </p:txBody>
      </p:sp>
      <p:sp>
        <p:nvSpPr>
          <p:cNvPr id="15" name="TOC tile 3"/>
          <p:cNvSpPr/>
          <p:nvPr/>
        </p:nvSpPr>
        <p:spPr>
          <a:xfrm>
            <a:off x="868680" y="3447288"/>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5839" y="3538728"/>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6</a:t>
            </a:r>
          </a:p>
        </p:txBody>
      </p:sp>
      <p:sp>
        <p:nvSpPr>
          <p:cNvPr id="17" name="TOC item 3"/>
          <p:cNvSpPr txBox="1"/>
          <p:nvPr/>
        </p:nvSpPr>
        <p:spPr>
          <a:xfrm>
            <a:off x="1691640" y="3538728"/>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Literature Survey</a:t>
            </a:r>
          </a:p>
        </p:txBody>
      </p:sp>
      <p:sp>
        <p:nvSpPr>
          <p:cNvPr id="18" name="TOC tile 4"/>
          <p:cNvSpPr/>
          <p:nvPr/>
        </p:nvSpPr>
        <p:spPr>
          <a:xfrm>
            <a:off x="868680" y="4325112"/>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05839" y="4416552"/>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7</a:t>
            </a:r>
          </a:p>
        </p:txBody>
      </p:sp>
      <p:sp>
        <p:nvSpPr>
          <p:cNvPr id="20" name="TOC item 4"/>
          <p:cNvSpPr txBox="1"/>
          <p:nvPr/>
        </p:nvSpPr>
        <p:spPr>
          <a:xfrm>
            <a:off x="1691640" y="4416552"/>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Requirement Analysis and Specification</a:t>
            </a:r>
          </a:p>
        </p:txBody>
      </p:sp>
      <p:sp>
        <p:nvSpPr>
          <p:cNvPr id="21" name="TOC tile 5"/>
          <p:cNvSpPr/>
          <p:nvPr/>
        </p:nvSpPr>
        <p:spPr>
          <a:xfrm>
            <a:off x="868680" y="5202936"/>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05839" y="5294375"/>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8</a:t>
            </a:r>
          </a:p>
        </p:txBody>
      </p:sp>
      <p:sp>
        <p:nvSpPr>
          <p:cNvPr id="23" name="TOC item 5"/>
          <p:cNvSpPr txBox="1"/>
          <p:nvPr/>
        </p:nvSpPr>
        <p:spPr>
          <a:xfrm>
            <a:off x="1691640" y="5294375"/>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Design</a:t>
            </a:r>
          </a:p>
        </p:txBody>
      </p:sp>
      <p:sp>
        <p:nvSpPr>
          <p:cNvPr id="24" name="TOC tile 6"/>
          <p:cNvSpPr/>
          <p:nvPr/>
        </p:nvSpPr>
        <p:spPr>
          <a:xfrm>
            <a:off x="6446520" y="1691640"/>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0" y="17830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10</a:t>
            </a:r>
          </a:p>
        </p:txBody>
      </p:sp>
      <p:sp>
        <p:nvSpPr>
          <p:cNvPr id="26" name="TOC item 6"/>
          <p:cNvSpPr txBox="1"/>
          <p:nvPr/>
        </p:nvSpPr>
        <p:spPr>
          <a:xfrm>
            <a:off x="7269480" y="1783080"/>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Implementation</a:t>
            </a:r>
          </a:p>
        </p:txBody>
      </p:sp>
      <p:sp>
        <p:nvSpPr>
          <p:cNvPr id="27" name="TOC tile 7"/>
          <p:cNvSpPr/>
          <p:nvPr/>
        </p:nvSpPr>
        <p:spPr>
          <a:xfrm>
            <a:off x="6446520" y="2569464"/>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83680" y="2660904"/>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12</a:t>
            </a:r>
          </a:p>
        </p:txBody>
      </p:sp>
      <p:sp>
        <p:nvSpPr>
          <p:cNvPr id="29" name="TOC item 7"/>
          <p:cNvSpPr txBox="1"/>
          <p:nvPr/>
        </p:nvSpPr>
        <p:spPr>
          <a:xfrm>
            <a:off x="7269480" y="2660904"/>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Testing and Validation</a:t>
            </a:r>
          </a:p>
        </p:txBody>
      </p:sp>
      <p:sp>
        <p:nvSpPr>
          <p:cNvPr id="30" name="TOC tile 8"/>
          <p:cNvSpPr/>
          <p:nvPr/>
        </p:nvSpPr>
        <p:spPr>
          <a:xfrm>
            <a:off x="6446520" y="3447288"/>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83680" y="3538728"/>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13</a:t>
            </a:r>
          </a:p>
        </p:txBody>
      </p:sp>
      <p:sp>
        <p:nvSpPr>
          <p:cNvPr id="32" name="TOC item 8"/>
          <p:cNvSpPr txBox="1"/>
          <p:nvPr/>
        </p:nvSpPr>
        <p:spPr>
          <a:xfrm>
            <a:off x="7269480" y="3538728"/>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Results and Discussion</a:t>
            </a:r>
          </a:p>
        </p:txBody>
      </p:sp>
      <p:sp>
        <p:nvSpPr>
          <p:cNvPr id="33" name="TOC tile 9"/>
          <p:cNvSpPr/>
          <p:nvPr/>
        </p:nvSpPr>
        <p:spPr>
          <a:xfrm>
            <a:off x="6446520" y="4325112"/>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583680" y="4416552"/>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17</a:t>
            </a:r>
          </a:p>
        </p:txBody>
      </p:sp>
      <p:sp>
        <p:nvSpPr>
          <p:cNvPr id="35" name="TOC item 9"/>
          <p:cNvSpPr txBox="1"/>
          <p:nvPr/>
        </p:nvSpPr>
        <p:spPr>
          <a:xfrm>
            <a:off x="7269480" y="4416552"/>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Conclusion</a:t>
            </a:r>
          </a:p>
        </p:txBody>
      </p:sp>
      <p:sp>
        <p:nvSpPr>
          <p:cNvPr id="36" name="TOC tile 10"/>
          <p:cNvSpPr/>
          <p:nvPr/>
        </p:nvSpPr>
        <p:spPr>
          <a:xfrm>
            <a:off x="6446520" y="5202936"/>
            <a:ext cx="5257800" cy="73152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583680" y="5294375"/>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800" b="1" i="0">
                <a:solidFill>
                  <a:srgbClr val="FFFFFF"/>
                </a:solidFill>
                <a:latin typeface="Calibri"/>
              </a:rPr>
              <a:t>18</a:t>
            </a:r>
          </a:p>
        </p:txBody>
      </p:sp>
      <p:sp>
        <p:nvSpPr>
          <p:cNvPr id="38" name="TOC item 10"/>
          <p:cNvSpPr txBox="1"/>
          <p:nvPr/>
        </p:nvSpPr>
        <p:spPr>
          <a:xfrm>
            <a:off x="7269480" y="5294375"/>
            <a:ext cx="4297680" cy="548640"/>
          </a:xfrm>
          <a:prstGeom prst="rect">
            <a:avLst/>
          </a:prstGeom>
          <a:noFill/>
        </p:spPr>
        <p:txBody>
          <a:bodyPr wrap="square" lIns="45720" rIns="45720" tIns="27432" bIns="27432" anchor="ctr">
            <a:noAutofit/>
          </a:bodyPr>
          <a:lstStyle/>
          <a:p>
            <a:pPr algn="l"/>
            <a:r>
              <a:rPr sz="2000" b="0" i="0">
                <a:solidFill>
                  <a:srgbClr val="335B74"/>
                </a:solidFill>
                <a:latin typeface="Calibri"/>
              </a:rPr>
              <a:t>POs mapping matrix</a:t>
            </a:r>
          </a:p>
        </p:txBody>
      </p:sp>
      <p:sp>
        <p:nvSpPr>
          <p:cNvPr id="39" name="TextBox 38"/>
          <p:cNvSpPr txBox="1"/>
          <p:nvPr/>
        </p:nvSpPr>
        <p:spPr>
          <a:xfrm>
            <a:off x="868680" y="6080760"/>
            <a:ext cx="7315200" cy="274320"/>
          </a:xfrm>
          <a:prstGeom prst="rect">
            <a:avLst/>
          </a:prstGeom>
          <a:noFill/>
        </p:spPr>
        <p:txBody>
          <a:bodyPr wrap="square" lIns="45720" rIns="45720" tIns="27432" bIns="27432" anchor="t">
            <a:noAutofit/>
          </a:bodyPr>
          <a:lstStyle/>
          <a:p>
            <a:pPr algn="l"/>
            <a:r>
              <a:rPr sz="1200" b="0" i="0">
                <a:solidFill>
                  <a:srgbClr val="8A97A8"/>
                </a:solidFill>
                <a:latin typeface="Calibri"/>
              </a:rPr>
              <a:t>Circle shows the slide number</a:t>
            </a:r>
          </a:p>
        </p:txBody>
      </p:sp>
    </p:spTree>
    <p:extLst>
      <p:ext uri="{BB962C8B-B14F-4D97-AF65-F5344CB8AC3E}">
        <p14:creationId xmlns:p14="http://schemas.microsoft.com/office/powerpoint/2010/main" val="23669957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Abstract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3</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Card Three goals"/>
          <p:cNvSpPr/>
          <p:nvPr/>
        </p:nvSpPr>
        <p:spPr>
          <a:xfrm>
            <a:off x="594360" y="1417320"/>
            <a:ext cx="3520440" cy="3977639"/>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22960" y="1600200"/>
            <a:ext cx="3063240" cy="548640"/>
          </a:xfrm>
          <a:prstGeom prst="roundRect">
            <a:avLst>
              <a:gd name="adj" fmla="val 3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Three goals</a:t>
            </a:r>
          </a:p>
        </p:txBody>
      </p:sp>
      <p:sp>
        <p:nvSpPr>
          <p:cNvPr id="10" name="Card Two optimisers"/>
          <p:cNvSpPr/>
          <p:nvPr/>
        </p:nvSpPr>
        <p:spPr>
          <a:xfrm>
            <a:off x="4389120" y="1417320"/>
            <a:ext cx="3520440" cy="3977639"/>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617720" y="1600200"/>
            <a:ext cx="3063240" cy="548640"/>
          </a:xfrm>
          <a:prstGeom prst="roundRect">
            <a:avLst>
              <a:gd name="adj" fmla="val 30000"/>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Two optimisers</a:t>
            </a:r>
          </a:p>
        </p:txBody>
      </p:sp>
      <p:sp>
        <p:nvSpPr>
          <p:cNvPr id="12" name="Card What we found"/>
          <p:cNvSpPr/>
          <p:nvPr/>
        </p:nvSpPr>
        <p:spPr>
          <a:xfrm>
            <a:off x="8183879" y="1417320"/>
            <a:ext cx="3520440" cy="3977639"/>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412480" y="1600200"/>
            <a:ext cx="3063240" cy="548640"/>
          </a:xfrm>
          <a:prstGeom prst="roundRect">
            <a:avLst>
              <a:gd name="adj" fmla="val 30000"/>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What we found</a:t>
            </a:r>
          </a:p>
        </p:txBody>
      </p:sp>
      <p:sp>
        <p:nvSpPr>
          <p:cNvPr id="14" name="Rounded Rectangle 13"/>
          <p:cNvSpPr/>
          <p:nvPr/>
        </p:nvSpPr>
        <p:spPr>
          <a:xfrm>
            <a:off x="868680" y="2423160"/>
            <a:ext cx="2971800" cy="594360"/>
          </a:xfrm>
          <a:prstGeom prst="roundRect">
            <a:avLst>
              <a:gd name="adj" fmla="val 3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Maximise return</a:t>
            </a:r>
          </a:p>
        </p:txBody>
      </p:sp>
      <p:sp>
        <p:nvSpPr>
          <p:cNvPr id="15" name="Rounded Rectangle 14"/>
          <p:cNvSpPr/>
          <p:nvPr/>
        </p:nvSpPr>
        <p:spPr>
          <a:xfrm>
            <a:off x="868680" y="3200400"/>
            <a:ext cx="2971800" cy="594360"/>
          </a:xfrm>
          <a:prstGeom prst="roundRect">
            <a:avLst>
              <a:gd name="adj" fmla="val 30000"/>
            </a:avLst>
          </a:prstGeom>
          <a:solidFill>
            <a:srgbClr val="FFFFFF"/>
          </a:solidFill>
          <a:ln w="12700">
            <a:solidFill>
              <a:srgbClr val="335B7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Minimise volatility</a:t>
            </a:r>
          </a:p>
        </p:txBody>
      </p:sp>
      <p:sp>
        <p:nvSpPr>
          <p:cNvPr id="16" name="Rounded Rectangle 15"/>
          <p:cNvSpPr/>
          <p:nvPr/>
        </p:nvSpPr>
        <p:spPr>
          <a:xfrm>
            <a:off x="868680" y="3977639"/>
            <a:ext cx="2971800" cy="594360"/>
          </a:xfrm>
          <a:prstGeom prst="roundRect">
            <a:avLst>
              <a:gd name="adj" fmla="val 30000"/>
            </a:avLst>
          </a:prstGeom>
          <a:solidFill>
            <a:srgbClr val="FFFFFF"/>
          </a:solidFill>
          <a:ln w="12700">
            <a:solidFill>
              <a:srgbClr val="8A97A8"/>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Minimise CVaR (tail loss)</a:t>
            </a:r>
          </a:p>
        </p:txBody>
      </p:sp>
      <p:sp>
        <p:nvSpPr>
          <p:cNvPr id="17" name="TextBox 16"/>
          <p:cNvSpPr txBox="1"/>
          <p:nvPr/>
        </p:nvSpPr>
        <p:spPr>
          <a:xfrm>
            <a:off x="868680" y="4754880"/>
            <a:ext cx="3017520" cy="457200"/>
          </a:xfrm>
          <a:prstGeom prst="rect">
            <a:avLst/>
          </a:prstGeom>
          <a:noFill/>
        </p:spPr>
        <p:txBody>
          <a:bodyPr wrap="square" lIns="45720" rIns="45720" tIns="27432" bIns="27432" anchor="t">
            <a:noAutofit/>
          </a:bodyPr>
          <a:lstStyle/>
          <a:p>
            <a:pPr algn="ctr"/>
            <a:r>
              <a:rPr sz="1400" b="0" i="0">
                <a:solidFill>
                  <a:srgbClr val="8A97A8"/>
                </a:solidFill>
                <a:latin typeface="Calibri"/>
              </a:rPr>
              <a:t>under cap, floor and holding limits</a:t>
            </a:r>
          </a:p>
        </p:txBody>
      </p:sp>
      <p:sp>
        <p:nvSpPr>
          <p:cNvPr id="18" name="Rounded Rectangle 17"/>
          <p:cNvSpPr/>
          <p:nvPr/>
        </p:nvSpPr>
        <p:spPr>
          <a:xfrm>
            <a:off x="4663440" y="2423160"/>
            <a:ext cx="2971800" cy="731520"/>
          </a:xfrm>
          <a:prstGeom prst="roundRect">
            <a:avLst>
              <a:gd name="adj" fmla="val 2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Particle swarm</a:t>
            </a:r>
          </a:p>
          <a:p>
            <a:pPr algn="ctr"/>
            <a:r>
              <a:rPr sz="1400" b="0" i="0">
                <a:solidFill>
                  <a:srgbClr val="8A97A8"/>
                </a:solidFill>
                <a:latin typeface="Calibri"/>
              </a:rPr>
              <a:t>MOPSO</a:t>
            </a:r>
          </a:p>
        </p:txBody>
      </p:sp>
      <p:sp>
        <p:nvSpPr>
          <p:cNvPr id="19" name="Rounded Rectangle 18"/>
          <p:cNvSpPr/>
          <p:nvPr/>
        </p:nvSpPr>
        <p:spPr>
          <a:xfrm>
            <a:off x="4663440" y="3291840"/>
            <a:ext cx="2971800" cy="731520"/>
          </a:xfrm>
          <a:prstGeom prst="roundRect">
            <a:avLst>
              <a:gd name="adj" fmla="val 2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800" b="0" i="0">
                <a:solidFill>
                  <a:srgbClr val="335B74"/>
                </a:solidFill>
                <a:latin typeface="Calibri"/>
              </a:rPr>
              <a:t>Genetic algorithm</a:t>
            </a:r>
          </a:p>
          <a:p>
            <a:pPr algn="ctr"/>
            <a:r>
              <a:rPr sz="1400" b="0" i="0">
                <a:solidFill>
                  <a:srgbClr val="8A97A8"/>
                </a:solidFill>
                <a:latin typeface="Calibri"/>
              </a:rPr>
              <a:t>NSGA-II</a:t>
            </a:r>
          </a:p>
        </p:txBody>
      </p:sp>
      <p:sp>
        <p:nvSpPr>
          <p:cNvPr id="20" name="Rounded Rectangle 19"/>
          <p:cNvSpPr/>
          <p:nvPr/>
        </p:nvSpPr>
        <p:spPr>
          <a:xfrm>
            <a:off x="4663440" y="4206240"/>
            <a:ext cx="2971800" cy="731520"/>
          </a:xfrm>
          <a:prstGeom prst="roundRect">
            <a:avLst>
              <a:gd name="adj" fmla="val 20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1" i="0">
                <a:solidFill>
                  <a:srgbClr val="335B74"/>
                </a:solidFill>
                <a:latin typeface="Calibri"/>
              </a:rPr>
              <a:t>One shared repair operator</a:t>
            </a:r>
          </a:p>
        </p:txBody>
      </p:sp>
      <p:sp>
        <p:nvSpPr>
          <p:cNvPr id="21" name="TextBox 20"/>
          <p:cNvSpPr txBox="1"/>
          <p:nvPr/>
        </p:nvSpPr>
        <p:spPr>
          <a:xfrm>
            <a:off x="8458200" y="2331720"/>
            <a:ext cx="3017520" cy="822960"/>
          </a:xfrm>
          <a:prstGeom prst="rect">
            <a:avLst/>
          </a:prstGeom>
          <a:noFill/>
        </p:spPr>
        <p:txBody>
          <a:bodyPr wrap="square" lIns="45720" rIns="45720" tIns="27432" bIns="27432" anchor="t">
            <a:noAutofit/>
          </a:bodyPr>
          <a:lstStyle/>
          <a:p>
            <a:pPr algn="ctr"/>
            <a:r>
              <a:rPr sz="4000" b="1" i="0">
                <a:solidFill>
                  <a:srgbClr val="42BA97"/>
                </a:solidFill>
                <a:latin typeface="Calibri"/>
              </a:rPr>
              <a:t>0.70 vs 0.25</a:t>
            </a:r>
          </a:p>
        </p:txBody>
      </p:sp>
      <p:sp>
        <p:nvSpPr>
          <p:cNvPr id="22" name="TextBox 21"/>
          <p:cNvSpPr txBox="1"/>
          <p:nvPr/>
        </p:nvSpPr>
        <p:spPr>
          <a:xfrm>
            <a:off x="8458200" y="3108960"/>
            <a:ext cx="3017520" cy="548640"/>
          </a:xfrm>
          <a:prstGeom prst="rect">
            <a:avLst/>
          </a:prstGeom>
          <a:noFill/>
        </p:spPr>
        <p:txBody>
          <a:bodyPr wrap="square" lIns="45720" rIns="45720" tIns="27432" bIns="27432" anchor="t">
            <a:noAutofit/>
          </a:bodyPr>
          <a:lstStyle/>
          <a:p>
            <a:pPr algn="ctr"/>
            <a:r>
              <a:rPr sz="1400" b="0" i="0">
                <a:solidFill>
                  <a:srgbClr val="335B74"/>
                </a:solidFill>
                <a:latin typeface="Calibri"/>
              </a:rPr>
              <a:t>front quality, optimisers vs random search</a:t>
            </a:r>
          </a:p>
        </p:txBody>
      </p:sp>
      <p:sp>
        <p:nvSpPr>
          <p:cNvPr id="23" name="TextBox 22"/>
          <p:cNvSpPr txBox="1"/>
          <p:nvPr/>
        </p:nvSpPr>
        <p:spPr>
          <a:xfrm>
            <a:off x="8458200" y="3794760"/>
            <a:ext cx="3017520" cy="822960"/>
          </a:xfrm>
          <a:prstGeom prst="rect">
            <a:avLst/>
          </a:prstGeom>
          <a:noFill/>
        </p:spPr>
        <p:txBody>
          <a:bodyPr wrap="square" lIns="45720" rIns="45720" tIns="27432" bIns="27432" anchor="t">
            <a:noAutofit/>
          </a:bodyPr>
          <a:lstStyle/>
          <a:p>
            <a:pPr algn="ctr"/>
            <a:r>
              <a:rPr sz="4000" b="1" i="0">
                <a:solidFill>
                  <a:srgbClr val="D9731A"/>
                </a:solidFill>
                <a:latin typeface="Calibri"/>
              </a:rPr>
              <a:t>1.34 to 0.53</a:t>
            </a:r>
          </a:p>
        </p:txBody>
      </p:sp>
      <p:sp>
        <p:nvSpPr>
          <p:cNvPr id="24" name="TextBox 23"/>
          <p:cNvSpPr txBox="1"/>
          <p:nvPr/>
        </p:nvSpPr>
        <p:spPr>
          <a:xfrm>
            <a:off x="8458200" y="4572000"/>
            <a:ext cx="3017520" cy="548640"/>
          </a:xfrm>
          <a:prstGeom prst="rect">
            <a:avLst/>
          </a:prstGeom>
          <a:noFill/>
        </p:spPr>
        <p:txBody>
          <a:bodyPr wrap="square" lIns="45720" rIns="45720" tIns="27432" bIns="27432" anchor="t">
            <a:noAutofit/>
          </a:bodyPr>
          <a:lstStyle/>
          <a:p>
            <a:pPr algn="ctr"/>
            <a:r>
              <a:rPr sz="1400" b="0" i="0">
                <a:solidFill>
                  <a:srgbClr val="335B74"/>
                </a:solidFill>
                <a:latin typeface="Calibri"/>
              </a:rPr>
              <a:t>Sharpe ratio, training to held-out data</a:t>
            </a:r>
          </a:p>
        </p:txBody>
      </p:sp>
      <p:sp>
        <p:nvSpPr>
          <p:cNvPr id="25" name="TextBox 24"/>
          <p:cNvSpPr txBox="1"/>
          <p:nvPr/>
        </p:nvSpPr>
        <p:spPr>
          <a:xfrm>
            <a:off x="594360" y="5623560"/>
            <a:ext cx="11155680" cy="502920"/>
          </a:xfrm>
          <a:prstGeom prst="rect">
            <a:avLst/>
          </a:prstGeom>
          <a:noFill/>
        </p:spPr>
        <p:txBody>
          <a:bodyPr wrap="square" lIns="45720" rIns="45720" tIns="27432" bIns="27432" anchor="t">
            <a:noAutofit/>
          </a:bodyPr>
          <a:lstStyle/>
          <a:p>
            <a:pPr algn="ctr"/>
            <a:r>
              <a:rPr sz="2400" b="1" i="1">
                <a:solidFill>
                  <a:srgbClr val="335B74"/>
                </a:solidFill>
                <a:latin typeface="Calibri"/>
              </a:rPr>
              <a:t>A good front is not a promise of future return.</a:t>
            </a:r>
          </a:p>
        </p:txBody>
      </p:sp>
    </p:spTree>
    <p:extLst>
      <p:ext uri="{BB962C8B-B14F-4D97-AF65-F5344CB8AC3E}">
        <p14:creationId xmlns:p14="http://schemas.microsoft.com/office/powerpoint/2010/main" val="32318824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Introduction: the problem</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Efficient frontier figure" descr="crop_front_a.png"/>
          <p:cNvPicPr>
            <a:picLocks noChangeAspect="1"/>
          </p:cNvPicPr>
          <p:nvPr/>
        </p:nvPicPr>
        <p:blipFill>
          <a:blip r:embed="rId4"/>
          <a:stretch>
            <a:fillRect/>
          </a:stretch>
        </p:blipFill>
        <p:spPr>
          <a:xfrm>
            <a:off x="685800" y="1371600"/>
            <a:ext cx="4937760" cy="4106652"/>
          </a:xfrm>
          <a:prstGeom prst="rect">
            <a:avLst/>
          </a:prstGeom>
        </p:spPr>
      </p:pic>
      <p:sp>
        <p:nvSpPr>
          <p:cNvPr id="9" name="TextBox 8"/>
          <p:cNvSpPr txBox="1"/>
          <p:nvPr/>
        </p:nvSpPr>
        <p:spPr>
          <a:xfrm>
            <a:off x="548640" y="5669280"/>
            <a:ext cx="5486400" cy="365760"/>
          </a:xfrm>
          <a:prstGeom prst="rect">
            <a:avLst/>
          </a:prstGeom>
          <a:noFill/>
        </p:spPr>
        <p:txBody>
          <a:bodyPr wrap="square" lIns="45720" rIns="45720" tIns="27432" bIns="27432" anchor="t">
            <a:noAutofit/>
          </a:bodyPr>
          <a:lstStyle/>
          <a:p>
            <a:pPr algn="ctr"/>
            <a:r>
              <a:rPr sz="1300" b="0" i="0">
                <a:solidFill>
                  <a:srgbClr val="8A97A8"/>
                </a:solidFill>
                <a:latin typeface="Calibri"/>
              </a:rPr>
              <a:t>Each dot is a feasible portfolio; the front is the best trade-off</a:t>
            </a:r>
          </a:p>
        </p:txBody>
      </p:sp>
      <p:sp>
        <p:nvSpPr>
          <p:cNvPr id="10" name="Goal 1"/>
          <p:cNvSpPr/>
          <p:nvPr/>
        </p:nvSpPr>
        <p:spPr>
          <a:xfrm>
            <a:off x="6492240" y="1463040"/>
            <a:ext cx="5212080" cy="86868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675120" y="1645920"/>
            <a:ext cx="502920" cy="50292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2" name="TextBox 11"/>
          <p:cNvSpPr txBox="1"/>
          <p:nvPr/>
        </p:nvSpPr>
        <p:spPr>
          <a:xfrm>
            <a:off x="7360920" y="1536192"/>
            <a:ext cx="4251960" cy="731520"/>
          </a:xfrm>
          <a:prstGeom prst="rect">
            <a:avLst/>
          </a:prstGeom>
          <a:noFill/>
        </p:spPr>
        <p:txBody>
          <a:bodyPr wrap="square" lIns="45720" rIns="45720" tIns="27432" bIns="27432" anchor="ctr">
            <a:noAutofit/>
          </a:bodyPr>
          <a:lstStyle/>
          <a:p>
            <a:pPr algn="l"/>
            <a:r>
              <a:rPr sz="1800" b="1" i="0">
                <a:solidFill>
                  <a:srgbClr val="335B74"/>
                </a:solidFill>
                <a:latin typeface="Calibri"/>
              </a:rPr>
              <a:t>Maximise annual return</a:t>
            </a:r>
          </a:p>
        </p:txBody>
      </p:sp>
      <p:sp>
        <p:nvSpPr>
          <p:cNvPr id="13" name="Goal 2"/>
          <p:cNvSpPr/>
          <p:nvPr/>
        </p:nvSpPr>
        <p:spPr>
          <a:xfrm>
            <a:off x="6492240" y="2514600"/>
            <a:ext cx="5212080" cy="86868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675120" y="2697480"/>
            <a:ext cx="502920" cy="502920"/>
          </a:xfrm>
          <a:prstGeom prst="ellipse">
            <a:avLst/>
          </a:prstGeom>
          <a:solidFill>
            <a:srgbClr val="335B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5" name="TextBox 14"/>
          <p:cNvSpPr txBox="1"/>
          <p:nvPr/>
        </p:nvSpPr>
        <p:spPr>
          <a:xfrm>
            <a:off x="7360920" y="2587752"/>
            <a:ext cx="4251960" cy="731520"/>
          </a:xfrm>
          <a:prstGeom prst="rect">
            <a:avLst/>
          </a:prstGeom>
          <a:noFill/>
        </p:spPr>
        <p:txBody>
          <a:bodyPr wrap="square" lIns="45720" rIns="45720" tIns="27432" bIns="27432" anchor="ctr">
            <a:noAutofit/>
          </a:bodyPr>
          <a:lstStyle/>
          <a:p>
            <a:pPr algn="l"/>
            <a:r>
              <a:rPr sz="1800" b="1" i="0">
                <a:solidFill>
                  <a:srgbClr val="335B74"/>
                </a:solidFill>
                <a:latin typeface="Calibri"/>
              </a:rPr>
              <a:t>Minimise volatility</a:t>
            </a:r>
          </a:p>
        </p:txBody>
      </p:sp>
      <p:sp>
        <p:nvSpPr>
          <p:cNvPr id="16" name="Goal 3"/>
          <p:cNvSpPr/>
          <p:nvPr/>
        </p:nvSpPr>
        <p:spPr>
          <a:xfrm>
            <a:off x="6492240" y="3566160"/>
            <a:ext cx="5212080" cy="86868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0" y="3749039"/>
            <a:ext cx="502920" cy="502920"/>
          </a:xfrm>
          <a:prstGeom prst="ellipse">
            <a:avLst/>
          </a:prstGeom>
          <a:solidFill>
            <a:srgbClr val="8A97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8" name="TextBox 17"/>
          <p:cNvSpPr txBox="1"/>
          <p:nvPr/>
        </p:nvSpPr>
        <p:spPr>
          <a:xfrm>
            <a:off x="7360920" y="3639312"/>
            <a:ext cx="4251960" cy="731520"/>
          </a:xfrm>
          <a:prstGeom prst="rect">
            <a:avLst/>
          </a:prstGeom>
          <a:noFill/>
        </p:spPr>
        <p:txBody>
          <a:bodyPr wrap="square" lIns="45720" rIns="45720" tIns="27432" bIns="27432" anchor="ctr">
            <a:noAutofit/>
          </a:bodyPr>
          <a:lstStyle/>
          <a:p>
            <a:pPr algn="l"/>
            <a:r>
              <a:rPr sz="1800" b="0" i="0">
                <a:solidFill>
                  <a:srgbClr val="335B74"/>
                </a:solidFill>
                <a:latin typeface="Calibri"/>
              </a:rPr>
              <a:t>Minimise CVaR: average loss on the worst 5% of days</a:t>
            </a:r>
          </a:p>
        </p:txBody>
      </p:sp>
      <p:sp>
        <p:nvSpPr>
          <p:cNvPr id="19" name="TextBox 18"/>
          <p:cNvSpPr txBox="1"/>
          <p:nvPr/>
        </p:nvSpPr>
        <p:spPr>
          <a:xfrm>
            <a:off x="6492240" y="4663440"/>
            <a:ext cx="5212080" cy="365760"/>
          </a:xfrm>
          <a:prstGeom prst="rect">
            <a:avLst/>
          </a:prstGeom>
          <a:noFill/>
        </p:spPr>
        <p:txBody>
          <a:bodyPr wrap="square" lIns="45720" rIns="45720" tIns="27432" bIns="27432" anchor="t">
            <a:noAutofit/>
          </a:bodyPr>
          <a:lstStyle/>
          <a:p>
            <a:pPr algn="l"/>
            <a:r>
              <a:rPr sz="1600" b="1" i="0">
                <a:solidFill>
                  <a:srgbClr val="2683C6"/>
                </a:solidFill>
                <a:latin typeface="Calibri"/>
              </a:rPr>
              <a:t>Constraints applied to every portfolio</a:t>
            </a:r>
          </a:p>
        </p:txBody>
      </p:sp>
      <p:sp>
        <p:nvSpPr>
          <p:cNvPr id="20" name="Rounded Rectangle 19"/>
          <p:cNvSpPr/>
          <p:nvPr/>
        </p:nvSpPr>
        <p:spPr>
          <a:xfrm>
            <a:off x="6492240" y="5120640"/>
            <a:ext cx="132588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Long-only</a:t>
            </a:r>
          </a:p>
        </p:txBody>
      </p:sp>
      <p:sp>
        <p:nvSpPr>
          <p:cNvPr id="21" name="Rounded Rectangle 20"/>
          <p:cNvSpPr/>
          <p:nvPr/>
        </p:nvSpPr>
        <p:spPr>
          <a:xfrm>
            <a:off x="7927848" y="5120640"/>
            <a:ext cx="160020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Fully invested</a:t>
            </a:r>
          </a:p>
        </p:txBody>
      </p:sp>
      <p:sp>
        <p:nvSpPr>
          <p:cNvPr id="22" name="Rounded Rectangle 21"/>
          <p:cNvSpPr/>
          <p:nvPr/>
        </p:nvSpPr>
        <p:spPr>
          <a:xfrm>
            <a:off x="9646920" y="5120640"/>
            <a:ext cx="1874519"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Cap 30% per stock</a:t>
            </a:r>
          </a:p>
        </p:txBody>
      </p:sp>
      <p:sp>
        <p:nvSpPr>
          <p:cNvPr id="23" name="Rounded Rectangle 22"/>
          <p:cNvSpPr/>
          <p:nvPr/>
        </p:nvSpPr>
        <p:spPr>
          <a:xfrm>
            <a:off x="6492240" y="5623560"/>
            <a:ext cx="169164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Min holding 1%</a:t>
            </a:r>
          </a:p>
        </p:txBody>
      </p:sp>
      <p:sp>
        <p:nvSpPr>
          <p:cNvPr id="24" name="Rounded Rectangle 23"/>
          <p:cNvSpPr/>
          <p:nvPr/>
        </p:nvSpPr>
        <p:spPr>
          <a:xfrm>
            <a:off x="8293608" y="5623560"/>
            <a:ext cx="1920240" cy="41148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At most K holdings</a:t>
            </a:r>
          </a:p>
        </p:txBody>
      </p:sp>
    </p:spTree>
    <p:extLst>
      <p:ext uri="{BB962C8B-B14F-4D97-AF65-F5344CB8AC3E}">
        <p14:creationId xmlns:p14="http://schemas.microsoft.com/office/powerpoint/2010/main" val="2492349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Introduction: what we built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4</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Built tile 1"/>
          <p:cNvSpPr/>
          <p:nvPr/>
        </p:nvSpPr>
        <p:spPr>
          <a:xfrm>
            <a:off x="59436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508760" y="1737360"/>
            <a:ext cx="822960" cy="82296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P</a:t>
            </a:r>
          </a:p>
        </p:txBody>
      </p:sp>
      <p:sp>
        <p:nvSpPr>
          <p:cNvPr id="10" name="TextBox 9"/>
          <p:cNvSpPr txBox="1"/>
          <p:nvPr/>
        </p:nvSpPr>
        <p:spPr>
          <a:xfrm>
            <a:off x="73152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Python library</a:t>
            </a:r>
          </a:p>
        </p:txBody>
      </p:sp>
      <p:sp>
        <p:nvSpPr>
          <p:cNvPr id="11" name="TextBox 10"/>
          <p:cNvSpPr txBox="1"/>
          <p:nvPr/>
        </p:nvSpPr>
        <p:spPr>
          <a:xfrm>
            <a:off x="77724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Portfolio model, repair operator, automated tests</a:t>
            </a:r>
          </a:p>
        </p:txBody>
      </p:sp>
      <p:sp>
        <p:nvSpPr>
          <p:cNvPr id="12" name="Built tile 2"/>
          <p:cNvSpPr/>
          <p:nvPr/>
        </p:nvSpPr>
        <p:spPr>
          <a:xfrm>
            <a:off x="342900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343400" y="1737360"/>
            <a:ext cx="822960" cy="82296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T</a:t>
            </a:r>
          </a:p>
        </p:txBody>
      </p:sp>
      <p:sp>
        <p:nvSpPr>
          <p:cNvPr id="14" name="TextBox 13"/>
          <p:cNvSpPr txBox="1"/>
          <p:nvPr/>
        </p:nvSpPr>
        <p:spPr>
          <a:xfrm>
            <a:off x="356616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Two optimisers</a:t>
            </a:r>
          </a:p>
        </p:txBody>
      </p:sp>
      <p:sp>
        <p:nvSpPr>
          <p:cNvPr id="15" name="TextBox 14"/>
          <p:cNvSpPr txBox="1"/>
          <p:nvPr/>
        </p:nvSpPr>
        <p:spPr>
          <a:xfrm>
            <a:off x="361188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MOPSO and NSGA-II on one feasible space</a:t>
            </a:r>
          </a:p>
        </p:txBody>
      </p:sp>
      <p:sp>
        <p:nvSpPr>
          <p:cNvPr id="16" name="Built tile 3"/>
          <p:cNvSpPr/>
          <p:nvPr/>
        </p:nvSpPr>
        <p:spPr>
          <a:xfrm>
            <a:off x="626364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178040" y="1737360"/>
            <a:ext cx="822960" cy="822960"/>
          </a:xfrm>
          <a:prstGeom prst="ellipse">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F</a:t>
            </a:r>
          </a:p>
        </p:txBody>
      </p:sp>
      <p:sp>
        <p:nvSpPr>
          <p:cNvPr id="18" name="TextBox 17"/>
          <p:cNvSpPr txBox="1"/>
          <p:nvPr/>
        </p:nvSpPr>
        <p:spPr>
          <a:xfrm>
            <a:off x="640080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Fair evaluation</a:t>
            </a:r>
          </a:p>
        </p:txBody>
      </p:sp>
      <p:sp>
        <p:nvSpPr>
          <p:cNvPr id="19" name="TextBox 18"/>
          <p:cNvSpPr txBox="1"/>
          <p:nvPr/>
        </p:nvSpPr>
        <p:spPr>
          <a:xfrm>
            <a:off x="644652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Hypervolume, random search, 30 held-out markets</a:t>
            </a:r>
          </a:p>
        </p:txBody>
      </p:sp>
      <p:sp>
        <p:nvSpPr>
          <p:cNvPr id="20" name="Built tile 4"/>
          <p:cNvSpPr/>
          <p:nvPr/>
        </p:nvSpPr>
        <p:spPr>
          <a:xfrm>
            <a:off x="9098280" y="1508760"/>
            <a:ext cx="2651760" cy="30175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012680" y="1737360"/>
            <a:ext cx="822960" cy="822960"/>
          </a:xfrm>
          <a:prstGeom prst="ellipse">
            <a:avLst/>
          </a:prstGeom>
          <a:solidFill>
            <a:srgbClr val="335B7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000" b="1" i="0">
                <a:solidFill>
                  <a:srgbClr val="FFFFFF"/>
                </a:solidFill>
                <a:latin typeface="Calibri"/>
              </a:rPr>
              <a:t>W</a:t>
            </a:r>
          </a:p>
        </p:txBody>
      </p:sp>
      <p:sp>
        <p:nvSpPr>
          <p:cNvPr id="22" name="TextBox 21"/>
          <p:cNvSpPr txBox="1"/>
          <p:nvPr/>
        </p:nvSpPr>
        <p:spPr>
          <a:xfrm>
            <a:off x="9235440" y="2743200"/>
            <a:ext cx="2377440" cy="457200"/>
          </a:xfrm>
          <a:prstGeom prst="rect">
            <a:avLst/>
          </a:prstGeom>
          <a:noFill/>
        </p:spPr>
        <p:txBody>
          <a:bodyPr wrap="square" lIns="45720" rIns="45720" tIns="27432" bIns="27432" anchor="t">
            <a:noAutofit/>
          </a:bodyPr>
          <a:lstStyle/>
          <a:p>
            <a:pPr algn="ctr"/>
            <a:r>
              <a:rPr sz="2000" b="1" i="0">
                <a:solidFill>
                  <a:srgbClr val="335B74"/>
                </a:solidFill>
                <a:latin typeface="Calibri"/>
              </a:rPr>
              <a:t>Web workbench</a:t>
            </a:r>
          </a:p>
        </p:txBody>
      </p:sp>
      <p:sp>
        <p:nvSpPr>
          <p:cNvPr id="23" name="TextBox 22"/>
          <p:cNvSpPr txBox="1"/>
          <p:nvPr/>
        </p:nvSpPr>
        <p:spPr>
          <a:xfrm>
            <a:off x="9281160" y="3246120"/>
            <a:ext cx="2286000" cy="1188720"/>
          </a:xfrm>
          <a:prstGeom prst="rect">
            <a:avLst/>
          </a:prstGeom>
          <a:noFill/>
        </p:spPr>
        <p:txBody>
          <a:bodyPr wrap="square" lIns="45720" rIns="45720" tIns="27432" bIns="27432" anchor="t">
            <a:noAutofit/>
          </a:bodyPr>
          <a:lstStyle/>
          <a:p>
            <a:pPr algn="ctr"/>
            <a:r>
              <a:rPr sz="1600" b="0" i="0">
                <a:solidFill>
                  <a:srgbClr val="335B74"/>
                </a:solidFill>
                <a:latin typeface="Calibri"/>
              </a:rPr>
              <a:t>Watch the search and inspect any portfolio</a:t>
            </a:r>
          </a:p>
        </p:txBody>
      </p:sp>
      <p:sp>
        <p:nvSpPr>
          <p:cNvPr id="24" name="TextBox 23"/>
          <p:cNvSpPr txBox="1"/>
          <p:nvPr/>
        </p:nvSpPr>
        <p:spPr>
          <a:xfrm>
            <a:off x="594360" y="4846320"/>
            <a:ext cx="3657600" cy="365760"/>
          </a:xfrm>
          <a:prstGeom prst="rect">
            <a:avLst/>
          </a:prstGeom>
          <a:noFill/>
        </p:spPr>
        <p:txBody>
          <a:bodyPr wrap="square" lIns="45720" rIns="45720" tIns="27432" bIns="27432" anchor="t">
            <a:noAutofit/>
          </a:bodyPr>
          <a:lstStyle/>
          <a:p>
            <a:pPr algn="l"/>
            <a:r>
              <a:rPr sz="1600" b="1" i="0">
                <a:solidFill>
                  <a:srgbClr val="2683C6"/>
                </a:solidFill>
                <a:latin typeface="Calibri"/>
              </a:rPr>
              <a:t>Sustainable Development Goals</a:t>
            </a:r>
          </a:p>
        </p:txBody>
      </p:sp>
      <p:sp>
        <p:nvSpPr>
          <p:cNvPr id="25" name="Rounded Rectangle 24"/>
          <p:cNvSpPr/>
          <p:nvPr/>
        </p:nvSpPr>
        <p:spPr>
          <a:xfrm>
            <a:off x="594360" y="5303520"/>
            <a:ext cx="2743200" cy="45720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SDG 4  Quality Education</a:t>
            </a:r>
          </a:p>
        </p:txBody>
      </p:sp>
      <p:sp>
        <p:nvSpPr>
          <p:cNvPr id="26" name="Rounded Rectangle 25"/>
          <p:cNvSpPr/>
          <p:nvPr/>
        </p:nvSpPr>
        <p:spPr>
          <a:xfrm>
            <a:off x="3520440" y="5303520"/>
            <a:ext cx="4480560" cy="45720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SDG 8  Decent Work and Economic Growth</a:t>
            </a:r>
          </a:p>
        </p:txBody>
      </p:sp>
      <p:sp>
        <p:nvSpPr>
          <p:cNvPr id="27" name="Rounded Rectangle 26"/>
          <p:cNvSpPr/>
          <p:nvPr/>
        </p:nvSpPr>
        <p:spPr>
          <a:xfrm>
            <a:off x="8092440" y="5303520"/>
            <a:ext cx="4023360" cy="45720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SDG 9  Industry, Innovation, Infrastructure</a:t>
            </a:r>
          </a:p>
        </p:txBody>
      </p:sp>
      <p:sp>
        <p:nvSpPr>
          <p:cNvPr id="28" name="TextBox 27"/>
          <p:cNvSpPr txBox="1"/>
          <p:nvPr/>
        </p:nvSpPr>
        <p:spPr>
          <a:xfrm>
            <a:off x="594360" y="5852160"/>
            <a:ext cx="10972800" cy="365760"/>
          </a:xfrm>
          <a:prstGeom prst="rect">
            <a:avLst/>
          </a:prstGeom>
          <a:noFill/>
        </p:spPr>
        <p:txBody>
          <a:bodyPr wrap="square" lIns="45720" rIns="45720" tIns="27432" bIns="27432" anchor="t">
            <a:noAutofit/>
          </a:bodyPr>
          <a:lstStyle/>
          <a:p>
            <a:pPr algn="l"/>
            <a:r>
              <a:rPr sz="1400" b="0" i="0">
                <a:solidFill>
                  <a:srgbClr val="8A97A8"/>
                </a:solidFill>
                <a:latin typeface="Calibri"/>
              </a:rPr>
              <a:t>Scope: simulated markets, long-only portfolios, no trading costs in the optimisation</a:t>
            </a:r>
          </a:p>
        </p:txBody>
      </p:sp>
    </p:spTree>
    <p:extLst>
      <p:ext uri="{BB962C8B-B14F-4D97-AF65-F5344CB8AC3E}">
        <p14:creationId xmlns:p14="http://schemas.microsoft.com/office/powerpoint/2010/main" val="2492349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Literature Survey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5</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imeline"/>
          <p:cNvSpPr/>
          <p:nvPr/>
        </p:nvSpPr>
        <p:spPr>
          <a:xfrm>
            <a:off x="731520" y="3127248"/>
            <a:ext cx="10789920" cy="54864"/>
          </a:xfrm>
          <a:prstGeom prst="rect">
            <a:avLst/>
          </a:prstGeom>
          <a:solidFill>
            <a:srgbClr val="8A97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06424" y="3026664"/>
            <a:ext cx="256032" cy="256032"/>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0" name="TextBox 9"/>
          <p:cNvSpPr txBox="1"/>
          <p:nvPr/>
        </p:nvSpPr>
        <p:spPr>
          <a:xfrm>
            <a:off x="365760" y="1600200"/>
            <a:ext cx="1737360" cy="1371600"/>
          </a:xfrm>
          <a:prstGeom prst="rect">
            <a:avLst/>
          </a:prstGeom>
          <a:noFill/>
        </p:spPr>
        <p:txBody>
          <a:bodyPr wrap="square" lIns="45720" rIns="45720" tIns="27432" bIns="27432" anchor="b">
            <a:noAutofit/>
          </a:bodyPr>
          <a:lstStyle/>
          <a:p>
            <a:pPr algn="ctr"/>
            <a:r>
              <a:rPr sz="2000" b="1" i="0">
                <a:solidFill>
                  <a:srgbClr val="2683C6"/>
                </a:solidFill>
                <a:latin typeface="Calibri"/>
              </a:rPr>
              <a:t>1952</a:t>
            </a:r>
          </a:p>
          <a:p>
            <a:pPr algn="ctr"/>
            <a:r>
              <a:rPr sz="1400" b="1" i="0">
                <a:solidFill>
                  <a:srgbClr val="335B74"/>
                </a:solidFill>
                <a:latin typeface="Calibri"/>
              </a:rPr>
              <a:t>Markowitz</a:t>
            </a:r>
          </a:p>
          <a:p>
            <a:pPr algn="ctr"/>
            <a:r>
              <a:rPr sz="1400" b="0" i="0">
                <a:solidFill>
                  <a:srgbClr val="335B74"/>
                </a:solidFill>
                <a:latin typeface="Calibri"/>
              </a:rPr>
              <a:t>mean-variance</a:t>
            </a:r>
          </a:p>
        </p:txBody>
      </p:sp>
      <p:sp>
        <p:nvSpPr>
          <p:cNvPr id="11" name="Oval 10"/>
          <p:cNvSpPr/>
          <p:nvPr/>
        </p:nvSpPr>
        <p:spPr>
          <a:xfrm>
            <a:off x="2706624" y="3026664"/>
            <a:ext cx="256032" cy="256032"/>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2" name="TextBox 11"/>
          <p:cNvSpPr txBox="1"/>
          <p:nvPr/>
        </p:nvSpPr>
        <p:spPr>
          <a:xfrm>
            <a:off x="1965960" y="3474720"/>
            <a:ext cx="1737360" cy="1371600"/>
          </a:xfrm>
          <a:prstGeom prst="rect">
            <a:avLst/>
          </a:prstGeom>
          <a:noFill/>
        </p:spPr>
        <p:txBody>
          <a:bodyPr wrap="square" lIns="45720" rIns="45720" tIns="27432" bIns="27432" anchor="t">
            <a:noAutofit/>
          </a:bodyPr>
          <a:lstStyle/>
          <a:p>
            <a:pPr algn="ctr"/>
            <a:r>
              <a:rPr sz="2000" b="1" i="0">
                <a:solidFill>
                  <a:srgbClr val="D9731A"/>
                </a:solidFill>
                <a:latin typeface="Calibri"/>
              </a:rPr>
              <a:t>1995</a:t>
            </a:r>
          </a:p>
          <a:p>
            <a:pPr algn="ctr"/>
            <a:r>
              <a:rPr sz="1400" b="1" i="0">
                <a:solidFill>
                  <a:srgbClr val="335B74"/>
                </a:solidFill>
                <a:latin typeface="Calibri"/>
              </a:rPr>
              <a:t>Kennedy, Eberhart</a:t>
            </a:r>
          </a:p>
          <a:p>
            <a:pPr algn="ctr"/>
            <a:r>
              <a:rPr sz="1400" b="0" i="0">
                <a:solidFill>
                  <a:srgbClr val="335B74"/>
                </a:solidFill>
                <a:latin typeface="Calibri"/>
              </a:rPr>
              <a:t>particle swarm</a:t>
            </a:r>
          </a:p>
        </p:txBody>
      </p:sp>
      <p:sp>
        <p:nvSpPr>
          <p:cNvPr id="13" name="Oval 12"/>
          <p:cNvSpPr/>
          <p:nvPr/>
        </p:nvSpPr>
        <p:spPr>
          <a:xfrm>
            <a:off x="4306824" y="3026664"/>
            <a:ext cx="256032" cy="256032"/>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4" name="TextBox 13"/>
          <p:cNvSpPr txBox="1"/>
          <p:nvPr/>
        </p:nvSpPr>
        <p:spPr>
          <a:xfrm>
            <a:off x="3566159" y="1600200"/>
            <a:ext cx="1737360" cy="1371600"/>
          </a:xfrm>
          <a:prstGeom prst="rect">
            <a:avLst/>
          </a:prstGeom>
          <a:noFill/>
        </p:spPr>
        <p:txBody>
          <a:bodyPr wrap="square" lIns="45720" rIns="45720" tIns="27432" bIns="27432" anchor="b">
            <a:noAutofit/>
          </a:bodyPr>
          <a:lstStyle/>
          <a:p>
            <a:pPr algn="ctr"/>
            <a:r>
              <a:rPr sz="2000" b="1" i="0">
                <a:solidFill>
                  <a:srgbClr val="2683C6"/>
                </a:solidFill>
                <a:latin typeface="Calibri"/>
              </a:rPr>
              <a:t>2000</a:t>
            </a:r>
          </a:p>
          <a:p>
            <a:pPr algn="ctr"/>
            <a:r>
              <a:rPr sz="1400" b="1" i="0">
                <a:solidFill>
                  <a:srgbClr val="335B74"/>
                </a:solidFill>
                <a:latin typeface="Calibri"/>
              </a:rPr>
              <a:t>Rockafellar; Chang</a:t>
            </a:r>
          </a:p>
          <a:p>
            <a:pPr algn="ctr"/>
            <a:r>
              <a:rPr sz="1400" b="0" i="0">
                <a:solidFill>
                  <a:srgbClr val="335B74"/>
                </a:solidFill>
                <a:latin typeface="Calibri"/>
              </a:rPr>
              <a:t>CVaR; cardinality search</a:t>
            </a:r>
          </a:p>
        </p:txBody>
      </p:sp>
      <p:sp>
        <p:nvSpPr>
          <p:cNvPr id="15" name="Oval 14"/>
          <p:cNvSpPr/>
          <p:nvPr/>
        </p:nvSpPr>
        <p:spPr>
          <a:xfrm>
            <a:off x="5907024" y="3026664"/>
            <a:ext cx="256032" cy="256032"/>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6" name="TextBox 15"/>
          <p:cNvSpPr txBox="1"/>
          <p:nvPr/>
        </p:nvSpPr>
        <p:spPr>
          <a:xfrm>
            <a:off x="5166359" y="3474720"/>
            <a:ext cx="1737360" cy="1371600"/>
          </a:xfrm>
          <a:prstGeom prst="rect">
            <a:avLst/>
          </a:prstGeom>
          <a:noFill/>
        </p:spPr>
        <p:txBody>
          <a:bodyPr wrap="square" lIns="45720" rIns="45720" tIns="27432" bIns="27432" anchor="t">
            <a:noAutofit/>
          </a:bodyPr>
          <a:lstStyle/>
          <a:p>
            <a:pPr algn="ctr"/>
            <a:r>
              <a:rPr sz="2000" b="1" i="0">
                <a:solidFill>
                  <a:srgbClr val="D9731A"/>
                </a:solidFill>
                <a:latin typeface="Calibri"/>
              </a:rPr>
              <a:t>2002</a:t>
            </a:r>
          </a:p>
          <a:p>
            <a:pPr algn="ctr"/>
            <a:r>
              <a:rPr sz="1400" b="1" i="0">
                <a:solidFill>
                  <a:srgbClr val="335B74"/>
                </a:solidFill>
                <a:latin typeface="Calibri"/>
              </a:rPr>
              <a:t>Deb et al.</a:t>
            </a:r>
          </a:p>
          <a:p>
            <a:pPr algn="ctr"/>
            <a:r>
              <a:rPr sz="1400" b="0" i="0">
                <a:solidFill>
                  <a:srgbClr val="335B74"/>
                </a:solidFill>
                <a:latin typeface="Calibri"/>
              </a:rPr>
              <a:t>NSGA-II</a:t>
            </a:r>
          </a:p>
        </p:txBody>
      </p:sp>
      <p:sp>
        <p:nvSpPr>
          <p:cNvPr id="17" name="Oval 16"/>
          <p:cNvSpPr/>
          <p:nvPr/>
        </p:nvSpPr>
        <p:spPr>
          <a:xfrm>
            <a:off x="7507223" y="3026664"/>
            <a:ext cx="256032" cy="256032"/>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8" name="TextBox 17"/>
          <p:cNvSpPr txBox="1"/>
          <p:nvPr/>
        </p:nvSpPr>
        <p:spPr>
          <a:xfrm>
            <a:off x="6766559" y="1600200"/>
            <a:ext cx="1737360" cy="1371600"/>
          </a:xfrm>
          <a:prstGeom prst="rect">
            <a:avLst/>
          </a:prstGeom>
          <a:noFill/>
        </p:spPr>
        <p:txBody>
          <a:bodyPr wrap="square" lIns="45720" rIns="45720" tIns="27432" bIns="27432" anchor="b">
            <a:noAutofit/>
          </a:bodyPr>
          <a:lstStyle/>
          <a:p>
            <a:pPr algn="ctr"/>
            <a:r>
              <a:rPr sz="2000" b="1" i="0">
                <a:solidFill>
                  <a:srgbClr val="2683C6"/>
                </a:solidFill>
                <a:latin typeface="Calibri"/>
              </a:rPr>
              <a:t>2004</a:t>
            </a:r>
          </a:p>
          <a:p>
            <a:pPr algn="ctr"/>
            <a:r>
              <a:rPr sz="1400" b="1" i="0">
                <a:solidFill>
                  <a:srgbClr val="335B74"/>
                </a:solidFill>
                <a:latin typeface="Calibri"/>
              </a:rPr>
              <a:t>Coello et al.</a:t>
            </a:r>
          </a:p>
          <a:p>
            <a:pPr algn="ctr"/>
            <a:r>
              <a:rPr sz="1400" b="0" i="0">
                <a:solidFill>
                  <a:srgbClr val="335B74"/>
                </a:solidFill>
                <a:latin typeface="Calibri"/>
              </a:rPr>
              <a:t>multi-objective PSO</a:t>
            </a:r>
          </a:p>
        </p:txBody>
      </p:sp>
      <p:sp>
        <p:nvSpPr>
          <p:cNvPr id="19" name="Oval 18"/>
          <p:cNvSpPr/>
          <p:nvPr/>
        </p:nvSpPr>
        <p:spPr>
          <a:xfrm>
            <a:off x="9107424" y="3026664"/>
            <a:ext cx="256032" cy="256032"/>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20" name="TextBox 19"/>
          <p:cNvSpPr txBox="1"/>
          <p:nvPr/>
        </p:nvSpPr>
        <p:spPr>
          <a:xfrm>
            <a:off x="8366760" y="3474720"/>
            <a:ext cx="1737360" cy="1371600"/>
          </a:xfrm>
          <a:prstGeom prst="rect">
            <a:avLst/>
          </a:prstGeom>
          <a:noFill/>
        </p:spPr>
        <p:txBody>
          <a:bodyPr wrap="square" lIns="45720" rIns="45720" tIns="27432" bIns="27432" anchor="t">
            <a:noAutofit/>
          </a:bodyPr>
          <a:lstStyle/>
          <a:p>
            <a:pPr algn="ctr"/>
            <a:r>
              <a:rPr sz="2000" b="1" i="0">
                <a:solidFill>
                  <a:srgbClr val="D9731A"/>
                </a:solidFill>
                <a:latin typeface="Calibri"/>
              </a:rPr>
              <a:t>2009-12</a:t>
            </a:r>
          </a:p>
          <a:p>
            <a:pPr algn="ctr"/>
            <a:r>
              <a:rPr sz="1400" b="1" i="0">
                <a:solidFill>
                  <a:srgbClr val="335B74"/>
                </a:solidFill>
                <a:latin typeface="Calibri"/>
              </a:rPr>
              <a:t>Cura; Zhu; Deng</a:t>
            </a:r>
          </a:p>
          <a:p>
            <a:pPr algn="ctr"/>
            <a:r>
              <a:rPr sz="1400" b="0" i="0">
                <a:solidFill>
                  <a:srgbClr val="335B74"/>
                </a:solidFill>
                <a:latin typeface="Calibri"/>
              </a:rPr>
              <a:t>PSO for portfolios</a:t>
            </a:r>
          </a:p>
        </p:txBody>
      </p:sp>
      <p:sp>
        <p:nvSpPr>
          <p:cNvPr id="21" name="Oval 20"/>
          <p:cNvSpPr/>
          <p:nvPr/>
        </p:nvSpPr>
        <p:spPr>
          <a:xfrm>
            <a:off x="10707624" y="3026664"/>
            <a:ext cx="256032" cy="256032"/>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22" name="TextBox 21"/>
          <p:cNvSpPr txBox="1"/>
          <p:nvPr/>
        </p:nvSpPr>
        <p:spPr>
          <a:xfrm>
            <a:off x="9966960" y="1600200"/>
            <a:ext cx="1737360" cy="1371600"/>
          </a:xfrm>
          <a:prstGeom prst="rect">
            <a:avLst/>
          </a:prstGeom>
          <a:noFill/>
        </p:spPr>
        <p:txBody>
          <a:bodyPr wrap="square" lIns="45720" rIns="45720" tIns="27432" bIns="27432" anchor="b">
            <a:noAutofit/>
          </a:bodyPr>
          <a:lstStyle/>
          <a:p>
            <a:pPr algn="ctr"/>
            <a:r>
              <a:rPr sz="2000" b="1" i="0">
                <a:solidFill>
                  <a:srgbClr val="2683C6"/>
                </a:solidFill>
                <a:latin typeface="Calibri"/>
              </a:rPr>
              <a:t>2012</a:t>
            </a:r>
          </a:p>
          <a:p>
            <a:pPr algn="ctr"/>
            <a:r>
              <a:rPr sz="1400" b="1" i="0">
                <a:solidFill>
                  <a:srgbClr val="335B74"/>
                </a:solidFill>
                <a:latin typeface="Calibri"/>
              </a:rPr>
              <a:t>Metaxiotis</a:t>
            </a:r>
          </a:p>
          <a:p>
            <a:pPr algn="ctr"/>
            <a:r>
              <a:rPr sz="1400" b="0" i="0">
                <a:solidFill>
                  <a:srgbClr val="335B74"/>
                </a:solidFill>
                <a:latin typeface="Calibri"/>
              </a:rPr>
              <a:t>MOEA review</a:t>
            </a:r>
          </a:p>
        </p:txBody>
      </p:sp>
      <p:sp>
        <p:nvSpPr>
          <p:cNvPr id="23" name="TextBox 22"/>
          <p:cNvSpPr txBox="1"/>
          <p:nvPr/>
        </p:nvSpPr>
        <p:spPr>
          <a:xfrm>
            <a:off x="594360" y="4754880"/>
            <a:ext cx="5486400" cy="365760"/>
          </a:xfrm>
          <a:prstGeom prst="rect">
            <a:avLst/>
          </a:prstGeom>
          <a:noFill/>
        </p:spPr>
        <p:txBody>
          <a:bodyPr wrap="square" lIns="45720" rIns="45720" tIns="27432" bIns="27432" anchor="t">
            <a:noAutofit/>
          </a:bodyPr>
          <a:lstStyle/>
          <a:p>
            <a:pPr algn="l"/>
            <a:r>
              <a:rPr sz="1600" b="1" i="0">
                <a:solidFill>
                  <a:srgbClr val="2683C6"/>
                </a:solidFill>
                <a:latin typeface="Calibri"/>
              </a:rPr>
              <a:t>Research gaps we address</a:t>
            </a:r>
          </a:p>
        </p:txBody>
      </p:sp>
      <p:sp>
        <p:nvSpPr>
          <p:cNvPr id="24" name="Rounded Rectangle 23"/>
          <p:cNvSpPr/>
          <p:nvPr/>
        </p:nvSpPr>
        <p:spPr>
          <a:xfrm>
            <a:off x="594360" y="5212080"/>
            <a:ext cx="2697480" cy="777240"/>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Held-out tests over many markets</a:t>
            </a:r>
          </a:p>
        </p:txBody>
      </p:sp>
      <p:sp>
        <p:nvSpPr>
          <p:cNvPr id="25" name="Rounded Rectangle 24"/>
          <p:cNvSpPr/>
          <p:nvPr/>
        </p:nvSpPr>
        <p:spPr>
          <a:xfrm>
            <a:off x="3429000" y="5212080"/>
            <a:ext cx="2697480" cy="777240"/>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One repair operator for both algorithms</a:t>
            </a:r>
          </a:p>
        </p:txBody>
      </p:sp>
      <p:sp>
        <p:nvSpPr>
          <p:cNvPr id="26" name="Rounded Rectangle 25"/>
          <p:cNvSpPr/>
          <p:nvPr/>
        </p:nvSpPr>
        <p:spPr>
          <a:xfrm>
            <a:off x="6263640" y="5212080"/>
            <a:ext cx="2697480" cy="777240"/>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Three-objective swarm front with CVaR</a:t>
            </a:r>
          </a:p>
        </p:txBody>
      </p:sp>
      <p:sp>
        <p:nvSpPr>
          <p:cNvPr id="27" name="Rounded Rectangle 26"/>
          <p:cNvSpPr/>
          <p:nvPr/>
        </p:nvSpPr>
        <p:spPr>
          <a:xfrm>
            <a:off x="9098280" y="5212080"/>
            <a:ext cx="2697480" cy="777240"/>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400" b="0" i="0">
                <a:solidFill>
                  <a:srgbClr val="335B74"/>
                </a:solidFill>
                <a:latin typeface="Calibri"/>
              </a:rPr>
              <a:t>Search you can watch and inspect</a:t>
            </a:r>
          </a:p>
        </p:txBody>
      </p:sp>
    </p:spTree>
    <p:extLst>
      <p:ext uri="{BB962C8B-B14F-4D97-AF65-F5344CB8AC3E}">
        <p14:creationId xmlns:p14="http://schemas.microsoft.com/office/powerpoint/2010/main" val="41910753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Requirement Analysis and Specification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6</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Stat 1"/>
          <p:cNvSpPr/>
          <p:nvPr/>
        </p:nvSpPr>
        <p:spPr>
          <a:xfrm>
            <a:off x="594360" y="1463040"/>
            <a:ext cx="3520440" cy="21031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54480"/>
            <a:ext cx="3520440" cy="1097280"/>
          </a:xfrm>
          <a:prstGeom prst="rect">
            <a:avLst/>
          </a:prstGeom>
          <a:noFill/>
        </p:spPr>
        <p:txBody>
          <a:bodyPr wrap="square" lIns="45720" rIns="45720" tIns="27432" bIns="27432" anchor="t">
            <a:noAutofit/>
          </a:bodyPr>
          <a:lstStyle/>
          <a:p>
            <a:pPr algn="ctr"/>
            <a:r>
              <a:rPr sz="6600" b="1" i="0">
                <a:solidFill>
                  <a:srgbClr val="2683C6"/>
                </a:solidFill>
                <a:latin typeface="Calibri"/>
              </a:rPr>
              <a:t>12</a:t>
            </a:r>
          </a:p>
        </p:txBody>
      </p:sp>
      <p:sp>
        <p:nvSpPr>
          <p:cNvPr id="10" name="TextBox 9"/>
          <p:cNvSpPr txBox="1"/>
          <p:nvPr/>
        </p:nvSpPr>
        <p:spPr>
          <a:xfrm>
            <a:off x="777240" y="2743200"/>
            <a:ext cx="3154680" cy="731520"/>
          </a:xfrm>
          <a:prstGeom prst="rect">
            <a:avLst/>
          </a:prstGeom>
          <a:noFill/>
        </p:spPr>
        <p:txBody>
          <a:bodyPr wrap="square" lIns="45720" rIns="45720" tIns="27432" bIns="27432" anchor="t">
            <a:noAutofit/>
          </a:bodyPr>
          <a:lstStyle/>
          <a:p>
            <a:pPr algn="ctr"/>
            <a:r>
              <a:rPr sz="1800" b="0" i="0">
                <a:solidFill>
                  <a:srgbClr val="335B74"/>
                </a:solidFill>
                <a:latin typeface="Calibri"/>
              </a:rPr>
              <a:t>functional requirements</a:t>
            </a:r>
          </a:p>
        </p:txBody>
      </p:sp>
      <p:sp>
        <p:nvSpPr>
          <p:cNvPr id="11" name="Stat 2"/>
          <p:cNvSpPr/>
          <p:nvPr/>
        </p:nvSpPr>
        <p:spPr>
          <a:xfrm>
            <a:off x="4389120" y="1463040"/>
            <a:ext cx="3520440" cy="21031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554480"/>
            <a:ext cx="3520440" cy="1097280"/>
          </a:xfrm>
          <a:prstGeom prst="rect">
            <a:avLst/>
          </a:prstGeom>
          <a:noFill/>
        </p:spPr>
        <p:txBody>
          <a:bodyPr wrap="square" lIns="45720" rIns="45720" tIns="27432" bIns="27432" anchor="t">
            <a:noAutofit/>
          </a:bodyPr>
          <a:lstStyle/>
          <a:p>
            <a:pPr algn="ctr"/>
            <a:r>
              <a:rPr sz="6600" b="1" i="0">
                <a:solidFill>
                  <a:srgbClr val="D9731A"/>
                </a:solidFill>
                <a:latin typeface="Calibri"/>
              </a:rPr>
              <a:t>7</a:t>
            </a:r>
          </a:p>
        </p:txBody>
      </p:sp>
      <p:sp>
        <p:nvSpPr>
          <p:cNvPr id="13" name="TextBox 12"/>
          <p:cNvSpPr txBox="1"/>
          <p:nvPr/>
        </p:nvSpPr>
        <p:spPr>
          <a:xfrm>
            <a:off x="4572000" y="2743200"/>
            <a:ext cx="3154680" cy="731520"/>
          </a:xfrm>
          <a:prstGeom prst="rect">
            <a:avLst/>
          </a:prstGeom>
          <a:noFill/>
        </p:spPr>
        <p:txBody>
          <a:bodyPr wrap="square" lIns="45720" rIns="45720" tIns="27432" bIns="27432" anchor="t">
            <a:noAutofit/>
          </a:bodyPr>
          <a:lstStyle/>
          <a:p>
            <a:pPr algn="ctr"/>
            <a:r>
              <a:rPr sz="1800" b="0" i="0">
                <a:solidFill>
                  <a:srgbClr val="335B74"/>
                </a:solidFill>
                <a:latin typeface="Calibri"/>
              </a:rPr>
              <a:t>non-functional requirements</a:t>
            </a:r>
          </a:p>
        </p:txBody>
      </p:sp>
      <p:sp>
        <p:nvSpPr>
          <p:cNvPr id="14" name="Stat 3"/>
          <p:cNvSpPr/>
          <p:nvPr/>
        </p:nvSpPr>
        <p:spPr>
          <a:xfrm>
            <a:off x="8183880" y="1463040"/>
            <a:ext cx="3520440" cy="210312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1554480"/>
            <a:ext cx="3520440" cy="1097280"/>
          </a:xfrm>
          <a:prstGeom prst="rect">
            <a:avLst/>
          </a:prstGeom>
          <a:noFill/>
        </p:spPr>
        <p:txBody>
          <a:bodyPr wrap="square" lIns="45720" rIns="45720" tIns="27432" bIns="27432" anchor="t">
            <a:noAutofit/>
          </a:bodyPr>
          <a:lstStyle/>
          <a:p>
            <a:pPr algn="ctr"/>
            <a:r>
              <a:rPr sz="6600" b="1" i="0">
                <a:solidFill>
                  <a:srgbClr val="42BA97"/>
                </a:solidFill>
                <a:latin typeface="Calibri"/>
              </a:rPr>
              <a:t>0</a:t>
            </a:r>
          </a:p>
        </p:txBody>
      </p:sp>
      <p:sp>
        <p:nvSpPr>
          <p:cNvPr id="16" name="TextBox 15"/>
          <p:cNvSpPr txBox="1"/>
          <p:nvPr/>
        </p:nvSpPr>
        <p:spPr>
          <a:xfrm>
            <a:off x="8366760" y="2743200"/>
            <a:ext cx="3154680" cy="731520"/>
          </a:xfrm>
          <a:prstGeom prst="rect">
            <a:avLst/>
          </a:prstGeom>
          <a:noFill/>
        </p:spPr>
        <p:txBody>
          <a:bodyPr wrap="square" lIns="45720" rIns="45720" tIns="27432" bIns="27432" anchor="t">
            <a:noAutofit/>
          </a:bodyPr>
          <a:lstStyle/>
          <a:p>
            <a:pPr algn="ctr"/>
            <a:r>
              <a:rPr sz="1800" b="0" i="0">
                <a:solidFill>
                  <a:srgbClr val="335B74"/>
                </a:solidFill>
                <a:latin typeface="Calibri"/>
              </a:rPr>
              <a:t>INR software cost, all open source</a:t>
            </a:r>
          </a:p>
        </p:txBody>
      </p:sp>
      <p:sp>
        <p:nvSpPr>
          <p:cNvPr id="17" name="TextBox 16"/>
          <p:cNvSpPr txBox="1"/>
          <p:nvPr/>
        </p:nvSpPr>
        <p:spPr>
          <a:xfrm>
            <a:off x="594360" y="3931920"/>
            <a:ext cx="5486400" cy="365760"/>
          </a:xfrm>
          <a:prstGeom prst="rect">
            <a:avLst/>
          </a:prstGeom>
          <a:noFill/>
        </p:spPr>
        <p:txBody>
          <a:bodyPr wrap="square" lIns="45720" rIns="45720" tIns="27432" bIns="27432" anchor="t">
            <a:noAutofit/>
          </a:bodyPr>
          <a:lstStyle/>
          <a:p>
            <a:pPr algn="l"/>
            <a:r>
              <a:rPr sz="1600" b="1" i="0">
                <a:solidFill>
                  <a:srgbClr val="2683C6"/>
                </a:solidFill>
                <a:latin typeface="Calibri"/>
              </a:rPr>
              <a:t>Software stack</a:t>
            </a:r>
          </a:p>
        </p:txBody>
      </p:sp>
      <p:sp>
        <p:nvSpPr>
          <p:cNvPr id="18" name="Rounded Rectangle 17"/>
          <p:cNvSpPr/>
          <p:nvPr/>
        </p:nvSpPr>
        <p:spPr>
          <a:xfrm>
            <a:off x="594360" y="4389120"/>
            <a:ext cx="173736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Python 3.13</a:t>
            </a:r>
          </a:p>
        </p:txBody>
      </p:sp>
      <p:sp>
        <p:nvSpPr>
          <p:cNvPr id="19" name="Rounded Rectangle 18"/>
          <p:cNvSpPr/>
          <p:nvPr/>
        </p:nvSpPr>
        <p:spPr>
          <a:xfrm>
            <a:off x="2441448" y="4389120"/>
            <a:ext cx="128016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NumPy</a:t>
            </a:r>
          </a:p>
        </p:txBody>
      </p:sp>
      <p:sp>
        <p:nvSpPr>
          <p:cNvPr id="20" name="Rounded Rectangle 19"/>
          <p:cNvSpPr/>
          <p:nvPr/>
        </p:nvSpPr>
        <p:spPr>
          <a:xfrm>
            <a:off x="3831335" y="4389120"/>
            <a:ext cx="128016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pandas</a:t>
            </a:r>
          </a:p>
        </p:txBody>
      </p:sp>
      <p:sp>
        <p:nvSpPr>
          <p:cNvPr id="21" name="Rounded Rectangle 20"/>
          <p:cNvSpPr/>
          <p:nvPr/>
        </p:nvSpPr>
        <p:spPr>
          <a:xfrm>
            <a:off x="5221224" y="4389120"/>
            <a:ext cx="155448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Matplotlib</a:t>
            </a:r>
          </a:p>
        </p:txBody>
      </p:sp>
      <p:sp>
        <p:nvSpPr>
          <p:cNvPr id="22" name="Rounded Rectangle 21"/>
          <p:cNvSpPr/>
          <p:nvPr/>
        </p:nvSpPr>
        <p:spPr>
          <a:xfrm>
            <a:off x="6885431" y="4389120"/>
            <a:ext cx="118872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SciPy</a:t>
            </a:r>
          </a:p>
        </p:txBody>
      </p:sp>
      <p:sp>
        <p:nvSpPr>
          <p:cNvPr id="23" name="Rounded Rectangle 22"/>
          <p:cNvSpPr/>
          <p:nvPr/>
        </p:nvSpPr>
        <p:spPr>
          <a:xfrm>
            <a:off x="8183879" y="4389120"/>
            <a:ext cx="118872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pytest</a:t>
            </a:r>
          </a:p>
        </p:txBody>
      </p:sp>
      <p:sp>
        <p:nvSpPr>
          <p:cNvPr id="24" name="Rounded Rectangle 23"/>
          <p:cNvSpPr/>
          <p:nvPr/>
        </p:nvSpPr>
        <p:spPr>
          <a:xfrm>
            <a:off x="9482328" y="4389120"/>
            <a:ext cx="2011680" cy="50292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Browser canvas</a:t>
            </a:r>
          </a:p>
        </p:txBody>
      </p:sp>
      <p:sp>
        <p:nvSpPr>
          <p:cNvPr id="25" name="Performance"/>
          <p:cNvSpPr/>
          <p:nvPr/>
        </p:nvSpPr>
        <p:spPr>
          <a:xfrm>
            <a:off x="594360" y="5212080"/>
            <a:ext cx="11109960" cy="77724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5257800"/>
            <a:ext cx="10789920" cy="685800"/>
          </a:xfrm>
          <a:prstGeom prst="rect">
            <a:avLst/>
          </a:prstGeom>
          <a:noFill/>
        </p:spPr>
        <p:txBody>
          <a:bodyPr wrap="square" lIns="45720" rIns="45720" tIns="27432" bIns="27432" anchor="ctr">
            <a:noAutofit/>
          </a:bodyPr>
          <a:lstStyle/>
          <a:p>
            <a:pPr algn="ctr"/>
            <a:r>
              <a:rPr sz="2000" b="1" i="0">
                <a:solidFill>
                  <a:srgbClr val="335B74"/>
                </a:solidFill>
                <a:latin typeface="Calibri"/>
              </a:rPr>
              <a:t>Default run: 100 individuals, 150 iterations, 20 assets finishes in about 1.5 seconds</a:t>
            </a:r>
          </a:p>
        </p:txBody>
      </p:sp>
    </p:spTree>
    <p:extLst>
      <p:ext uri="{BB962C8B-B14F-4D97-AF65-F5344CB8AC3E}">
        <p14:creationId xmlns:p14="http://schemas.microsoft.com/office/powerpoint/2010/main" val="4029405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Design: architecture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Band Browser"/>
          <p:cNvSpPr/>
          <p:nvPr/>
        </p:nvSpPr>
        <p:spPr>
          <a:xfrm>
            <a:off x="594360" y="1371600"/>
            <a:ext cx="11109960" cy="1234440"/>
          </a:xfrm>
          <a:prstGeom prst="roundRect">
            <a:avLst>
              <a:gd name="adj" fmla="val 8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417320"/>
            <a:ext cx="2743200" cy="320040"/>
          </a:xfrm>
          <a:prstGeom prst="rect">
            <a:avLst/>
          </a:prstGeom>
          <a:noFill/>
        </p:spPr>
        <p:txBody>
          <a:bodyPr wrap="square" lIns="45720" rIns="45720" tIns="27432" bIns="27432" anchor="t">
            <a:noAutofit/>
          </a:bodyPr>
          <a:lstStyle/>
          <a:p>
            <a:pPr algn="l"/>
            <a:r>
              <a:rPr sz="1400" b="1" i="0">
                <a:solidFill>
                  <a:srgbClr val="2683C6"/>
                </a:solidFill>
                <a:latin typeface="Calibri"/>
              </a:rPr>
              <a:t>Browser</a:t>
            </a:r>
          </a:p>
        </p:txBody>
      </p:sp>
      <p:sp>
        <p:nvSpPr>
          <p:cNvPr id="10" name="Rounded Rectangle 9"/>
          <p:cNvSpPr/>
          <p:nvPr/>
        </p:nvSpPr>
        <p:spPr>
          <a:xfrm>
            <a:off x="82296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Control panel</a:t>
            </a:r>
          </a:p>
        </p:txBody>
      </p:sp>
      <p:sp>
        <p:nvSpPr>
          <p:cNvPr id="11" name="Rounded Rectangle 10"/>
          <p:cNvSpPr/>
          <p:nvPr/>
        </p:nvSpPr>
        <p:spPr>
          <a:xfrm>
            <a:off x="353187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Live swarm canvas</a:t>
            </a:r>
          </a:p>
        </p:txBody>
      </p:sp>
      <p:sp>
        <p:nvSpPr>
          <p:cNvPr id="12" name="Rounded Rectangle 11"/>
          <p:cNvSpPr/>
          <p:nvPr/>
        </p:nvSpPr>
        <p:spPr>
          <a:xfrm>
            <a:off x="624078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Portfolio inspector</a:t>
            </a:r>
          </a:p>
        </p:txBody>
      </p:sp>
      <p:sp>
        <p:nvSpPr>
          <p:cNvPr id="13" name="Rounded Rectangle 12"/>
          <p:cNvSpPr/>
          <p:nvPr/>
        </p:nvSpPr>
        <p:spPr>
          <a:xfrm>
            <a:off x="8949690" y="181051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Wealth and convergence charts</a:t>
            </a:r>
          </a:p>
        </p:txBody>
      </p:sp>
      <p:sp>
        <p:nvSpPr>
          <p:cNvPr id="14" name="Band Server"/>
          <p:cNvSpPr/>
          <p:nvPr/>
        </p:nvSpPr>
        <p:spPr>
          <a:xfrm>
            <a:off x="594360" y="3063240"/>
            <a:ext cx="11109960" cy="1234440"/>
          </a:xfrm>
          <a:prstGeom prst="roundRect">
            <a:avLst>
              <a:gd name="adj" fmla="val 8000"/>
            </a:avLst>
          </a:prstGeom>
          <a:solidFill>
            <a:srgbClr val="E8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108960"/>
            <a:ext cx="2743200" cy="320040"/>
          </a:xfrm>
          <a:prstGeom prst="rect">
            <a:avLst/>
          </a:prstGeom>
          <a:noFill/>
        </p:spPr>
        <p:txBody>
          <a:bodyPr wrap="square" lIns="45720" rIns="45720" tIns="27432" bIns="27432" anchor="t">
            <a:noAutofit/>
          </a:bodyPr>
          <a:lstStyle/>
          <a:p>
            <a:pPr algn="l"/>
            <a:r>
              <a:rPr sz="1400" b="1" i="0">
                <a:solidFill>
                  <a:srgbClr val="42BA97"/>
                </a:solidFill>
                <a:latin typeface="Calibri"/>
              </a:rPr>
              <a:t>Server</a:t>
            </a:r>
          </a:p>
        </p:txBody>
      </p:sp>
      <p:sp>
        <p:nvSpPr>
          <p:cNvPr id="16" name="Rounded Rectangle 15"/>
          <p:cNvSpPr/>
          <p:nvPr/>
        </p:nvSpPr>
        <p:spPr>
          <a:xfrm>
            <a:off x="82296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POST /api/run</a:t>
            </a:r>
          </a:p>
        </p:txBody>
      </p:sp>
      <p:sp>
        <p:nvSpPr>
          <p:cNvPr id="17" name="Rounded Rectangle 16"/>
          <p:cNvSpPr/>
          <p:nvPr/>
        </p:nvSpPr>
        <p:spPr>
          <a:xfrm>
            <a:off x="353187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GET /api/jobs/id</a:t>
            </a:r>
          </a:p>
        </p:txBody>
      </p:sp>
      <p:sp>
        <p:nvSpPr>
          <p:cNvPr id="18" name="Rounded Rectangle 17"/>
          <p:cNvSpPr/>
          <p:nvPr/>
        </p:nvSpPr>
        <p:spPr>
          <a:xfrm>
            <a:off x="624078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POST .../cancel</a:t>
            </a:r>
          </a:p>
        </p:txBody>
      </p:sp>
      <p:sp>
        <p:nvSpPr>
          <p:cNvPr id="19" name="Rounded Rectangle 18"/>
          <p:cNvSpPr/>
          <p:nvPr/>
        </p:nvSpPr>
        <p:spPr>
          <a:xfrm>
            <a:off x="8949690" y="3502152"/>
            <a:ext cx="2526030" cy="640080"/>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Job manager and worker threads</a:t>
            </a:r>
          </a:p>
        </p:txBody>
      </p:sp>
      <p:sp>
        <p:nvSpPr>
          <p:cNvPr id="20" name="Band Optimisation core"/>
          <p:cNvSpPr/>
          <p:nvPr/>
        </p:nvSpPr>
        <p:spPr>
          <a:xfrm>
            <a:off x="594360" y="4754880"/>
            <a:ext cx="11109960" cy="13258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800600"/>
            <a:ext cx="2743200" cy="320040"/>
          </a:xfrm>
          <a:prstGeom prst="rect">
            <a:avLst/>
          </a:prstGeom>
          <a:noFill/>
        </p:spPr>
        <p:txBody>
          <a:bodyPr wrap="square" lIns="45720" rIns="45720" tIns="27432" bIns="27432" anchor="t">
            <a:noAutofit/>
          </a:bodyPr>
          <a:lstStyle/>
          <a:p>
            <a:pPr algn="l"/>
            <a:r>
              <a:rPr sz="1400" b="1" i="0">
                <a:solidFill>
                  <a:srgbClr val="335B74"/>
                </a:solidFill>
                <a:latin typeface="Calibri"/>
              </a:rPr>
              <a:t>Optimisation core</a:t>
            </a:r>
          </a:p>
        </p:txBody>
      </p:sp>
      <p:sp>
        <p:nvSpPr>
          <p:cNvPr id="22" name="Rounded Rectangle 21"/>
          <p:cNvSpPr/>
          <p:nvPr/>
        </p:nvSpPr>
        <p:spPr>
          <a:xfrm>
            <a:off x="822960"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Portfolio model and repair</a:t>
            </a:r>
          </a:p>
        </p:txBody>
      </p:sp>
      <p:sp>
        <p:nvSpPr>
          <p:cNvPr id="23" name="Rounded Rectangle 22"/>
          <p:cNvSpPr/>
          <p:nvPr/>
        </p:nvSpPr>
        <p:spPr>
          <a:xfrm>
            <a:off x="2990088"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MOPSO</a:t>
            </a:r>
          </a:p>
        </p:txBody>
      </p:sp>
      <p:sp>
        <p:nvSpPr>
          <p:cNvPr id="24" name="Rounded Rectangle 23"/>
          <p:cNvSpPr/>
          <p:nvPr/>
        </p:nvSpPr>
        <p:spPr>
          <a:xfrm>
            <a:off x="5157216"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NSGA-II</a:t>
            </a:r>
          </a:p>
        </p:txBody>
      </p:sp>
      <p:sp>
        <p:nvSpPr>
          <p:cNvPr id="25" name="Rounded Rectangle 24"/>
          <p:cNvSpPr/>
          <p:nvPr/>
        </p:nvSpPr>
        <p:spPr>
          <a:xfrm>
            <a:off x="7324344"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Pareto utilities</a:t>
            </a:r>
          </a:p>
        </p:txBody>
      </p:sp>
      <p:sp>
        <p:nvSpPr>
          <p:cNvPr id="26" name="Rounded Rectangle 25"/>
          <p:cNvSpPr/>
          <p:nvPr/>
        </p:nvSpPr>
        <p:spPr>
          <a:xfrm>
            <a:off x="9491472" y="5193792"/>
            <a:ext cx="1984248" cy="731519"/>
          </a:xfrm>
          <a:prstGeom prst="roundRect">
            <a:avLst>
              <a:gd name="adj" fmla="val 15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Baselines and back-test</a:t>
            </a:r>
          </a:p>
        </p:txBody>
      </p:sp>
      <p:cxnSp>
        <p:nvCxnSpPr>
          <p:cNvPr id="27" name="Connector 26"/>
          <p:cNvCxnSpPr/>
          <p:nvPr/>
        </p:nvCxnSpPr>
        <p:spPr>
          <a:xfrm>
            <a:off x="6126480" y="260604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6126480" y="260604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126480" y="429768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126480" y="4297680"/>
            <a:ext cx="0" cy="45720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263640" y="2651760"/>
            <a:ext cx="2286000" cy="365760"/>
          </a:xfrm>
          <a:prstGeom prst="rect">
            <a:avLst/>
          </a:prstGeom>
          <a:noFill/>
        </p:spPr>
        <p:txBody>
          <a:bodyPr wrap="square" lIns="45720" rIns="45720" tIns="27432" bIns="27432" anchor="t">
            <a:noAutofit/>
          </a:bodyPr>
          <a:lstStyle/>
          <a:p>
            <a:pPr algn="l"/>
            <a:r>
              <a:rPr sz="1300" b="0" i="0">
                <a:solidFill>
                  <a:srgbClr val="8A97A8"/>
                </a:solidFill>
                <a:latin typeface="Calibri"/>
              </a:rPr>
              <a:t>JSON over HTTP</a:t>
            </a:r>
          </a:p>
        </p:txBody>
      </p:sp>
      <p:sp>
        <p:nvSpPr>
          <p:cNvPr id="32" name="TextBox 31"/>
          <p:cNvSpPr txBox="1"/>
          <p:nvPr/>
        </p:nvSpPr>
        <p:spPr>
          <a:xfrm>
            <a:off x="6263640" y="4343400"/>
            <a:ext cx="2286000" cy="365760"/>
          </a:xfrm>
          <a:prstGeom prst="rect">
            <a:avLst/>
          </a:prstGeom>
          <a:noFill/>
        </p:spPr>
        <p:txBody>
          <a:bodyPr wrap="square" lIns="45720" rIns="45720" tIns="27432" bIns="27432" anchor="t">
            <a:noAutofit/>
          </a:bodyPr>
          <a:lstStyle/>
          <a:p>
            <a:pPr algn="l"/>
            <a:r>
              <a:rPr sz="1300" b="0" i="0">
                <a:solidFill>
                  <a:srgbClr val="8A97A8"/>
                </a:solidFill>
                <a:latin typeface="Calibri"/>
              </a:rPr>
              <a:t>function calls</a:t>
            </a:r>
          </a:p>
        </p:txBody>
      </p:sp>
    </p:spTree>
    <p:extLst>
      <p:ext uri="{BB962C8B-B14F-4D97-AF65-F5344CB8AC3E}">
        <p14:creationId xmlns:p14="http://schemas.microsoft.com/office/powerpoint/2010/main" val="12380044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Design: methodology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7</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extBox 7"/>
          <p:cNvSpPr txBox="1"/>
          <p:nvPr/>
        </p:nvSpPr>
        <p:spPr>
          <a:xfrm>
            <a:off x="594360" y="1325880"/>
            <a:ext cx="10972800" cy="365760"/>
          </a:xfrm>
          <a:prstGeom prst="rect">
            <a:avLst/>
          </a:prstGeom>
          <a:noFill/>
        </p:spPr>
        <p:txBody>
          <a:bodyPr wrap="square" lIns="45720" rIns="45720" tIns="27432" bIns="27432" anchor="t">
            <a:noAutofit/>
          </a:bodyPr>
          <a:lstStyle/>
          <a:p>
            <a:pPr algn="l"/>
            <a:r>
              <a:rPr sz="1800" b="1" i="0">
                <a:solidFill>
                  <a:srgbClr val="2683C6"/>
                </a:solidFill>
                <a:latin typeface="Calibri"/>
              </a:rPr>
              <a:t>One repair operator, shared by both algorithms</a:t>
            </a:r>
          </a:p>
        </p:txBody>
      </p:sp>
      <p:sp>
        <p:nvSpPr>
          <p:cNvPr id="9" name="Repair step 1"/>
          <p:cNvSpPr/>
          <p:nvPr/>
        </p:nvSpPr>
        <p:spPr>
          <a:xfrm>
            <a:off x="594360" y="1783080"/>
            <a:ext cx="1965960" cy="1005840"/>
          </a:xfrm>
          <a:prstGeom prst="chevron">
            <a:avLst>
              <a:gd name="adj" fmla="val 25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FFFFFF"/>
                </a:solidFill>
                <a:latin typeface="Calibri"/>
              </a:rPr>
              <a:t>Clip negatives to zero</a:t>
            </a:r>
          </a:p>
        </p:txBody>
      </p:sp>
      <p:sp>
        <p:nvSpPr>
          <p:cNvPr id="10" name="Repair step 2"/>
          <p:cNvSpPr/>
          <p:nvPr/>
        </p:nvSpPr>
        <p:spPr>
          <a:xfrm>
            <a:off x="24231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Keep the K largest</a:t>
            </a:r>
          </a:p>
        </p:txBody>
      </p:sp>
      <p:sp>
        <p:nvSpPr>
          <p:cNvPr id="11" name="Repair step 3"/>
          <p:cNvSpPr/>
          <p:nvPr/>
        </p:nvSpPr>
        <p:spPr>
          <a:xfrm>
            <a:off x="42519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Drop tiny weights</a:t>
            </a:r>
          </a:p>
        </p:txBody>
      </p:sp>
      <p:sp>
        <p:nvSpPr>
          <p:cNvPr id="12" name="Repair step 4"/>
          <p:cNvSpPr/>
          <p:nvPr/>
        </p:nvSpPr>
        <p:spPr>
          <a:xfrm>
            <a:off x="60807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Add assets if the cap needs more</a:t>
            </a:r>
          </a:p>
        </p:txBody>
      </p:sp>
      <p:sp>
        <p:nvSpPr>
          <p:cNvPr id="13" name="Repair step 5"/>
          <p:cNvSpPr/>
          <p:nvPr/>
        </p:nvSpPr>
        <p:spPr>
          <a:xfrm>
            <a:off x="7909560" y="1783080"/>
            <a:ext cx="1965960" cy="1005840"/>
          </a:xfrm>
          <a:prstGeom prst="chevron">
            <a:avLst>
              <a:gd name="adj" fmla="val 2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335B74"/>
                </a:solidFill>
                <a:latin typeface="Calibri"/>
              </a:rPr>
              <a:t>Cap at 30% and redistribute</a:t>
            </a:r>
          </a:p>
        </p:txBody>
      </p:sp>
      <p:sp>
        <p:nvSpPr>
          <p:cNvPr id="14" name="Repair step 6"/>
          <p:cNvSpPr/>
          <p:nvPr/>
        </p:nvSpPr>
        <p:spPr>
          <a:xfrm>
            <a:off x="9738360" y="1783080"/>
            <a:ext cx="1965960" cy="1005840"/>
          </a:xfrm>
          <a:prstGeom prst="chevron">
            <a:avLst>
              <a:gd name="adj" fmla="val 25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228600"/>
          <a:lstStyle/>
          <a:p>
            <a:pPr algn="ctr"/>
            <a:r>
              <a:rPr sz="1300" b="1" i="0">
                <a:solidFill>
                  <a:srgbClr val="FFFFFF"/>
                </a:solidFill>
                <a:latin typeface="Calibri"/>
              </a:rPr>
              <a:t>Normalise to sum 1</a:t>
            </a:r>
          </a:p>
        </p:txBody>
      </p:sp>
      <p:sp>
        <p:nvSpPr>
          <p:cNvPr id="15" name="TextBox 14"/>
          <p:cNvSpPr txBox="1"/>
          <p:nvPr/>
        </p:nvSpPr>
        <p:spPr>
          <a:xfrm>
            <a:off x="594360" y="3017520"/>
            <a:ext cx="10972800" cy="365760"/>
          </a:xfrm>
          <a:prstGeom prst="rect">
            <a:avLst/>
          </a:prstGeom>
          <a:noFill/>
        </p:spPr>
        <p:txBody>
          <a:bodyPr wrap="square" lIns="45720" rIns="45720" tIns="27432" bIns="27432" anchor="t">
            <a:noAutofit/>
          </a:bodyPr>
          <a:lstStyle/>
          <a:p>
            <a:pPr algn="l"/>
            <a:r>
              <a:rPr sz="1800" b="1" i="0">
                <a:solidFill>
                  <a:srgbClr val="2683C6"/>
                </a:solidFill>
                <a:latin typeface="Calibri"/>
              </a:rPr>
              <a:t>Six experiments</a:t>
            </a:r>
          </a:p>
        </p:txBody>
      </p:sp>
      <p:sp>
        <p:nvSpPr>
          <p:cNvPr id="16" name="Experiment E1"/>
          <p:cNvSpPr/>
          <p:nvPr/>
        </p:nvSpPr>
        <p:spPr>
          <a:xfrm>
            <a:off x="594360" y="347472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31520" y="3749039"/>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E1</a:t>
            </a:r>
          </a:p>
        </p:txBody>
      </p:sp>
      <p:sp>
        <p:nvSpPr>
          <p:cNvPr id="18" name="TextBox 17"/>
          <p:cNvSpPr txBox="1"/>
          <p:nvPr/>
        </p:nvSpPr>
        <p:spPr>
          <a:xfrm>
            <a:off x="1417320" y="358444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Front quality</a:t>
            </a:r>
          </a:p>
        </p:txBody>
      </p:sp>
      <p:sp>
        <p:nvSpPr>
          <p:cNvPr id="19" name="TextBox 18"/>
          <p:cNvSpPr txBox="1"/>
          <p:nvPr/>
        </p:nvSpPr>
        <p:spPr>
          <a:xfrm>
            <a:off x="1417320" y="404164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10 seeds against random search</a:t>
            </a:r>
          </a:p>
        </p:txBody>
      </p:sp>
      <p:sp>
        <p:nvSpPr>
          <p:cNvPr id="20" name="Experiment E2"/>
          <p:cNvSpPr/>
          <p:nvPr/>
        </p:nvSpPr>
        <p:spPr>
          <a:xfrm>
            <a:off x="4389120" y="347472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26280" y="3749039"/>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E2</a:t>
            </a:r>
          </a:p>
        </p:txBody>
      </p:sp>
      <p:sp>
        <p:nvSpPr>
          <p:cNvPr id="22" name="TextBox 21"/>
          <p:cNvSpPr txBox="1"/>
          <p:nvPr/>
        </p:nvSpPr>
        <p:spPr>
          <a:xfrm>
            <a:off x="5212080" y="358444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Holding limits</a:t>
            </a:r>
          </a:p>
        </p:txBody>
      </p:sp>
      <p:sp>
        <p:nvSpPr>
          <p:cNvPr id="23" name="TextBox 22"/>
          <p:cNvSpPr txBox="1"/>
          <p:nvPr/>
        </p:nvSpPr>
        <p:spPr>
          <a:xfrm>
            <a:off x="5212080" y="404164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K = none, 10, 8 and 5</a:t>
            </a:r>
          </a:p>
        </p:txBody>
      </p:sp>
      <p:sp>
        <p:nvSpPr>
          <p:cNvPr id="24" name="Experiment E3"/>
          <p:cNvSpPr/>
          <p:nvPr/>
        </p:nvSpPr>
        <p:spPr>
          <a:xfrm>
            <a:off x="8183880" y="347472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21040" y="3749039"/>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E3</a:t>
            </a:r>
          </a:p>
        </p:txBody>
      </p:sp>
      <p:sp>
        <p:nvSpPr>
          <p:cNvPr id="26" name="TextBox 25"/>
          <p:cNvSpPr txBox="1"/>
          <p:nvPr/>
        </p:nvSpPr>
        <p:spPr>
          <a:xfrm>
            <a:off x="9006840" y="358444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Number of assets</a:t>
            </a:r>
          </a:p>
        </p:txBody>
      </p:sp>
      <p:sp>
        <p:nvSpPr>
          <p:cNvPr id="27" name="TextBox 26"/>
          <p:cNvSpPr txBox="1"/>
          <p:nvPr/>
        </p:nvSpPr>
        <p:spPr>
          <a:xfrm>
            <a:off x="9006840" y="404164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10 to 60 assets</a:t>
            </a:r>
          </a:p>
        </p:txBody>
      </p:sp>
      <p:sp>
        <p:nvSpPr>
          <p:cNvPr id="28" name="Experiment E4"/>
          <p:cNvSpPr/>
          <p:nvPr/>
        </p:nvSpPr>
        <p:spPr>
          <a:xfrm>
            <a:off x="594360" y="470916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31520" y="49834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E4</a:t>
            </a:r>
          </a:p>
        </p:txBody>
      </p:sp>
      <p:sp>
        <p:nvSpPr>
          <p:cNvPr id="30" name="TextBox 29"/>
          <p:cNvSpPr txBox="1"/>
          <p:nvPr/>
        </p:nvSpPr>
        <p:spPr>
          <a:xfrm>
            <a:off x="1417320" y="481888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Search budget</a:t>
            </a:r>
          </a:p>
        </p:txBody>
      </p:sp>
      <p:sp>
        <p:nvSpPr>
          <p:cNvPr id="31" name="TextBox 30"/>
          <p:cNvSpPr txBox="1"/>
          <p:nvPr/>
        </p:nvSpPr>
        <p:spPr>
          <a:xfrm>
            <a:off x="1417320" y="527608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5 to 200 iterations</a:t>
            </a:r>
          </a:p>
        </p:txBody>
      </p:sp>
      <p:sp>
        <p:nvSpPr>
          <p:cNvPr id="32" name="Experiment E5"/>
          <p:cNvSpPr/>
          <p:nvPr/>
        </p:nvSpPr>
        <p:spPr>
          <a:xfrm>
            <a:off x="4389120" y="470916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526280" y="49834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E5</a:t>
            </a:r>
          </a:p>
        </p:txBody>
      </p:sp>
      <p:sp>
        <p:nvSpPr>
          <p:cNvPr id="34" name="TextBox 33"/>
          <p:cNvSpPr txBox="1"/>
          <p:nvPr/>
        </p:nvSpPr>
        <p:spPr>
          <a:xfrm>
            <a:off x="5212080" y="481888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Held-out test</a:t>
            </a:r>
          </a:p>
        </p:txBody>
      </p:sp>
      <p:sp>
        <p:nvSpPr>
          <p:cNvPr id="35" name="TextBox 34"/>
          <p:cNvSpPr txBox="1"/>
          <p:nvPr/>
        </p:nvSpPr>
        <p:spPr>
          <a:xfrm>
            <a:off x="5212080" y="527608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30 simulated markets</a:t>
            </a:r>
          </a:p>
        </p:txBody>
      </p:sp>
      <p:sp>
        <p:nvSpPr>
          <p:cNvPr id="36" name="Experiment E6"/>
          <p:cNvSpPr/>
          <p:nvPr/>
        </p:nvSpPr>
        <p:spPr>
          <a:xfrm>
            <a:off x="8183880" y="4709160"/>
            <a:ext cx="3520440" cy="10972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321040" y="498348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1600" b="1" i="0">
                <a:solidFill>
                  <a:srgbClr val="FFFFFF"/>
                </a:solidFill>
                <a:latin typeface="Calibri"/>
              </a:rPr>
              <a:t>E6</a:t>
            </a:r>
          </a:p>
        </p:txBody>
      </p:sp>
      <p:sp>
        <p:nvSpPr>
          <p:cNvPr id="38" name="TextBox 37"/>
          <p:cNvSpPr txBox="1"/>
          <p:nvPr/>
        </p:nvSpPr>
        <p:spPr>
          <a:xfrm>
            <a:off x="9006840" y="4818888"/>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Operator ablation</a:t>
            </a:r>
          </a:p>
        </p:txBody>
      </p:sp>
      <p:sp>
        <p:nvSpPr>
          <p:cNvPr id="39" name="TextBox 38"/>
          <p:cNvSpPr txBox="1"/>
          <p:nvPr/>
        </p:nvSpPr>
        <p:spPr>
          <a:xfrm>
            <a:off x="9006840" y="5276088"/>
            <a:ext cx="2606040" cy="457200"/>
          </a:xfrm>
          <a:prstGeom prst="rect">
            <a:avLst/>
          </a:prstGeom>
          <a:noFill/>
        </p:spPr>
        <p:txBody>
          <a:bodyPr wrap="square" lIns="45720" rIns="45720" tIns="27432" bIns="27432" anchor="t">
            <a:noAutofit/>
          </a:bodyPr>
          <a:lstStyle/>
          <a:p>
            <a:pPr algn="l"/>
            <a:r>
              <a:rPr sz="1400" b="0" i="0">
                <a:solidFill>
                  <a:srgbClr val="335B74"/>
                </a:solidFill>
                <a:latin typeface="Calibri"/>
              </a:rPr>
              <a:t>with and without</a:t>
            </a:r>
          </a:p>
        </p:txBody>
      </p:sp>
      <p:sp>
        <p:nvSpPr>
          <p:cNvPr id="40" name="TextBox 39"/>
          <p:cNvSpPr txBox="1"/>
          <p:nvPr/>
        </p:nvSpPr>
        <p:spPr>
          <a:xfrm>
            <a:off x="594360" y="5943600"/>
            <a:ext cx="10972800" cy="365760"/>
          </a:xfrm>
          <a:prstGeom prst="rect">
            <a:avLst/>
          </a:prstGeom>
          <a:noFill/>
        </p:spPr>
        <p:txBody>
          <a:bodyPr wrap="square" lIns="45720" rIns="45720" tIns="27432" bIns="27432" anchor="t">
            <a:noAutofit/>
          </a:bodyPr>
          <a:lstStyle/>
          <a:p>
            <a:pPr algn="l"/>
            <a:r>
              <a:rPr sz="1400" b="0" i="0">
                <a:solidFill>
                  <a:srgbClr val="8A97A8"/>
                </a:solidFill>
                <a:latin typeface="Calibri"/>
              </a:rPr>
              <a:t>Seeded factor-model markets with fat tails and a crisis period; 70% training, 30% held-out</a:t>
            </a:r>
          </a:p>
        </p:txBody>
      </p:sp>
    </p:spTree>
    <p:extLst>
      <p:ext uri="{BB962C8B-B14F-4D97-AF65-F5344CB8AC3E}">
        <p14:creationId xmlns:p14="http://schemas.microsoft.com/office/powerpoint/2010/main" val="12380044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Implementation: the two optimisers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Rounded Rectangle 7"/>
          <p:cNvSpPr/>
          <p:nvPr/>
        </p:nvSpPr>
        <p:spPr>
          <a:xfrm>
            <a:off x="594360" y="1371600"/>
            <a:ext cx="5303520" cy="594360"/>
          </a:xfrm>
          <a:prstGeom prst="roundRect">
            <a:avLst>
              <a:gd name="adj" fmla="val 3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MOPSO (particle swarm)</a:t>
            </a:r>
          </a:p>
        </p:txBody>
      </p:sp>
      <p:sp>
        <p:nvSpPr>
          <p:cNvPr id="9" name="Rounded Rectangle 8"/>
          <p:cNvSpPr/>
          <p:nvPr/>
        </p:nvSpPr>
        <p:spPr>
          <a:xfrm>
            <a:off x="594360" y="214884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Particles start as feasible portfolios</a:t>
            </a:r>
          </a:p>
        </p:txBody>
      </p:sp>
      <p:cxnSp>
        <p:nvCxnSpPr>
          <p:cNvPr id="10" name="Connector 9"/>
          <p:cNvCxnSpPr/>
          <p:nvPr/>
        </p:nvCxnSpPr>
        <p:spPr>
          <a:xfrm>
            <a:off x="3246120" y="2770632"/>
            <a:ext cx="0" cy="155448"/>
          </a:xfrm>
          <a:prstGeom prst="line">
            <a:avLst/>
          </a:prstGeom>
          <a:ln w="22225">
            <a:solidFill>
              <a:srgbClr val="2683C6"/>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94360" y="292608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Leader chosen from the archive by crowding</a:t>
            </a:r>
          </a:p>
        </p:txBody>
      </p:sp>
      <p:cxnSp>
        <p:nvCxnSpPr>
          <p:cNvPr id="12" name="Connector 11"/>
          <p:cNvCxnSpPr/>
          <p:nvPr/>
        </p:nvCxnSpPr>
        <p:spPr>
          <a:xfrm>
            <a:off x="3246120" y="3547872"/>
            <a:ext cx="0" cy="155448"/>
          </a:xfrm>
          <a:prstGeom prst="line">
            <a:avLst/>
          </a:prstGeom>
          <a:ln w="22225">
            <a:solidFill>
              <a:srgbClr val="2683C6"/>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4360" y="370332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Velocity update, then repair</a:t>
            </a:r>
          </a:p>
        </p:txBody>
      </p:sp>
      <p:cxnSp>
        <p:nvCxnSpPr>
          <p:cNvPr id="14" name="Connector 13"/>
          <p:cNvCxnSpPr/>
          <p:nvPr/>
        </p:nvCxnSpPr>
        <p:spPr>
          <a:xfrm>
            <a:off x="3246120" y="4325112"/>
            <a:ext cx="0" cy="155448"/>
          </a:xfrm>
          <a:prstGeom prst="line">
            <a:avLst/>
          </a:prstGeom>
          <a:ln w="22225">
            <a:solidFill>
              <a:srgbClr val="2683C6"/>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94360" y="4480560"/>
            <a:ext cx="5303520" cy="621792"/>
          </a:xfrm>
          <a:prstGeom prst="roundRect">
            <a:avLst>
              <a:gd name="adj" fmla="val 15000"/>
            </a:avLst>
          </a:prstGeom>
          <a:solidFill>
            <a:srgbClr val="EAF3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Archive keeps the non-dominated set</a:t>
            </a:r>
          </a:p>
        </p:txBody>
      </p:sp>
      <p:sp>
        <p:nvSpPr>
          <p:cNvPr id="16" name="Rounded Rectangle 15"/>
          <p:cNvSpPr/>
          <p:nvPr/>
        </p:nvSpPr>
        <p:spPr>
          <a:xfrm>
            <a:off x="594360" y="5349240"/>
            <a:ext cx="1691640" cy="457200"/>
          </a:xfrm>
          <a:prstGeom prst="roundRect">
            <a:avLst>
              <a:gd name="adj" fmla="val 4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100 particles</a:t>
            </a:r>
          </a:p>
        </p:txBody>
      </p:sp>
      <p:sp>
        <p:nvSpPr>
          <p:cNvPr id="17" name="Rounded Rectangle 16"/>
          <p:cNvSpPr/>
          <p:nvPr/>
        </p:nvSpPr>
        <p:spPr>
          <a:xfrm>
            <a:off x="2395728" y="5349240"/>
            <a:ext cx="1691640" cy="457200"/>
          </a:xfrm>
          <a:prstGeom prst="roundRect">
            <a:avLst>
              <a:gd name="adj" fmla="val 4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inertia 0.9 to 0.4</a:t>
            </a:r>
          </a:p>
        </p:txBody>
      </p:sp>
      <p:sp>
        <p:nvSpPr>
          <p:cNvPr id="18" name="Rounded Rectangle 17"/>
          <p:cNvSpPr/>
          <p:nvPr/>
        </p:nvSpPr>
        <p:spPr>
          <a:xfrm>
            <a:off x="4197096" y="5349240"/>
            <a:ext cx="1691640" cy="457200"/>
          </a:xfrm>
          <a:prstGeom prst="roundRect">
            <a:avLst>
              <a:gd name="adj" fmla="val 40000"/>
            </a:avLst>
          </a:prstGeom>
          <a:solidFill>
            <a:srgbClr val="FFFFFF"/>
          </a:solidFill>
          <a:ln w="12700">
            <a:solidFill>
              <a:srgbClr val="2683C6"/>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c1 = c2 = 1.5</a:t>
            </a:r>
          </a:p>
        </p:txBody>
      </p:sp>
      <p:sp>
        <p:nvSpPr>
          <p:cNvPr id="19" name="Rounded Rectangle 18"/>
          <p:cNvSpPr/>
          <p:nvPr/>
        </p:nvSpPr>
        <p:spPr>
          <a:xfrm>
            <a:off x="6263640" y="1371600"/>
            <a:ext cx="5303520" cy="594360"/>
          </a:xfrm>
          <a:prstGeom prst="roundRect">
            <a:avLst>
              <a:gd name="adj" fmla="val 30000"/>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NSGA-II (genetic algorithm)</a:t>
            </a:r>
          </a:p>
        </p:txBody>
      </p:sp>
      <p:sp>
        <p:nvSpPr>
          <p:cNvPr id="20" name="Rounded Rectangle 19"/>
          <p:cNvSpPr/>
          <p:nvPr/>
        </p:nvSpPr>
        <p:spPr>
          <a:xfrm>
            <a:off x="6263640" y="214884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Population of feasible portfolios</a:t>
            </a:r>
          </a:p>
        </p:txBody>
      </p:sp>
      <p:cxnSp>
        <p:nvCxnSpPr>
          <p:cNvPr id="21" name="Connector 20"/>
          <p:cNvCxnSpPr/>
          <p:nvPr/>
        </p:nvCxnSpPr>
        <p:spPr>
          <a:xfrm>
            <a:off x="8915400" y="2770632"/>
            <a:ext cx="0" cy="155448"/>
          </a:xfrm>
          <a:prstGeom prst="line">
            <a:avLst/>
          </a:prstGeom>
          <a:ln w="22225">
            <a:solidFill>
              <a:srgbClr val="D9731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63640" y="292608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Tournament by rank and crowding</a:t>
            </a:r>
          </a:p>
        </p:txBody>
      </p:sp>
      <p:cxnSp>
        <p:nvCxnSpPr>
          <p:cNvPr id="23" name="Connector 22"/>
          <p:cNvCxnSpPr/>
          <p:nvPr/>
        </p:nvCxnSpPr>
        <p:spPr>
          <a:xfrm>
            <a:off x="8915400" y="3547872"/>
            <a:ext cx="0" cy="155448"/>
          </a:xfrm>
          <a:prstGeom prst="line">
            <a:avLst/>
          </a:prstGeom>
          <a:ln w="22225">
            <a:solidFill>
              <a:srgbClr val="D9731A"/>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63640" y="370332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SBX crossover, mutation and swap</a:t>
            </a:r>
          </a:p>
        </p:txBody>
      </p:sp>
      <p:cxnSp>
        <p:nvCxnSpPr>
          <p:cNvPr id="25" name="Connector 24"/>
          <p:cNvCxnSpPr/>
          <p:nvPr/>
        </p:nvCxnSpPr>
        <p:spPr>
          <a:xfrm>
            <a:off x="8915400" y="4325112"/>
            <a:ext cx="0" cy="155448"/>
          </a:xfrm>
          <a:prstGeom prst="line">
            <a:avLst/>
          </a:prstGeom>
          <a:ln w="22225">
            <a:solidFill>
              <a:srgbClr val="D9731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63640" y="4480560"/>
            <a:ext cx="5303520" cy="621792"/>
          </a:xfrm>
          <a:prstGeom prst="roundRect">
            <a:avLst>
              <a:gd name="adj" fmla="val 15000"/>
            </a:avLst>
          </a:prstGeom>
          <a:solidFill>
            <a:srgbClr val="FBEF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Parents and children: keep the best</a:t>
            </a:r>
          </a:p>
        </p:txBody>
      </p:sp>
      <p:sp>
        <p:nvSpPr>
          <p:cNvPr id="27" name="Rounded Rectangle 26"/>
          <p:cNvSpPr/>
          <p:nvPr/>
        </p:nvSpPr>
        <p:spPr>
          <a:xfrm>
            <a:off x="6263640" y="5349240"/>
            <a:ext cx="1691640" cy="457200"/>
          </a:xfrm>
          <a:prstGeom prst="roundRect">
            <a:avLst>
              <a:gd name="adj" fmla="val 4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100 individuals</a:t>
            </a:r>
          </a:p>
        </p:txBody>
      </p:sp>
      <p:sp>
        <p:nvSpPr>
          <p:cNvPr id="28" name="Rounded Rectangle 27"/>
          <p:cNvSpPr/>
          <p:nvPr/>
        </p:nvSpPr>
        <p:spPr>
          <a:xfrm>
            <a:off x="8065008" y="5349240"/>
            <a:ext cx="1691640" cy="457200"/>
          </a:xfrm>
          <a:prstGeom prst="roundRect">
            <a:avLst>
              <a:gd name="adj" fmla="val 4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SBX index 15</a:t>
            </a:r>
          </a:p>
        </p:txBody>
      </p:sp>
      <p:sp>
        <p:nvSpPr>
          <p:cNvPr id="29" name="Rounded Rectangle 28"/>
          <p:cNvSpPr/>
          <p:nvPr/>
        </p:nvSpPr>
        <p:spPr>
          <a:xfrm>
            <a:off x="9866376" y="5349240"/>
            <a:ext cx="1691640" cy="457200"/>
          </a:xfrm>
          <a:prstGeom prst="roundRect">
            <a:avLst>
              <a:gd name="adj" fmla="val 40000"/>
            </a:avLst>
          </a:prstGeom>
          <a:solidFill>
            <a:srgbClr val="FFFFFF"/>
          </a:solidFill>
          <a:ln w="12700">
            <a:solidFill>
              <a:srgbClr val="D9731A"/>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300" b="0" i="0">
                <a:solidFill>
                  <a:srgbClr val="335B74"/>
                </a:solidFill>
                <a:latin typeface="Calibri"/>
              </a:rPr>
              <a:t>swap mutation 0.2</a:t>
            </a:r>
          </a:p>
        </p:txBody>
      </p:sp>
      <p:sp>
        <p:nvSpPr>
          <p:cNvPr id="30" name="TextBox 29"/>
          <p:cNvSpPr txBox="1"/>
          <p:nvPr/>
        </p:nvSpPr>
        <p:spPr>
          <a:xfrm>
            <a:off x="594360" y="5897880"/>
            <a:ext cx="11155680" cy="365760"/>
          </a:xfrm>
          <a:prstGeom prst="rect">
            <a:avLst/>
          </a:prstGeom>
          <a:noFill/>
        </p:spPr>
        <p:txBody>
          <a:bodyPr wrap="square" lIns="45720" rIns="45720" tIns="27432" bIns="27432" anchor="t">
            <a:noAutofit/>
          </a:bodyPr>
          <a:lstStyle/>
          <a:p>
            <a:pPr algn="ctr"/>
            <a:r>
              <a:rPr sz="1600" b="1" i="0">
                <a:solidFill>
                  <a:srgbClr val="335B74"/>
                </a:solidFill>
                <a:latin typeface="Calibri"/>
              </a:rPr>
              <a:t>Same budget for both: 15,100 objective evaluations per run</a:t>
            </a:r>
          </a:p>
        </p:txBody>
      </p:sp>
    </p:spTree>
    <p:extLst>
      <p:ext uri="{BB962C8B-B14F-4D97-AF65-F5344CB8AC3E}">
        <p14:creationId xmlns:p14="http://schemas.microsoft.com/office/powerpoint/2010/main" val="6068002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Implementation: the workbench</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8</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Workbench screenshot" descr="ui_overview.png"/>
          <p:cNvPicPr>
            <a:picLocks noChangeAspect="1"/>
          </p:cNvPicPr>
          <p:nvPr/>
        </p:nvPicPr>
        <p:blipFill>
          <a:blip r:embed="rId4"/>
          <a:stretch>
            <a:fillRect/>
          </a:stretch>
        </p:blipFill>
        <p:spPr>
          <a:xfrm>
            <a:off x="548640" y="1417320"/>
            <a:ext cx="6949440" cy="4536440"/>
          </a:xfrm>
          <a:prstGeom prst="rect">
            <a:avLst/>
          </a:prstGeom>
        </p:spPr>
      </p:pic>
      <p:sp>
        <p:nvSpPr>
          <p:cNvPr id="9" name="Callout 1"/>
          <p:cNvSpPr/>
          <p:nvPr/>
        </p:nvSpPr>
        <p:spPr>
          <a:xfrm>
            <a:off x="7818120" y="1417320"/>
            <a:ext cx="388620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01000" y="182880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1" name="TextBox 10"/>
          <p:cNvSpPr txBox="1"/>
          <p:nvPr/>
        </p:nvSpPr>
        <p:spPr>
          <a:xfrm>
            <a:off x="8686800" y="1527048"/>
            <a:ext cx="2926080" cy="457200"/>
          </a:xfrm>
          <a:prstGeom prst="rect">
            <a:avLst/>
          </a:prstGeom>
          <a:noFill/>
        </p:spPr>
        <p:txBody>
          <a:bodyPr wrap="square" lIns="45720" rIns="45720" tIns="27432" bIns="27432" anchor="t">
            <a:noAutofit/>
          </a:bodyPr>
          <a:lstStyle/>
          <a:p>
            <a:pPr algn="l"/>
            <a:r>
              <a:rPr sz="1800" b="1" i="0">
                <a:solidFill>
                  <a:srgbClr val="335B74"/>
                </a:solidFill>
                <a:latin typeface="Calibri"/>
              </a:rPr>
              <a:t>Watch the search</a:t>
            </a:r>
          </a:p>
        </p:txBody>
      </p:sp>
      <p:sp>
        <p:nvSpPr>
          <p:cNvPr id="12" name="TextBox 11"/>
          <p:cNvSpPr txBox="1"/>
          <p:nvPr/>
        </p:nvSpPr>
        <p:spPr>
          <a:xfrm>
            <a:off x="8686800" y="1984248"/>
            <a:ext cx="2926080" cy="777240"/>
          </a:xfrm>
          <a:prstGeom prst="rect">
            <a:avLst/>
          </a:prstGeom>
          <a:noFill/>
        </p:spPr>
        <p:txBody>
          <a:bodyPr wrap="square" lIns="45720" rIns="45720" tIns="27432" bIns="27432" anchor="t">
            <a:noAutofit/>
          </a:bodyPr>
          <a:lstStyle/>
          <a:p>
            <a:pPr algn="l"/>
            <a:r>
              <a:rPr sz="1400" b="0" i="0">
                <a:solidFill>
                  <a:srgbClr val="335B74"/>
                </a:solidFill>
                <a:latin typeface="Calibri"/>
              </a:rPr>
              <a:t>Both populations converge on their fronts, live</a:t>
            </a:r>
          </a:p>
        </p:txBody>
      </p:sp>
      <p:sp>
        <p:nvSpPr>
          <p:cNvPr id="13" name="Callout 2"/>
          <p:cNvSpPr/>
          <p:nvPr/>
        </p:nvSpPr>
        <p:spPr>
          <a:xfrm>
            <a:off x="7818120" y="2971800"/>
            <a:ext cx="388620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01000" y="3383280"/>
            <a:ext cx="548640" cy="54864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5" name="TextBox 14"/>
          <p:cNvSpPr txBox="1"/>
          <p:nvPr/>
        </p:nvSpPr>
        <p:spPr>
          <a:xfrm>
            <a:off x="8686800" y="3081528"/>
            <a:ext cx="2926080" cy="457200"/>
          </a:xfrm>
          <a:prstGeom prst="rect">
            <a:avLst/>
          </a:prstGeom>
          <a:noFill/>
        </p:spPr>
        <p:txBody>
          <a:bodyPr wrap="square" lIns="45720" rIns="45720" tIns="27432" bIns="27432" anchor="t">
            <a:noAutofit/>
          </a:bodyPr>
          <a:lstStyle/>
          <a:p>
            <a:pPr algn="l"/>
            <a:r>
              <a:rPr sz="1800" b="1" i="0">
                <a:solidFill>
                  <a:srgbClr val="335B74"/>
                </a:solidFill>
                <a:latin typeface="Calibri"/>
              </a:rPr>
              <a:t>Inspect any portfolio</a:t>
            </a:r>
          </a:p>
        </p:txBody>
      </p:sp>
      <p:sp>
        <p:nvSpPr>
          <p:cNvPr id="16" name="TextBox 15"/>
          <p:cNvSpPr txBox="1"/>
          <p:nvPr/>
        </p:nvSpPr>
        <p:spPr>
          <a:xfrm>
            <a:off x="8686800" y="3538728"/>
            <a:ext cx="2926080" cy="777240"/>
          </a:xfrm>
          <a:prstGeom prst="rect">
            <a:avLst/>
          </a:prstGeom>
          <a:noFill/>
        </p:spPr>
        <p:txBody>
          <a:bodyPr wrap="square" lIns="45720" rIns="45720" tIns="27432" bIns="27432" anchor="t">
            <a:noAutofit/>
          </a:bodyPr>
          <a:lstStyle/>
          <a:p>
            <a:pPr algn="l"/>
            <a:r>
              <a:rPr sz="1400" b="0" i="0">
                <a:solidFill>
                  <a:srgbClr val="335B74"/>
                </a:solidFill>
                <a:latin typeface="Calibri"/>
              </a:rPr>
              <a:t>Click a point: weights, training and held-out results</a:t>
            </a:r>
          </a:p>
        </p:txBody>
      </p:sp>
      <p:sp>
        <p:nvSpPr>
          <p:cNvPr id="17" name="Callout 3"/>
          <p:cNvSpPr/>
          <p:nvPr/>
        </p:nvSpPr>
        <p:spPr>
          <a:xfrm>
            <a:off x="7818120" y="4526280"/>
            <a:ext cx="388620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1000" y="4937760"/>
            <a:ext cx="548640" cy="548640"/>
          </a:xfrm>
          <a:prstGeom prst="ellipse">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9" name="TextBox 18"/>
          <p:cNvSpPr txBox="1"/>
          <p:nvPr/>
        </p:nvSpPr>
        <p:spPr>
          <a:xfrm>
            <a:off x="8686800" y="4636008"/>
            <a:ext cx="2926080" cy="457200"/>
          </a:xfrm>
          <a:prstGeom prst="rect">
            <a:avLst/>
          </a:prstGeom>
          <a:noFill/>
        </p:spPr>
        <p:txBody>
          <a:bodyPr wrap="square" lIns="45720" rIns="45720" tIns="27432" bIns="27432" anchor="t">
            <a:noAutofit/>
          </a:bodyPr>
          <a:lstStyle/>
          <a:p>
            <a:pPr algn="l"/>
            <a:r>
              <a:rPr sz="1800" b="1" i="0">
                <a:solidFill>
                  <a:srgbClr val="335B74"/>
                </a:solidFill>
                <a:latin typeface="Calibri"/>
              </a:rPr>
              <a:t>Bring your own prices</a:t>
            </a:r>
          </a:p>
        </p:txBody>
      </p:sp>
      <p:sp>
        <p:nvSpPr>
          <p:cNvPr id="20" name="TextBox 19"/>
          <p:cNvSpPr txBox="1"/>
          <p:nvPr/>
        </p:nvSpPr>
        <p:spPr>
          <a:xfrm>
            <a:off x="8686800" y="5093208"/>
            <a:ext cx="2926080" cy="777240"/>
          </a:xfrm>
          <a:prstGeom prst="rect">
            <a:avLst/>
          </a:prstGeom>
          <a:noFill/>
        </p:spPr>
        <p:txBody>
          <a:bodyPr wrap="square" lIns="45720" rIns="45720" tIns="27432" bIns="27432" anchor="t">
            <a:noAutofit/>
          </a:bodyPr>
          <a:lstStyle/>
          <a:p>
            <a:pPr algn="l"/>
            <a:r>
              <a:rPr sz="1400" b="0" i="0">
                <a:solidFill>
                  <a:srgbClr val="335B74"/>
                </a:solidFill>
                <a:latin typeface="Calibri"/>
              </a:rPr>
              <a:t>Upload a CSV, set constraints, press Run</a:t>
            </a:r>
          </a:p>
        </p:txBody>
      </p:sp>
    </p:spTree>
    <p:extLst>
      <p:ext uri="{BB962C8B-B14F-4D97-AF65-F5344CB8AC3E}">
        <p14:creationId xmlns:p14="http://schemas.microsoft.com/office/powerpoint/2010/main" val="6068002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Testing and Validation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9</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est stat 1"/>
          <p:cNvSpPr/>
          <p:nvPr/>
        </p:nvSpPr>
        <p:spPr>
          <a:xfrm>
            <a:off x="594360" y="1463040"/>
            <a:ext cx="3520440" cy="20116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08760"/>
            <a:ext cx="3520440" cy="1097280"/>
          </a:xfrm>
          <a:prstGeom prst="rect">
            <a:avLst/>
          </a:prstGeom>
          <a:noFill/>
        </p:spPr>
        <p:txBody>
          <a:bodyPr wrap="square" lIns="45720" rIns="45720" tIns="27432" bIns="27432" anchor="t">
            <a:noAutofit/>
          </a:bodyPr>
          <a:lstStyle/>
          <a:p>
            <a:pPr algn="ctr"/>
            <a:r>
              <a:rPr sz="6600" b="1" i="0">
                <a:solidFill>
                  <a:srgbClr val="2683C6"/>
                </a:solidFill>
                <a:latin typeface="Calibri"/>
              </a:rPr>
              <a:t>14</a:t>
            </a:r>
          </a:p>
        </p:txBody>
      </p:sp>
      <p:sp>
        <p:nvSpPr>
          <p:cNvPr id="10" name="TextBox 9"/>
          <p:cNvSpPr txBox="1"/>
          <p:nvPr/>
        </p:nvSpPr>
        <p:spPr>
          <a:xfrm>
            <a:off x="777240" y="2606040"/>
            <a:ext cx="3154680" cy="777240"/>
          </a:xfrm>
          <a:prstGeom prst="rect">
            <a:avLst/>
          </a:prstGeom>
          <a:noFill/>
        </p:spPr>
        <p:txBody>
          <a:bodyPr wrap="square" lIns="45720" rIns="45720" tIns="27432" bIns="27432" anchor="t">
            <a:noAutofit/>
          </a:bodyPr>
          <a:lstStyle/>
          <a:p>
            <a:pPr algn="ctr"/>
            <a:r>
              <a:rPr sz="1600" b="0" i="0">
                <a:solidFill>
                  <a:srgbClr val="335B74"/>
                </a:solidFill>
                <a:latin typeface="Calibri"/>
              </a:rPr>
              <a:t>automated tests pass</a:t>
            </a:r>
          </a:p>
        </p:txBody>
      </p:sp>
      <p:sp>
        <p:nvSpPr>
          <p:cNvPr id="11" name="Test stat 2"/>
          <p:cNvSpPr/>
          <p:nvPr/>
        </p:nvSpPr>
        <p:spPr>
          <a:xfrm>
            <a:off x="4389120" y="1463040"/>
            <a:ext cx="3520440" cy="20116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1508760"/>
            <a:ext cx="3520440" cy="1097280"/>
          </a:xfrm>
          <a:prstGeom prst="rect">
            <a:avLst/>
          </a:prstGeom>
          <a:noFill/>
        </p:spPr>
        <p:txBody>
          <a:bodyPr wrap="square" lIns="45720" rIns="45720" tIns="27432" bIns="27432" anchor="t">
            <a:noAutofit/>
          </a:bodyPr>
          <a:lstStyle/>
          <a:p>
            <a:pPr algn="ctr"/>
            <a:r>
              <a:rPr sz="6600" b="1" i="0">
                <a:solidFill>
                  <a:srgbClr val="D9731A"/>
                </a:solidFill>
                <a:latin typeface="Calibri"/>
              </a:rPr>
              <a:t>19</a:t>
            </a:r>
          </a:p>
        </p:txBody>
      </p:sp>
      <p:sp>
        <p:nvSpPr>
          <p:cNvPr id="13" name="TextBox 12"/>
          <p:cNvSpPr txBox="1"/>
          <p:nvPr/>
        </p:nvSpPr>
        <p:spPr>
          <a:xfrm>
            <a:off x="4572000" y="2606040"/>
            <a:ext cx="3154680" cy="777240"/>
          </a:xfrm>
          <a:prstGeom prst="rect">
            <a:avLst/>
          </a:prstGeom>
          <a:noFill/>
        </p:spPr>
        <p:txBody>
          <a:bodyPr wrap="square" lIns="45720" rIns="45720" tIns="27432" bIns="27432" anchor="t">
            <a:noAutofit/>
          </a:bodyPr>
          <a:lstStyle/>
          <a:p>
            <a:pPr algn="ctr"/>
            <a:r>
              <a:rPr sz="1600" b="0" i="0">
                <a:solidFill>
                  <a:srgbClr val="335B74"/>
                </a:solidFill>
                <a:latin typeface="Calibri"/>
              </a:rPr>
              <a:t>system test cases: server and browser</a:t>
            </a:r>
          </a:p>
        </p:txBody>
      </p:sp>
      <p:sp>
        <p:nvSpPr>
          <p:cNvPr id="14" name="Test stat 3"/>
          <p:cNvSpPr/>
          <p:nvPr/>
        </p:nvSpPr>
        <p:spPr>
          <a:xfrm>
            <a:off x="8183880" y="1463040"/>
            <a:ext cx="3520440" cy="201168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83880" y="1508760"/>
            <a:ext cx="3520440" cy="1097280"/>
          </a:xfrm>
          <a:prstGeom prst="rect">
            <a:avLst/>
          </a:prstGeom>
          <a:noFill/>
        </p:spPr>
        <p:txBody>
          <a:bodyPr wrap="square" lIns="45720" rIns="45720" tIns="27432" bIns="27432" anchor="t">
            <a:noAutofit/>
          </a:bodyPr>
          <a:lstStyle/>
          <a:p>
            <a:pPr algn="ctr"/>
            <a:r>
              <a:rPr sz="6600" b="1" i="0">
                <a:solidFill>
                  <a:srgbClr val="42BA97"/>
                </a:solidFill>
                <a:latin typeface="Calibri"/>
              </a:rPr>
              <a:t>0</a:t>
            </a:r>
          </a:p>
        </p:txBody>
      </p:sp>
      <p:sp>
        <p:nvSpPr>
          <p:cNvPr id="16" name="TextBox 15"/>
          <p:cNvSpPr txBox="1"/>
          <p:nvPr/>
        </p:nvSpPr>
        <p:spPr>
          <a:xfrm>
            <a:off x="8366760" y="2606040"/>
            <a:ext cx="3154680" cy="777240"/>
          </a:xfrm>
          <a:prstGeom prst="rect">
            <a:avLst/>
          </a:prstGeom>
          <a:noFill/>
        </p:spPr>
        <p:txBody>
          <a:bodyPr wrap="square" lIns="45720" rIns="45720" tIns="27432" bIns="27432" anchor="t">
            <a:noAutofit/>
          </a:bodyPr>
          <a:lstStyle/>
          <a:p>
            <a:pPr algn="ctr"/>
            <a:r>
              <a:rPr sz="1600" b="0" i="0">
                <a:solidFill>
                  <a:srgbClr val="335B74"/>
                </a:solidFill>
                <a:latin typeface="Calibri"/>
              </a:rPr>
              <a:t>constraint violations in every experiment run</a:t>
            </a:r>
          </a:p>
        </p:txBody>
      </p:sp>
      <p:sp>
        <p:nvSpPr>
          <p:cNvPr id="17" name="Rounded Rectangle 16"/>
          <p:cNvSpPr/>
          <p:nvPr/>
        </p:nvSpPr>
        <p:spPr>
          <a:xfrm>
            <a:off x="594360" y="3931920"/>
            <a:ext cx="3383280" cy="594360"/>
          </a:xfrm>
          <a:prstGeom prst="roundRect">
            <a:avLst>
              <a:gd name="adj" fmla="val 3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Component</a:t>
            </a:r>
          </a:p>
        </p:txBody>
      </p:sp>
      <p:sp>
        <p:nvSpPr>
          <p:cNvPr id="18" name="Rounded Rectangle 17"/>
          <p:cNvSpPr/>
          <p:nvPr/>
        </p:nvSpPr>
        <p:spPr>
          <a:xfrm>
            <a:off x="594360" y="4663440"/>
            <a:ext cx="3383280" cy="1188720"/>
          </a:xfrm>
          <a:prstGeom prst="roundRect">
            <a:avLst>
              <a:gd name="adj" fmla="val 1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Repair, objectives, Pareto maths</a:t>
            </a:r>
          </a:p>
        </p:txBody>
      </p:sp>
      <p:cxnSp>
        <p:nvCxnSpPr>
          <p:cNvPr id="19" name="Connector 18"/>
          <p:cNvCxnSpPr/>
          <p:nvPr/>
        </p:nvCxnSpPr>
        <p:spPr>
          <a:xfrm>
            <a:off x="4023360" y="4224528"/>
            <a:ext cx="457200" cy="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26280" y="3931920"/>
            <a:ext cx="3383280" cy="594360"/>
          </a:xfrm>
          <a:prstGeom prst="roundRect">
            <a:avLst>
              <a:gd name="adj" fmla="val 30000"/>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Algorithm</a:t>
            </a:r>
          </a:p>
        </p:txBody>
      </p:sp>
      <p:sp>
        <p:nvSpPr>
          <p:cNvPr id="21" name="Rounded Rectangle 20"/>
          <p:cNvSpPr/>
          <p:nvPr/>
        </p:nvSpPr>
        <p:spPr>
          <a:xfrm>
            <a:off x="4526280" y="4663440"/>
            <a:ext cx="3383280" cy="1188720"/>
          </a:xfrm>
          <a:prstGeom prst="roundRect">
            <a:avLst>
              <a:gd name="adj" fmla="val 1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Feasible, non-dominated, reproducible, beats random</a:t>
            </a:r>
          </a:p>
        </p:txBody>
      </p:sp>
      <p:cxnSp>
        <p:nvCxnSpPr>
          <p:cNvPr id="22" name="Connector 21"/>
          <p:cNvCxnSpPr/>
          <p:nvPr/>
        </p:nvCxnSpPr>
        <p:spPr>
          <a:xfrm>
            <a:off x="7955279" y="4224528"/>
            <a:ext cx="457201" cy="0"/>
          </a:xfrm>
          <a:prstGeom prst="line">
            <a:avLst/>
          </a:prstGeom>
          <a:ln w="22225">
            <a:solidFill>
              <a:srgbClr val="8A97A8"/>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458200" y="3931920"/>
            <a:ext cx="3383280" cy="594360"/>
          </a:xfrm>
          <a:prstGeom prst="roundRect">
            <a:avLst>
              <a:gd name="adj" fmla="val 30000"/>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System</a:t>
            </a:r>
          </a:p>
        </p:txBody>
      </p:sp>
      <p:sp>
        <p:nvSpPr>
          <p:cNvPr id="24" name="Rounded Rectangle 23"/>
          <p:cNvSpPr/>
          <p:nvPr/>
        </p:nvSpPr>
        <p:spPr>
          <a:xfrm>
            <a:off x="8458200" y="4663440"/>
            <a:ext cx="3383280" cy="1188720"/>
          </a:xfrm>
          <a:prstGeom prst="roundRect">
            <a:avLst>
              <a:gd name="adj" fmla="val 1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600" b="0" i="0">
                <a:solidFill>
                  <a:srgbClr val="335B74"/>
                </a:solidFill>
                <a:latin typeface="Calibri"/>
              </a:rPr>
              <a:t>Server jobs, error paths, browser, phone, dark mode</a:t>
            </a:r>
          </a:p>
        </p:txBody>
      </p:sp>
    </p:spTree>
    <p:extLst>
      <p:ext uri="{BB962C8B-B14F-4D97-AF65-F5344CB8AC3E}">
        <p14:creationId xmlns:p14="http://schemas.microsoft.com/office/powerpoint/2010/main" val="7598425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front quality</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pic>
        <p:nvPicPr>
          <p:cNvPr id="8" name="Fronts figure" descr="fig_fronts_main.png"/>
          <p:cNvPicPr>
            <a:picLocks noChangeAspect="1"/>
          </p:cNvPicPr>
          <p:nvPr/>
        </p:nvPicPr>
        <p:blipFill>
          <a:blip r:embed="rId4"/>
          <a:stretch>
            <a:fillRect/>
          </a:stretch>
        </p:blipFill>
        <p:spPr>
          <a:xfrm>
            <a:off x="502920" y="1371600"/>
            <a:ext cx="7040880" cy="2957170"/>
          </a:xfrm>
          <a:prstGeom prst="rect">
            <a:avLst/>
          </a:prstGeom>
        </p:spPr>
      </p:pic>
      <p:graphicFrame>
        <p:nvGraphicFramePr>
          <p:cNvPr id="9" name="Hypervolume chart"/>
          <p:cNvGraphicFramePr>
            <a:graphicFrameLocks noGrp="1"/>
          </p:cNvGraphicFramePr>
          <p:nvPr/>
        </p:nvGraphicFramePr>
        <p:xfrm>
          <a:off x="7772400" y="1325880"/>
          <a:ext cx="3931920" cy="3108960"/>
        </p:xfrm>
        <a:graphic>
          <a:graphicData uri="http://schemas.openxmlformats.org/drawingml/2006/chart">
            <c:chart xmlns:c="http://schemas.openxmlformats.org/drawingml/2006/chart" r:id="rId5"/>
          </a:graphicData>
        </a:graphic>
      </p:graphicFrame>
      <p:sp>
        <p:nvSpPr>
          <p:cNvPr id="10" name="Result stat 1"/>
          <p:cNvSpPr/>
          <p:nvPr/>
        </p:nvSpPr>
        <p:spPr>
          <a:xfrm>
            <a:off x="594360" y="466344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09160"/>
            <a:ext cx="3520440" cy="640080"/>
          </a:xfrm>
          <a:prstGeom prst="rect">
            <a:avLst/>
          </a:prstGeom>
          <a:noFill/>
        </p:spPr>
        <p:txBody>
          <a:bodyPr wrap="square" lIns="45720" rIns="45720" tIns="27432" bIns="27432" anchor="t">
            <a:noAutofit/>
          </a:bodyPr>
          <a:lstStyle/>
          <a:p>
            <a:pPr algn="ctr"/>
            <a:r>
              <a:rPr sz="3200" b="1" i="0">
                <a:solidFill>
                  <a:srgbClr val="2683C6"/>
                </a:solidFill>
                <a:latin typeface="Calibri"/>
              </a:rPr>
              <a:t>100 vs 20</a:t>
            </a:r>
          </a:p>
        </p:txBody>
      </p:sp>
      <p:sp>
        <p:nvSpPr>
          <p:cNvPr id="12" name="TextBox 11"/>
          <p:cNvSpPr txBox="1"/>
          <p:nvPr/>
        </p:nvSpPr>
        <p:spPr>
          <a:xfrm>
            <a:off x="777240" y="5349240"/>
            <a:ext cx="3154680" cy="640080"/>
          </a:xfrm>
          <a:prstGeom prst="rect">
            <a:avLst/>
          </a:prstGeom>
          <a:noFill/>
        </p:spPr>
        <p:txBody>
          <a:bodyPr wrap="square" lIns="45720" rIns="45720" tIns="27432" bIns="27432" anchor="t">
            <a:noAutofit/>
          </a:bodyPr>
          <a:lstStyle/>
          <a:p>
            <a:pPr algn="ctr"/>
            <a:r>
              <a:rPr sz="1400" b="0" i="0">
                <a:solidFill>
                  <a:srgbClr val="335B74"/>
                </a:solidFill>
                <a:latin typeface="Calibri"/>
              </a:rPr>
              <a:t>non-dominated portfolios per run: optimisers vs random</a:t>
            </a:r>
          </a:p>
        </p:txBody>
      </p:sp>
      <p:sp>
        <p:nvSpPr>
          <p:cNvPr id="13" name="Result stat 2"/>
          <p:cNvSpPr/>
          <p:nvPr/>
        </p:nvSpPr>
        <p:spPr>
          <a:xfrm>
            <a:off x="4389120" y="466344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4709160"/>
            <a:ext cx="3520440" cy="640080"/>
          </a:xfrm>
          <a:prstGeom prst="rect">
            <a:avLst/>
          </a:prstGeom>
          <a:noFill/>
        </p:spPr>
        <p:txBody>
          <a:bodyPr wrap="square" lIns="45720" rIns="45720" tIns="27432" bIns="27432" anchor="t">
            <a:noAutofit/>
          </a:bodyPr>
          <a:lstStyle/>
          <a:p>
            <a:pPr algn="ctr"/>
            <a:r>
              <a:rPr sz="3200" b="1" i="0">
                <a:solidFill>
                  <a:srgbClr val="42BA97"/>
                </a:solidFill>
                <a:latin typeface="Calibri"/>
              </a:rPr>
              <a:t>p = 0.002</a:t>
            </a:r>
          </a:p>
        </p:txBody>
      </p:sp>
      <p:sp>
        <p:nvSpPr>
          <p:cNvPr id="15" name="TextBox 14"/>
          <p:cNvSpPr txBox="1"/>
          <p:nvPr/>
        </p:nvSpPr>
        <p:spPr>
          <a:xfrm>
            <a:off x="4572000" y="5349240"/>
            <a:ext cx="3154680" cy="640080"/>
          </a:xfrm>
          <a:prstGeom prst="rect">
            <a:avLst/>
          </a:prstGeom>
          <a:noFill/>
        </p:spPr>
        <p:txBody>
          <a:bodyPr wrap="square" lIns="45720" rIns="45720" tIns="27432" bIns="27432" anchor="t">
            <a:noAutofit/>
          </a:bodyPr>
          <a:lstStyle/>
          <a:p>
            <a:pPr algn="ctr"/>
            <a:r>
              <a:rPr sz="1400" b="0" i="0">
                <a:solidFill>
                  <a:srgbClr val="335B74"/>
                </a:solidFill>
                <a:latin typeface="Calibri"/>
              </a:rPr>
              <a:t>both optimisers vs random, paired test over 10 seeds</a:t>
            </a:r>
          </a:p>
        </p:txBody>
      </p:sp>
      <p:sp>
        <p:nvSpPr>
          <p:cNvPr id="16" name="Result stat 3"/>
          <p:cNvSpPr/>
          <p:nvPr/>
        </p:nvSpPr>
        <p:spPr>
          <a:xfrm>
            <a:off x="8183880" y="466344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4709160"/>
            <a:ext cx="3520440" cy="640080"/>
          </a:xfrm>
          <a:prstGeom prst="rect">
            <a:avLst/>
          </a:prstGeom>
          <a:noFill/>
        </p:spPr>
        <p:txBody>
          <a:bodyPr wrap="square" lIns="45720" rIns="45720" tIns="27432" bIns="27432" anchor="t">
            <a:noAutofit/>
          </a:bodyPr>
          <a:lstStyle/>
          <a:p>
            <a:pPr algn="ctr"/>
            <a:r>
              <a:rPr sz="3200" b="1" i="0">
                <a:solidFill>
                  <a:srgbClr val="D9731A"/>
                </a:solidFill>
                <a:latin typeface="Calibri"/>
              </a:rPr>
              <a:t>0.70 vs 0.71</a:t>
            </a:r>
          </a:p>
        </p:txBody>
      </p:sp>
      <p:sp>
        <p:nvSpPr>
          <p:cNvPr id="18" name="TextBox 17"/>
          <p:cNvSpPr txBox="1"/>
          <p:nvPr/>
        </p:nvSpPr>
        <p:spPr>
          <a:xfrm>
            <a:off x="8366760" y="5349240"/>
            <a:ext cx="3154680" cy="640080"/>
          </a:xfrm>
          <a:prstGeom prst="rect">
            <a:avLst/>
          </a:prstGeom>
          <a:noFill/>
        </p:spPr>
        <p:txBody>
          <a:bodyPr wrap="square" lIns="45720" rIns="45720" tIns="27432" bIns="27432" anchor="t">
            <a:noAutofit/>
          </a:bodyPr>
          <a:lstStyle/>
          <a:p>
            <a:pPr algn="ctr"/>
            <a:r>
              <a:rPr sz="1400" b="0" i="0">
                <a:solidFill>
                  <a:srgbClr val="335B74"/>
                </a:solidFill>
                <a:latin typeface="Calibri"/>
              </a:rPr>
              <a:t>swarm vs genetic: a statistical tie in practice</a:t>
            </a:r>
          </a:p>
        </p:txBody>
      </p:sp>
    </p:spTree>
    <p:extLst>
      <p:ext uri="{BB962C8B-B14F-4D97-AF65-F5344CB8AC3E}">
        <p14:creationId xmlns:p14="http://schemas.microsoft.com/office/powerpoint/2010/main" val="24182639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search budget</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Budget chart"/>
          <p:cNvGraphicFramePr>
            <a:graphicFrameLocks noGrp="1"/>
          </p:cNvGraphicFramePr>
          <p:nvPr/>
        </p:nvGraphicFramePr>
        <p:xfrm>
          <a:off x="548640" y="1371600"/>
          <a:ext cx="7315200" cy="4572000"/>
        </p:xfrm>
        <a:graphic>
          <a:graphicData uri="http://schemas.openxmlformats.org/drawingml/2006/chart">
            <c:chart xmlns:c="http://schemas.openxmlformats.org/drawingml/2006/chart" r:id="rId4"/>
          </a:graphicData>
        </a:graphic>
      </p:graphicFrame>
      <p:sp>
        <p:nvSpPr>
          <p:cNvPr id="9" name="Budget callout 1"/>
          <p:cNvSpPr/>
          <p:nvPr/>
        </p:nvSpPr>
        <p:spPr>
          <a:xfrm>
            <a:off x="8183879" y="141732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366760" y="1828800"/>
            <a:ext cx="548640" cy="54864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1" name="TextBox 10"/>
          <p:cNvSpPr txBox="1"/>
          <p:nvPr/>
        </p:nvSpPr>
        <p:spPr>
          <a:xfrm>
            <a:off x="9052560" y="1554480"/>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Up to 50 iterations</a:t>
            </a:r>
          </a:p>
        </p:txBody>
      </p:sp>
      <p:sp>
        <p:nvSpPr>
          <p:cNvPr id="12" name="TextBox 11"/>
          <p:cNvSpPr txBox="1"/>
          <p:nvPr/>
        </p:nvSpPr>
        <p:spPr>
          <a:xfrm>
            <a:off x="9052560" y="2011680"/>
            <a:ext cx="2606040" cy="731520"/>
          </a:xfrm>
          <a:prstGeom prst="rect">
            <a:avLst/>
          </a:prstGeom>
          <a:noFill/>
        </p:spPr>
        <p:txBody>
          <a:bodyPr wrap="square" lIns="45720" rIns="45720" tIns="27432" bIns="27432" anchor="t">
            <a:noAutofit/>
          </a:bodyPr>
          <a:lstStyle/>
          <a:p>
            <a:pPr algn="l"/>
            <a:r>
              <a:rPr sz="1400" b="0" i="0">
                <a:solidFill>
                  <a:srgbClr val="335B74"/>
                </a:solidFill>
                <a:latin typeface="Calibri"/>
              </a:rPr>
              <a:t>Swarm ahead in 5 of 5 seeds</a:t>
            </a:r>
          </a:p>
        </p:txBody>
      </p:sp>
      <p:sp>
        <p:nvSpPr>
          <p:cNvPr id="13" name="Budget callout 2"/>
          <p:cNvSpPr/>
          <p:nvPr/>
        </p:nvSpPr>
        <p:spPr>
          <a:xfrm>
            <a:off x="8183879" y="297180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366760" y="3383280"/>
            <a:ext cx="548640" cy="54864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5" name="TextBox 14"/>
          <p:cNvSpPr txBox="1"/>
          <p:nvPr/>
        </p:nvSpPr>
        <p:spPr>
          <a:xfrm>
            <a:off x="9052560" y="3108960"/>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From 100 iterations</a:t>
            </a:r>
          </a:p>
        </p:txBody>
      </p:sp>
      <p:sp>
        <p:nvSpPr>
          <p:cNvPr id="16" name="TextBox 15"/>
          <p:cNvSpPr txBox="1"/>
          <p:nvPr/>
        </p:nvSpPr>
        <p:spPr>
          <a:xfrm>
            <a:off x="9052560" y="3566160"/>
            <a:ext cx="2606040" cy="731520"/>
          </a:xfrm>
          <a:prstGeom prst="rect">
            <a:avLst/>
          </a:prstGeom>
          <a:noFill/>
        </p:spPr>
        <p:txBody>
          <a:bodyPr wrap="square" lIns="45720" rIns="45720" tIns="27432" bIns="27432" anchor="t">
            <a:noAutofit/>
          </a:bodyPr>
          <a:lstStyle/>
          <a:p>
            <a:pPr algn="l"/>
            <a:r>
              <a:rPr sz="1400" b="0" i="0">
                <a:solidFill>
                  <a:srgbClr val="335B74"/>
                </a:solidFill>
                <a:latin typeface="Calibri"/>
              </a:rPr>
              <a:t>Genetic algorithm ahead in 5 of 5 seeds</a:t>
            </a:r>
          </a:p>
        </p:txBody>
      </p:sp>
      <p:sp>
        <p:nvSpPr>
          <p:cNvPr id="17" name="Budget callout 3"/>
          <p:cNvSpPr/>
          <p:nvPr/>
        </p:nvSpPr>
        <p:spPr>
          <a:xfrm>
            <a:off x="8183879" y="4526280"/>
            <a:ext cx="3520440" cy="137160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366760" y="4937760"/>
            <a:ext cx="548640" cy="548640"/>
          </a:xfrm>
          <a:prstGeom prst="ellipse">
            <a:avLst/>
          </a:prstGeom>
          <a:solidFill>
            <a:srgbClr val="8A97A8"/>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p>
        </p:txBody>
      </p:sp>
      <p:sp>
        <p:nvSpPr>
          <p:cNvPr id="19" name="TextBox 18"/>
          <p:cNvSpPr txBox="1"/>
          <p:nvPr/>
        </p:nvSpPr>
        <p:spPr>
          <a:xfrm>
            <a:off x="9052560" y="4663440"/>
            <a:ext cx="2606040" cy="457200"/>
          </a:xfrm>
          <a:prstGeom prst="rect">
            <a:avLst/>
          </a:prstGeom>
          <a:noFill/>
        </p:spPr>
        <p:txBody>
          <a:bodyPr wrap="square" lIns="45720" rIns="45720" tIns="27432" bIns="27432" anchor="t">
            <a:noAutofit/>
          </a:bodyPr>
          <a:lstStyle/>
          <a:p>
            <a:pPr algn="l"/>
            <a:r>
              <a:rPr sz="1800" b="1" i="0">
                <a:solidFill>
                  <a:srgbClr val="335B74"/>
                </a:solidFill>
                <a:latin typeface="Calibri"/>
              </a:rPr>
              <a:t>Random search</a:t>
            </a:r>
          </a:p>
        </p:txBody>
      </p:sp>
      <p:sp>
        <p:nvSpPr>
          <p:cNvPr id="20" name="TextBox 19"/>
          <p:cNvSpPr txBox="1"/>
          <p:nvPr/>
        </p:nvSpPr>
        <p:spPr>
          <a:xfrm>
            <a:off x="9052560" y="5120640"/>
            <a:ext cx="2606040" cy="731520"/>
          </a:xfrm>
          <a:prstGeom prst="rect">
            <a:avLst/>
          </a:prstGeom>
          <a:noFill/>
        </p:spPr>
        <p:txBody>
          <a:bodyPr wrap="square" lIns="45720" rIns="45720" tIns="27432" bIns="27432" anchor="t">
            <a:noAutofit/>
          </a:bodyPr>
          <a:lstStyle/>
          <a:p>
            <a:pPr algn="l"/>
            <a:r>
              <a:rPr sz="1400" b="0" i="0">
                <a:solidFill>
                  <a:srgbClr val="335B74"/>
                </a:solidFill>
                <a:latin typeface="Calibri"/>
              </a:rPr>
              <a:t>Stays far behind at every budget</a:t>
            </a:r>
          </a:p>
        </p:txBody>
      </p:sp>
    </p:spTree>
    <p:extLst>
      <p:ext uri="{BB962C8B-B14F-4D97-AF65-F5344CB8AC3E}">
        <p14:creationId xmlns:p14="http://schemas.microsoft.com/office/powerpoint/2010/main" val="24182639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held-out performance</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graphicFrame>
        <p:nvGraphicFramePr>
          <p:cNvPr id="8" name="Sharpe chart"/>
          <p:cNvGraphicFramePr>
            <a:graphicFrameLocks noGrp="1"/>
          </p:cNvGraphicFramePr>
          <p:nvPr/>
        </p:nvGraphicFramePr>
        <p:xfrm>
          <a:off x="548640" y="1325880"/>
          <a:ext cx="5760720" cy="3657600"/>
        </p:xfrm>
        <a:graphic>
          <a:graphicData uri="http://schemas.openxmlformats.org/drawingml/2006/chart">
            <c:chart xmlns:c="http://schemas.openxmlformats.org/drawingml/2006/chart" r:id="rId4"/>
          </a:graphicData>
        </a:graphic>
      </p:graphicFrame>
      <p:graphicFrame>
        <p:nvGraphicFramePr>
          <p:cNvPr id="9" name="Volatility chart"/>
          <p:cNvGraphicFramePr>
            <a:graphicFrameLocks noGrp="1"/>
          </p:cNvGraphicFramePr>
          <p:nvPr/>
        </p:nvGraphicFramePr>
        <p:xfrm>
          <a:off x="6492240" y="1325880"/>
          <a:ext cx="5212080" cy="3657600"/>
        </p:xfrm>
        <a:graphic>
          <a:graphicData uri="http://schemas.openxmlformats.org/drawingml/2006/chart">
            <c:chart xmlns:c="http://schemas.openxmlformats.org/drawingml/2006/chart" r:id="rId5"/>
          </a:graphicData>
        </a:graphic>
      </p:graphicFrame>
      <p:sp>
        <p:nvSpPr>
          <p:cNvPr id="10" name="Takeaway banner"/>
          <p:cNvSpPr/>
          <p:nvPr/>
        </p:nvSpPr>
        <p:spPr>
          <a:xfrm>
            <a:off x="594360" y="5212080"/>
            <a:ext cx="11109960" cy="868680"/>
          </a:xfrm>
          <a:prstGeom prst="roundRect">
            <a:avLst>
              <a:gd name="adj" fmla="val 8000"/>
            </a:avLst>
          </a:prstGeom>
          <a:solidFill>
            <a:srgbClr val="335B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230368"/>
            <a:ext cx="10744200" cy="822960"/>
          </a:xfrm>
          <a:prstGeom prst="rect">
            <a:avLst/>
          </a:prstGeom>
          <a:noFill/>
        </p:spPr>
        <p:txBody>
          <a:bodyPr wrap="square" lIns="45720" rIns="45720" tIns="27432" bIns="27432" anchor="ctr">
            <a:noAutofit/>
          </a:bodyPr>
          <a:lstStyle/>
          <a:p>
            <a:pPr algn="ctr"/>
            <a:r>
              <a:rPr sz="2200" b="1" i="0">
                <a:solidFill>
                  <a:srgbClr val="FFFFFF"/>
                </a:solidFill>
                <a:latin typeface="Calibri"/>
              </a:rPr>
              <a:t>Return does not transfer to new data. Risk does: lower held-out volatility in 30 of 30 markets</a:t>
            </a:r>
          </a:p>
        </p:txBody>
      </p:sp>
    </p:spTree>
    <p:extLst>
      <p:ext uri="{BB962C8B-B14F-4D97-AF65-F5344CB8AC3E}">
        <p14:creationId xmlns:p14="http://schemas.microsoft.com/office/powerpoint/2010/main" val="24182639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Results: robustness checks</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10</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Robustness tile 1"/>
          <p:cNvSpPr/>
          <p:nvPr/>
        </p:nvSpPr>
        <p:spPr>
          <a:xfrm>
            <a:off x="594360" y="1417320"/>
            <a:ext cx="3520440" cy="44805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bustness tile 2"/>
          <p:cNvSpPr/>
          <p:nvPr/>
        </p:nvSpPr>
        <p:spPr>
          <a:xfrm>
            <a:off x="4389120" y="1417320"/>
            <a:ext cx="3520440" cy="44805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bustness tile 3"/>
          <p:cNvSpPr/>
          <p:nvPr/>
        </p:nvSpPr>
        <p:spPr>
          <a:xfrm>
            <a:off x="8183880" y="1417320"/>
            <a:ext cx="3520440" cy="44805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1508760"/>
            <a:ext cx="3520440" cy="457200"/>
          </a:xfrm>
          <a:prstGeom prst="rect">
            <a:avLst/>
          </a:prstGeom>
          <a:noFill/>
        </p:spPr>
        <p:txBody>
          <a:bodyPr wrap="square" lIns="45720" rIns="45720" tIns="27432" bIns="27432" anchor="t">
            <a:noAutofit/>
          </a:bodyPr>
          <a:lstStyle/>
          <a:p>
            <a:pPr algn="ctr"/>
            <a:r>
              <a:rPr sz="2000" b="1" i="0">
                <a:solidFill>
                  <a:srgbClr val="2683C6"/>
                </a:solidFill>
                <a:latin typeface="Calibri"/>
              </a:rPr>
              <a:t>Scale</a:t>
            </a:r>
          </a:p>
        </p:txBody>
      </p:sp>
      <p:graphicFrame>
        <p:nvGraphicFramePr>
          <p:cNvPr id="12" name="Runtime chart"/>
          <p:cNvGraphicFramePr>
            <a:graphicFrameLocks noGrp="1"/>
          </p:cNvGraphicFramePr>
          <p:nvPr/>
        </p:nvGraphicFramePr>
        <p:xfrm>
          <a:off x="731520" y="2011680"/>
          <a:ext cx="3246120" cy="2743200"/>
        </p:xfrm>
        <a:graphic>
          <a:graphicData uri="http://schemas.openxmlformats.org/drawingml/2006/chart">
            <c:chart xmlns:c="http://schemas.openxmlformats.org/drawingml/2006/chart" r:id="rId4"/>
          </a:graphicData>
        </a:graphic>
      </p:graphicFrame>
      <p:sp>
        <p:nvSpPr>
          <p:cNvPr id="13" name="TextBox 12"/>
          <p:cNvSpPr txBox="1"/>
          <p:nvPr/>
        </p:nvSpPr>
        <p:spPr>
          <a:xfrm>
            <a:off x="731520" y="4846320"/>
            <a:ext cx="3246120" cy="914400"/>
          </a:xfrm>
          <a:prstGeom prst="rect">
            <a:avLst/>
          </a:prstGeom>
          <a:noFill/>
        </p:spPr>
        <p:txBody>
          <a:bodyPr wrap="square" lIns="45720" rIns="45720" tIns="27432" bIns="27432" anchor="t">
            <a:noAutofit/>
          </a:bodyPr>
          <a:lstStyle/>
          <a:p>
            <a:pPr algn="ctr"/>
            <a:r>
              <a:rPr sz="1300" b="0" i="0">
                <a:solidFill>
                  <a:srgbClr val="335B74"/>
                </a:solidFill>
                <a:latin typeface="Calibri"/>
              </a:rPr>
              <a:t>Seconds per run, 10 to 60 assets</a:t>
            </a:r>
          </a:p>
          <a:p>
            <a:pPr algn="ctr"/>
            <a:r>
              <a:rPr sz="1400" b="1" i="0">
                <a:solidFill>
                  <a:srgbClr val="335B74"/>
                </a:solidFill>
                <a:latin typeface="Calibri"/>
              </a:rPr>
              <a:t>about 1.5 s whatever the size</a:t>
            </a:r>
          </a:p>
        </p:txBody>
      </p:sp>
      <p:sp>
        <p:nvSpPr>
          <p:cNvPr id="14" name="TextBox 13"/>
          <p:cNvSpPr txBox="1"/>
          <p:nvPr/>
        </p:nvSpPr>
        <p:spPr>
          <a:xfrm>
            <a:off x="4389120" y="1508760"/>
            <a:ext cx="3520440" cy="457200"/>
          </a:xfrm>
          <a:prstGeom prst="rect">
            <a:avLst/>
          </a:prstGeom>
          <a:noFill/>
        </p:spPr>
        <p:txBody>
          <a:bodyPr wrap="square" lIns="45720" rIns="45720" tIns="27432" bIns="27432" anchor="t">
            <a:noAutofit/>
          </a:bodyPr>
          <a:lstStyle/>
          <a:p>
            <a:pPr algn="ctr"/>
            <a:r>
              <a:rPr sz="2000" b="1" i="0">
                <a:solidFill>
                  <a:srgbClr val="42BA97"/>
                </a:solidFill>
                <a:latin typeface="Calibri"/>
              </a:rPr>
              <a:t>Constraints</a:t>
            </a:r>
          </a:p>
        </p:txBody>
      </p:sp>
      <p:sp>
        <p:nvSpPr>
          <p:cNvPr id="15" name="TextBox 14"/>
          <p:cNvSpPr txBox="1"/>
          <p:nvPr/>
        </p:nvSpPr>
        <p:spPr>
          <a:xfrm>
            <a:off x="4389120" y="2286000"/>
            <a:ext cx="3520440" cy="1371600"/>
          </a:xfrm>
          <a:prstGeom prst="rect">
            <a:avLst/>
          </a:prstGeom>
          <a:noFill/>
        </p:spPr>
        <p:txBody>
          <a:bodyPr wrap="square" lIns="45720" rIns="45720" tIns="27432" bIns="27432" anchor="t">
            <a:noAutofit/>
          </a:bodyPr>
          <a:lstStyle/>
          <a:p>
            <a:pPr algn="ctr"/>
            <a:r>
              <a:rPr sz="9600" b="1" i="0">
                <a:solidFill>
                  <a:srgbClr val="42BA97"/>
                </a:solidFill>
                <a:latin typeface="Calibri"/>
              </a:rPr>
              <a:t>0</a:t>
            </a:r>
          </a:p>
        </p:txBody>
      </p:sp>
      <p:sp>
        <p:nvSpPr>
          <p:cNvPr id="16" name="TextBox 15"/>
          <p:cNvSpPr txBox="1"/>
          <p:nvPr/>
        </p:nvSpPr>
        <p:spPr>
          <a:xfrm>
            <a:off x="4572000" y="4023360"/>
            <a:ext cx="3154680" cy="1645920"/>
          </a:xfrm>
          <a:prstGeom prst="rect">
            <a:avLst/>
          </a:prstGeom>
          <a:noFill/>
        </p:spPr>
        <p:txBody>
          <a:bodyPr wrap="square" lIns="45720" rIns="45720" tIns="27432" bIns="27432" anchor="t">
            <a:noAutofit/>
          </a:bodyPr>
          <a:lstStyle/>
          <a:p>
            <a:pPr algn="ctr"/>
            <a:r>
              <a:rPr sz="1600" b="0" i="0">
                <a:solidFill>
                  <a:srgbClr val="335B74"/>
                </a:solidFill>
                <a:latin typeface="Calibri"/>
              </a:rPr>
              <a:t>violations of the cap or the holding limit, for limits of none, 10, 8 and 5 holdings</a:t>
            </a:r>
          </a:p>
        </p:txBody>
      </p:sp>
      <p:sp>
        <p:nvSpPr>
          <p:cNvPr id="17" name="TextBox 16"/>
          <p:cNvSpPr txBox="1"/>
          <p:nvPr/>
        </p:nvSpPr>
        <p:spPr>
          <a:xfrm>
            <a:off x="8183879" y="1508760"/>
            <a:ext cx="3520440" cy="457200"/>
          </a:xfrm>
          <a:prstGeom prst="rect">
            <a:avLst/>
          </a:prstGeom>
          <a:noFill/>
        </p:spPr>
        <p:txBody>
          <a:bodyPr wrap="square" lIns="45720" rIns="45720" tIns="27432" bIns="27432" anchor="t">
            <a:noAutofit/>
          </a:bodyPr>
          <a:lstStyle/>
          <a:p>
            <a:pPr algn="ctr"/>
            <a:r>
              <a:rPr sz="2000" b="1" i="0">
                <a:solidFill>
                  <a:srgbClr val="D9731A"/>
                </a:solidFill>
                <a:latin typeface="Calibri"/>
              </a:rPr>
              <a:t>Operator ablation</a:t>
            </a:r>
          </a:p>
        </p:txBody>
      </p:sp>
      <p:sp>
        <p:nvSpPr>
          <p:cNvPr id="18" name="TextBox 17"/>
          <p:cNvSpPr txBox="1"/>
          <p:nvPr/>
        </p:nvSpPr>
        <p:spPr>
          <a:xfrm>
            <a:off x="8183879" y="2468880"/>
            <a:ext cx="3520440" cy="1097280"/>
          </a:xfrm>
          <a:prstGeom prst="rect">
            <a:avLst/>
          </a:prstGeom>
          <a:noFill/>
        </p:spPr>
        <p:txBody>
          <a:bodyPr wrap="square" lIns="45720" rIns="45720" tIns="27432" bIns="27432" anchor="t">
            <a:noAutofit/>
          </a:bodyPr>
          <a:lstStyle/>
          <a:p>
            <a:pPr algn="ctr"/>
            <a:r>
              <a:rPr sz="4400" b="1" i="0">
                <a:solidFill>
                  <a:srgbClr val="D9731A"/>
                </a:solidFill>
                <a:latin typeface="Calibri"/>
              </a:rPr>
              <a:t>No gain</a:t>
            </a:r>
          </a:p>
        </p:txBody>
      </p:sp>
      <p:sp>
        <p:nvSpPr>
          <p:cNvPr id="19" name="TextBox 18"/>
          <p:cNvSpPr txBox="1"/>
          <p:nvPr/>
        </p:nvSpPr>
        <p:spPr>
          <a:xfrm>
            <a:off x="8366760" y="3657600"/>
            <a:ext cx="3154680" cy="2011680"/>
          </a:xfrm>
          <a:prstGeom prst="rect">
            <a:avLst/>
          </a:prstGeom>
          <a:noFill/>
        </p:spPr>
        <p:txBody>
          <a:bodyPr wrap="square" lIns="45720" rIns="45720" tIns="27432" bIns="27432" anchor="t">
            <a:noAutofit/>
          </a:bodyPr>
          <a:lstStyle/>
          <a:p>
            <a:pPr algn="ctr">
              <a:spcAft>
                <a:spcPts val="1000"/>
              </a:spcAft>
            </a:pPr>
            <a:r>
              <a:rPr sz="1600" b="0" i="0">
                <a:solidFill>
                  <a:srgbClr val="335B74"/>
                </a:solidFill>
                <a:latin typeface="Calibri"/>
              </a:rPr>
              <a:t>No turbulence: p = 0.64</a:t>
            </a:r>
          </a:p>
          <a:p>
            <a:pPr algn="ctr">
              <a:spcAft>
                <a:spcPts val="1000"/>
              </a:spcAft>
            </a:pPr>
            <a:r>
              <a:rPr sz="1600" b="0" i="0">
                <a:solidFill>
                  <a:srgbClr val="335B74"/>
                </a:solidFill>
                <a:latin typeface="Calibri"/>
              </a:rPr>
              <a:t>No swap mutation: p = 0.55</a:t>
            </a:r>
          </a:p>
          <a:p>
            <a:pPr algn="ctr">
              <a:spcAft>
                <a:spcPts val="1000"/>
              </a:spcAft>
            </a:pPr>
            <a:r>
              <a:rPr sz="1400" b="1" i="0">
                <a:solidFill>
                  <a:srgbClr val="335B74"/>
                </a:solidFill>
                <a:latin typeface="Calibri"/>
              </a:rPr>
              <a:t>Neither changes front quality at these settings</a:t>
            </a:r>
          </a:p>
        </p:txBody>
      </p:sp>
    </p:spTree>
    <p:extLst>
      <p:ext uri="{BB962C8B-B14F-4D97-AF65-F5344CB8AC3E}">
        <p14:creationId xmlns:p14="http://schemas.microsoft.com/office/powerpoint/2010/main" val="24182639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Conclusion</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11</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Takeaway 1"/>
          <p:cNvSpPr/>
          <p:nvPr/>
        </p:nvSpPr>
        <p:spPr>
          <a:xfrm>
            <a:off x="594360" y="1463040"/>
            <a:ext cx="3520440" cy="3108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874519" y="1691640"/>
            <a:ext cx="960120" cy="960120"/>
          </a:xfrm>
          <a:prstGeom prst="ellipse">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600" b="1" i="0">
                <a:solidFill>
                  <a:srgbClr val="FFFFFF"/>
                </a:solidFill>
                <a:latin typeface="Calibri"/>
              </a:rPr>
              <a:t>1</a:t>
            </a:r>
          </a:p>
        </p:txBody>
      </p:sp>
      <p:sp>
        <p:nvSpPr>
          <p:cNvPr id="10" name="TextBox 9"/>
          <p:cNvSpPr txBox="1"/>
          <p:nvPr/>
        </p:nvSpPr>
        <p:spPr>
          <a:xfrm>
            <a:off x="731520" y="2834640"/>
            <a:ext cx="3246120" cy="548640"/>
          </a:xfrm>
          <a:prstGeom prst="rect">
            <a:avLst/>
          </a:prstGeom>
          <a:noFill/>
        </p:spPr>
        <p:txBody>
          <a:bodyPr wrap="square" lIns="45720" rIns="45720" tIns="27432" bIns="27432" anchor="t">
            <a:noAutofit/>
          </a:bodyPr>
          <a:lstStyle/>
          <a:p>
            <a:pPr algn="ctr"/>
            <a:r>
              <a:rPr sz="2200" b="1" i="0">
                <a:solidFill>
                  <a:srgbClr val="335B74"/>
                </a:solidFill>
                <a:latin typeface="Calibri"/>
              </a:rPr>
              <a:t>Both optimisers work</a:t>
            </a:r>
          </a:p>
        </p:txBody>
      </p:sp>
      <p:sp>
        <p:nvSpPr>
          <p:cNvPr id="11" name="TextBox 10"/>
          <p:cNvSpPr txBox="1"/>
          <p:nvPr/>
        </p:nvSpPr>
        <p:spPr>
          <a:xfrm>
            <a:off x="822960" y="3429000"/>
            <a:ext cx="3063240" cy="1097280"/>
          </a:xfrm>
          <a:prstGeom prst="rect">
            <a:avLst/>
          </a:prstGeom>
          <a:noFill/>
        </p:spPr>
        <p:txBody>
          <a:bodyPr wrap="square" lIns="45720" rIns="45720" tIns="27432" bIns="27432" anchor="t">
            <a:noAutofit/>
          </a:bodyPr>
          <a:lstStyle/>
          <a:p>
            <a:pPr algn="ctr"/>
            <a:r>
              <a:rPr sz="1600" b="0" i="0">
                <a:solidFill>
                  <a:srgbClr val="335B74"/>
                </a:solidFill>
                <a:latin typeface="Calibri"/>
              </a:rPr>
              <a:t>Far better fronts than random search; every constraint respected</a:t>
            </a:r>
          </a:p>
        </p:txBody>
      </p:sp>
      <p:sp>
        <p:nvSpPr>
          <p:cNvPr id="12" name="Takeaway 2"/>
          <p:cNvSpPr/>
          <p:nvPr/>
        </p:nvSpPr>
        <p:spPr>
          <a:xfrm>
            <a:off x="4389120" y="1463040"/>
            <a:ext cx="3520440" cy="3108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669280" y="1691640"/>
            <a:ext cx="960120" cy="960120"/>
          </a:xfrm>
          <a:prstGeom prst="ellipse">
            <a:avLst/>
          </a:prstGeom>
          <a:solidFill>
            <a:srgbClr val="D9731A"/>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600" b="1" i="0">
                <a:solidFill>
                  <a:srgbClr val="FFFFFF"/>
                </a:solidFill>
                <a:latin typeface="Calibri"/>
              </a:rPr>
              <a:t>2</a:t>
            </a:r>
          </a:p>
        </p:txBody>
      </p:sp>
      <p:sp>
        <p:nvSpPr>
          <p:cNvPr id="14" name="TextBox 13"/>
          <p:cNvSpPr txBox="1"/>
          <p:nvPr/>
        </p:nvSpPr>
        <p:spPr>
          <a:xfrm>
            <a:off x="4526280" y="2834640"/>
            <a:ext cx="3246120" cy="548640"/>
          </a:xfrm>
          <a:prstGeom prst="rect">
            <a:avLst/>
          </a:prstGeom>
          <a:noFill/>
        </p:spPr>
        <p:txBody>
          <a:bodyPr wrap="square" lIns="45720" rIns="45720" tIns="27432" bIns="27432" anchor="t">
            <a:noAutofit/>
          </a:bodyPr>
          <a:lstStyle/>
          <a:p>
            <a:pPr algn="ctr"/>
            <a:r>
              <a:rPr sz="2200" b="1" i="0">
                <a:solidFill>
                  <a:srgbClr val="335B74"/>
                </a:solidFill>
                <a:latin typeface="Calibri"/>
              </a:rPr>
              <a:t>Return does not transfer</a:t>
            </a:r>
          </a:p>
        </p:txBody>
      </p:sp>
      <p:sp>
        <p:nvSpPr>
          <p:cNvPr id="15" name="TextBox 14"/>
          <p:cNvSpPr txBox="1"/>
          <p:nvPr/>
        </p:nvSpPr>
        <p:spPr>
          <a:xfrm>
            <a:off x="4617720" y="3429000"/>
            <a:ext cx="3063240" cy="1097280"/>
          </a:xfrm>
          <a:prstGeom prst="rect">
            <a:avLst/>
          </a:prstGeom>
          <a:noFill/>
        </p:spPr>
        <p:txBody>
          <a:bodyPr wrap="square" lIns="45720" rIns="45720" tIns="27432" bIns="27432" anchor="t">
            <a:noAutofit/>
          </a:bodyPr>
          <a:lstStyle/>
          <a:p>
            <a:pPr algn="ctr"/>
            <a:r>
              <a:rPr sz="1600" b="0" i="0">
                <a:solidFill>
                  <a:srgbClr val="335B74"/>
                </a:solidFill>
                <a:latin typeface="Calibri"/>
              </a:rPr>
              <a:t>Best-Sharpe picks: 1.34 in training, 0.53 held out; equal weight 0.59</a:t>
            </a:r>
          </a:p>
        </p:txBody>
      </p:sp>
      <p:sp>
        <p:nvSpPr>
          <p:cNvPr id="16" name="Takeaway 3"/>
          <p:cNvSpPr/>
          <p:nvPr/>
        </p:nvSpPr>
        <p:spPr>
          <a:xfrm>
            <a:off x="8183880" y="1463040"/>
            <a:ext cx="3520440" cy="3108960"/>
          </a:xfrm>
          <a:prstGeom prst="roundRect">
            <a:avLst>
              <a:gd name="adj" fmla="val 8000"/>
            </a:avLst>
          </a:prstGeom>
          <a:solidFill>
            <a:srgbClr val="F3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64040" y="1691640"/>
            <a:ext cx="960120" cy="960120"/>
          </a:xfrm>
          <a:prstGeom prst="ellipse">
            <a:avLst/>
          </a:prstGeom>
          <a:solidFill>
            <a:srgbClr val="42BA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noAutofit/>
          </a:bodyPr>
          <a:lstStyle/>
          <a:p>
            <a:pPr algn="ctr"/>
            <a:r>
              <a:rPr sz="3600" b="1" i="0">
                <a:solidFill>
                  <a:srgbClr val="FFFFFF"/>
                </a:solidFill>
                <a:latin typeface="Calibri"/>
              </a:rPr>
              <a:t>3</a:t>
            </a:r>
          </a:p>
        </p:txBody>
      </p:sp>
      <p:sp>
        <p:nvSpPr>
          <p:cNvPr id="18" name="TextBox 17"/>
          <p:cNvSpPr txBox="1"/>
          <p:nvPr/>
        </p:nvSpPr>
        <p:spPr>
          <a:xfrm>
            <a:off x="8321040" y="2834640"/>
            <a:ext cx="3246120" cy="548640"/>
          </a:xfrm>
          <a:prstGeom prst="rect">
            <a:avLst/>
          </a:prstGeom>
          <a:noFill/>
        </p:spPr>
        <p:txBody>
          <a:bodyPr wrap="square" lIns="45720" rIns="45720" tIns="27432" bIns="27432" anchor="t">
            <a:noAutofit/>
          </a:bodyPr>
          <a:lstStyle/>
          <a:p>
            <a:pPr algn="ctr"/>
            <a:r>
              <a:rPr sz="2200" b="1" i="0">
                <a:solidFill>
                  <a:srgbClr val="335B74"/>
                </a:solidFill>
                <a:latin typeface="Calibri"/>
              </a:rPr>
              <a:t>Risk does</a:t>
            </a:r>
          </a:p>
        </p:txBody>
      </p:sp>
      <p:sp>
        <p:nvSpPr>
          <p:cNvPr id="19" name="TextBox 18"/>
          <p:cNvSpPr txBox="1"/>
          <p:nvPr/>
        </p:nvSpPr>
        <p:spPr>
          <a:xfrm>
            <a:off x="8412480" y="3429000"/>
            <a:ext cx="3063240" cy="1097280"/>
          </a:xfrm>
          <a:prstGeom prst="rect">
            <a:avLst/>
          </a:prstGeom>
          <a:noFill/>
        </p:spPr>
        <p:txBody>
          <a:bodyPr wrap="square" lIns="45720" rIns="45720" tIns="27432" bIns="27432" anchor="t">
            <a:noAutofit/>
          </a:bodyPr>
          <a:lstStyle/>
          <a:p>
            <a:pPr algn="ctr"/>
            <a:r>
              <a:rPr sz="1600" b="0" i="0">
                <a:solidFill>
                  <a:srgbClr val="335B74"/>
                </a:solidFill>
                <a:latin typeface="Calibri"/>
              </a:rPr>
              <a:t>Minimum-volatility picks were calmer than equal weight in 30 of 30 markets</a:t>
            </a:r>
          </a:p>
        </p:txBody>
      </p:sp>
      <p:sp>
        <p:nvSpPr>
          <p:cNvPr id="20" name="TextBox 19"/>
          <p:cNvSpPr txBox="1"/>
          <p:nvPr/>
        </p:nvSpPr>
        <p:spPr>
          <a:xfrm>
            <a:off x="594360" y="4846320"/>
            <a:ext cx="5486400" cy="365760"/>
          </a:xfrm>
          <a:prstGeom prst="rect">
            <a:avLst/>
          </a:prstGeom>
          <a:noFill/>
        </p:spPr>
        <p:txBody>
          <a:bodyPr wrap="square" lIns="45720" rIns="45720" tIns="27432" bIns="27432" anchor="t">
            <a:noAutofit/>
          </a:bodyPr>
          <a:lstStyle/>
          <a:p>
            <a:pPr algn="l"/>
            <a:r>
              <a:rPr sz="1600" b="1" i="0">
                <a:solidFill>
                  <a:srgbClr val="2683C6"/>
                </a:solidFill>
                <a:latin typeface="Calibri"/>
              </a:rPr>
              <a:t>Future scope</a:t>
            </a:r>
          </a:p>
        </p:txBody>
      </p:sp>
      <p:sp>
        <p:nvSpPr>
          <p:cNvPr id="21" name="Rounded Rectangle 20"/>
          <p:cNvSpPr/>
          <p:nvPr/>
        </p:nvSpPr>
        <p:spPr>
          <a:xfrm>
            <a:off x="594360" y="5303520"/>
            <a:ext cx="246888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Real market data</a:t>
            </a:r>
          </a:p>
        </p:txBody>
      </p:sp>
      <p:sp>
        <p:nvSpPr>
          <p:cNvPr id="22" name="Rounded Rectangle 21"/>
          <p:cNvSpPr/>
          <p:nvPr/>
        </p:nvSpPr>
        <p:spPr>
          <a:xfrm>
            <a:off x="3172968" y="5303520"/>
            <a:ext cx="274320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Shrinkage estimators</a:t>
            </a:r>
          </a:p>
        </p:txBody>
      </p:sp>
      <p:sp>
        <p:nvSpPr>
          <p:cNvPr id="23" name="Rounded Rectangle 22"/>
          <p:cNvSpPr/>
          <p:nvPr/>
        </p:nvSpPr>
        <p:spPr>
          <a:xfrm>
            <a:off x="6025896" y="5303520"/>
            <a:ext cx="320040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Trading costs as an objective</a:t>
            </a:r>
          </a:p>
        </p:txBody>
      </p:sp>
      <p:sp>
        <p:nvSpPr>
          <p:cNvPr id="24" name="Rounded Rectangle 23"/>
          <p:cNvSpPr/>
          <p:nvPr/>
        </p:nvSpPr>
        <p:spPr>
          <a:xfrm>
            <a:off x="9336024" y="5303520"/>
            <a:ext cx="2377440" cy="548640"/>
          </a:xfrm>
          <a:prstGeom prst="roundRect">
            <a:avLst>
              <a:gd name="adj" fmla="val 40000"/>
            </a:avLst>
          </a:prstGeom>
          <a:solidFill>
            <a:srgbClr val="FFFFFF"/>
          </a:solidFill>
          <a:ln w="12700">
            <a:solidFill>
              <a:srgbClr val="D5DEE5"/>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500" b="0" i="0">
                <a:solidFill>
                  <a:srgbClr val="335B74"/>
                </a:solidFill>
                <a:latin typeface="Calibri"/>
              </a:rPr>
              <a:t>Hosted classroom version</a:t>
            </a:r>
          </a:p>
        </p:txBody>
      </p:sp>
    </p:spTree>
    <p:extLst>
      <p:ext uri="{BB962C8B-B14F-4D97-AF65-F5344CB8AC3E}">
        <p14:creationId xmlns:p14="http://schemas.microsoft.com/office/powerpoint/2010/main" val="685999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189D-22D1-4D1A-9E04-C6134EC51F8B}"/>
              </a:ext>
            </a:extLst>
          </p:cNvPr>
          <p:cNvSpPr>
            <a:spLocks noGrp="1"/>
          </p:cNvSpPr>
          <p:nvPr>
            <p:ph type="ctrTitle"/>
          </p:nvPr>
        </p:nvSpPr>
        <p:spPr>
          <a:xfrm>
            <a:off x="1684868" y="203198"/>
            <a:ext cx="9694332" cy="880535"/>
          </a:xfrm>
        </p:spPr>
        <p:txBody>
          <a:bodyPr>
            <a:noAutofit/>
          </a:bodyPr>
          <a:lstStyle/>
          <a:p>
            <a:r>
              <a:rPr sz="3600"/>
              <a:t>Program Outcomes Attained</a:t>
            </a:r>
          </a:p>
        </p:txBody>
      </p:sp>
      <p:pic>
        <p:nvPicPr>
          <p:cNvPr id="5" name="Graphic 4">
            <a:extLst>
              <a:ext uri="{FF2B5EF4-FFF2-40B4-BE49-F238E27FC236}">
                <a16:creationId xmlns:a16="http://schemas.microsoft.com/office/drawing/2014/main" id="{E7125167-8301-4D88-B79A-A8DA3C19E0D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7001" y="86782"/>
            <a:ext cx="1159932" cy="1159932"/>
          </a:xfrm>
          <a:prstGeom prst="rect">
            <a:avLst/>
          </a:prstGeom>
        </p:spPr>
      </p:pic>
      <p:sp>
        <p:nvSpPr>
          <p:cNvPr id="4" name="Date Placeholder 3">
            <a:extLst>
              <a:ext uri="{FF2B5EF4-FFF2-40B4-BE49-F238E27FC236}">
                <a16:creationId xmlns:a16="http://schemas.microsoft.com/office/drawing/2014/main" id="{35032362-C5A5-4DBF-AD79-DE6FB7439999}"/>
              </a:ext>
            </a:extLst>
          </p:cNvPr>
          <p:cNvSpPr>
            <a:spLocks noGrp="1"/>
          </p:cNvSpPr>
          <p:nvPr>
            <p:ph type="dt" sz="half" idx="10"/>
          </p:nvPr>
        </p:nvSpPr>
        <p:spPr/>
        <p:txBody>
          <a:bodyPr/>
          <a:lstStyle/>
          <a:p>
            <a:fld id="{64C96E34-94C0-49E4-A53B-4A44141FD3C8}" type="datetime3">
              <a:rPr lang="en-US" smtClean="0"/>
              <a:t>14 October 2026</a:t>
            </a:fld>
            <a:endParaRPr lang="en-US" dirty="0"/>
          </a:p>
        </p:txBody>
      </p:sp>
      <p:sp>
        <p:nvSpPr>
          <p:cNvPr id="6" name="Slide Number Placeholder 5">
            <a:extLst>
              <a:ext uri="{FF2B5EF4-FFF2-40B4-BE49-F238E27FC236}">
                <a16:creationId xmlns:a16="http://schemas.microsoft.com/office/drawing/2014/main" id="{115AAB64-5B51-4B5A-B69E-D96362CE6E74}"/>
              </a:ext>
            </a:extLst>
          </p:cNvPr>
          <p:cNvSpPr>
            <a:spLocks noGrp="1"/>
          </p:cNvSpPr>
          <p:nvPr>
            <p:ph type="sldNum" sz="quarter" idx="12"/>
          </p:nvPr>
        </p:nvSpPr>
        <p:spPr/>
        <p:txBody>
          <a:bodyPr/>
          <a:lstStyle/>
          <a:p>
            <a:fld id="{D57F1E4F-1CFF-5643-939E-217C01CDF565}" type="slidenum">
              <a:rPr lang="en-US" smtClean="0"/>
              <a:pPr/>
              <a:t>12</a:t>
            </a:fld>
            <a:endParaRPr lang="en-US" dirty="0"/>
          </a:p>
        </p:txBody>
      </p:sp>
      <p:sp>
        <p:nvSpPr>
          <p:cNvPr id="7" name="Footer Placeholder 6">
            <a:extLst>
              <a:ext uri="{FF2B5EF4-FFF2-40B4-BE49-F238E27FC236}">
                <a16:creationId xmlns:a16="http://schemas.microsoft.com/office/drawing/2014/main" id="{8683C6DF-27D9-468B-A1AB-FE568488FE57}"/>
              </a:ext>
            </a:extLst>
          </p:cNvPr>
          <p:cNvSpPr>
            <a:spLocks noGrp="1"/>
          </p:cNvSpPr>
          <p:nvPr>
            <p:ph type="ftr" sz="quarter" idx="11"/>
          </p:nvPr>
        </p:nvSpPr>
        <p:spPr/>
        <p:txBody>
          <a:bodyPr/>
          <a:lstStyle/>
          <a:p>
            <a:r>
              <a:rPr lang="en-US"/>
              <a:t>Dept of AI &amp; DS</a:t>
            </a:r>
            <a:endParaRPr lang="en-US" dirty="0"/>
          </a:p>
        </p:txBody>
      </p:sp>
      <p:sp>
        <p:nvSpPr>
          <p:cNvPr id="8" name="PO1 tile"/>
          <p:cNvSpPr/>
          <p:nvPr/>
        </p:nvSpPr>
        <p:spPr>
          <a:xfrm>
            <a:off x="5943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PO1</a:t>
            </a:r>
          </a:p>
          <a:p>
            <a:pPr algn="ctr"/>
            <a:r>
              <a:rPr sz="1300" b="0" i="0">
                <a:solidFill>
                  <a:srgbClr val="FFFFFF"/>
                </a:solidFill>
                <a:latin typeface="Calibri"/>
              </a:rPr>
              <a:t>Engineering knowledge</a:t>
            </a:r>
          </a:p>
          <a:p>
            <a:pPr algn="ctr"/>
            <a:r>
              <a:rPr sz="1300" b="1" i="0">
                <a:solidFill>
                  <a:srgbClr val="FFFFFF"/>
                </a:solidFill>
                <a:latin typeface="Calibri"/>
              </a:rPr>
              <a:t>Level 3</a:t>
            </a:r>
          </a:p>
        </p:txBody>
      </p:sp>
      <p:sp>
        <p:nvSpPr>
          <p:cNvPr id="9" name="PO2 tile"/>
          <p:cNvSpPr/>
          <p:nvPr/>
        </p:nvSpPr>
        <p:spPr>
          <a:xfrm>
            <a:off x="21945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PO2</a:t>
            </a:r>
          </a:p>
          <a:p>
            <a:pPr algn="ctr"/>
            <a:r>
              <a:rPr sz="1300" b="0" i="0">
                <a:solidFill>
                  <a:srgbClr val="FFFFFF"/>
                </a:solidFill>
                <a:latin typeface="Calibri"/>
              </a:rPr>
              <a:t>Problem analysis</a:t>
            </a:r>
          </a:p>
          <a:p>
            <a:pPr algn="ctr"/>
            <a:r>
              <a:rPr sz="1300" b="1" i="0">
                <a:solidFill>
                  <a:srgbClr val="FFFFFF"/>
                </a:solidFill>
                <a:latin typeface="Calibri"/>
              </a:rPr>
              <a:t>Level 3</a:t>
            </a:r>
          </a:p>
        </p:txBody>
      </p:sp>
      <p:sp>
        <p:nvSpPr>
          <p:cNvPr id="10" name="PO3 tile"/>
          <p:cNvSpPr/>
          <p:nvPr/>
        </p:nvSpPr>
        <p:spPr>
          <a:xfrm>
            <a:off x="3794760" y="178308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PO3</a:t>
            </a:r>
          </a:p>
          <a:p>
            <a:pPr algn="ctr"/>
            <a:r>
              <a:rPr sz="1300" b="0" i="0">
                <a:solidFill>
                  <a:srgbClr val="335B74"/>
                </a:solidFill>
                <a:latin typeface="Calibri"/>
              </a:rPr>
              <a:t>Design of solutions</a:t>
            </a:r>
          </a:p>
          <a:p>
            <a:pPr algn="ctr"/>
            <a:r>
              <a:rPr sz="1300" b="1" i="0">
                <a:solidFill>
                  <a:srgbClr val="335B74"/>
                </a:solidFill>
                <a:latin typeface="Calibri"/>
              </a:rPr>
              <a:t>Level 2</a:t>
            </a:r>
          </a:p>
        </p:txBody>
      </p:sp>
      <p:sp>
        <p:nvSpPr>
          <p:cNvPr id="11" name="PO4 tile"/>
          <p:cNvSpPr/>
          <p:nvPr/>
        </p:nvSpPr>
        <p:spPr>
          <a:xfrm>
            <a:off x="53949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PO4</a:t>
            </a:r>
          </a:p>
          <a:p>
            <a:pPr algn="ctr"/>
            <a:r>
              <a:rPr sz="1300" b="0" i="0">
                <a:solidFill>
                  <a:srgbClr val="FFFFFF"/>
                </a:solidFill>
                <a:latin typeface="Calibri"/>
              </a:rPr>
              <a:t>Investigation of problems</a:t>
            </a:r>
          </a:p>
          <a:p>
            <a:pPr algn="ctr"/>
            <a:r>
              <a:rPr sz="1300" b="1" i="0">
                <a:solidFill>
                  <a:srgbClr val="FFFFFF"/>
                </a:solidFill>
                <a:latin typeface="Calibri"/>
              </a:rPr>
              <a:t>Level 3</a:t>
            </a:r>
          </a:p>
        </p:txBody>
      </p:sp>
      <p:sp>
        <p:nvSpPr>
          <p:cNvPr id="12" name="PO5 tile"/>
          <p:cNvSpPr/>
          <p:nvPr/>
        </p:nvSpPr>
        <p:spPr>
          <a:xfrm>
            <a:off x="6995160" y="178308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PO5</a:t>
            </a:r>
          </a:p>
          <a:p>
            <a:pPr algn="ctr"/>
            <a:r>
              <a:rPr sz="1300" b="0" i="0">
                <a:solidFill>
                  <a:srgbClr val="FFFFFF"/>
                </a:solidFill>
                <a:latin typeface="Calibri"/>
              </a:rPr>
              <a:t>Modern tool usage</a:t>
            </a:r>
          </a:p>
          <a:p>
            <a:pPr algn="ctr"/>
            <a:r>
              <a:rPr sz="1300" b="1" i="0">
                <a:solidFill>
                  <a:srgbClr val="FFFFFF"/>
                </a:solidFill>
                <a:latin typeface="Calibri"/>
              </a:rPr>
              <a:t>Level 3</a:t>
            </a:r>
          </a:p>
        </p:txBody>
      </p:sp>
      <p:sp>
        <p:nvSpPr>
          <p:cNvPr id="13" name="PO6 tile"/>
          <p:cNvSpPr/>
          <p:nvPr/>
        </p:nvSpPr>
        <p:spPr>
          <a:xfrm>
            <a:off x="8595360" y="1783080"/>
            <a:ext cx="1481328" cy="1554480"/>
          </a:xfrm>
          <a:prstGeom prst="roundRect">
            <a:avLst>
              <a:gd name="adj" fmla="val 10000"/>
            </a:avLst>
          </a:prstGeom>
          <a:solidFill>
            <a:srgbClr val="DCE6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PO6</a:t>
            </a:r>
          </a:p>
          <a:p>
            <a:pPr algn="ctr"/>
            <a:r>
              <a:rPr sz="1300" b="0" i="0">
                <a:solidFill>
                  <a:srgbClr val="335B74"/>
                </a:solidFill>
                <a:latin typeface="Calibri"/>
              </a:rPr>
              <a:t>Engineer and the world</a:t>
            </a:r>
          </a:p>
          <a:p>
            <a:pPr algn="ctr"/>
            <a:r>
              <a:rPr sz="1300" b="1" i="0">
                <a:solidFill>
                  <a:srgbClr val="335B74"/>
                </a:solidFill>
                <a:latin typeface="Calibri"/>
              </a:rPr>
              <a:t>Level 1</a:t>
            </a:r>
          </a:p>
        </p:txBody>
      </p:sp>
      <p:sp>
        <p:nvSpPr>
          <p:cNvPr id="14" name="PO7 tile"/>
          <p:cNvSpPr/>
          <p:nvPr/>
        </p:nvSpPr>
        <p:spPr>
          <a:xfrm>
            <a:off x="10195560" y="178308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PO7</a:t>
            </a:r>
          </a:p>
          <a:p>
            <a:pPr algn="ctr"/>
            <a:r>
              <a:rPr sz="1300" b="0" i="0">
                <a:solidFill>
                  <a:srgbClr val="335B74"/>
                </a:solidFill>
                <a:latin typeface="Calibri"/>
              </a:rPr>
              <a:t>Ethics</a:t>
            </a:r>
          </a:p>
          <a:p>
            <a:pPr algn="ctr"/>
            <a:r>
              <a:rPr sz="1300" b="1" i="0">
                <a:solidFill>
                  <a:srgbClr val="335B74"/>
                </a:solidFill>
                <a:latin typeface="Calibri"/>
              </a:rPr>
              <a:t>Level 2</a:t>
            </a:r>
          </a:p>
        </p:txBody>
      </p:sp>
      <p:sp>
        <p:nvSpPr>
          <p:cNvPr id="15" name="PO8 tile"/>
          <p:cNvSpPr/>
          <p:nvPr/>
        </p:nvSpPr>
        <p:spPr>
          <a:xfrm>
            <a:off x="594360" y="347472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PO8</a:t>
            </a:r>
          </a:p>
          <a:p>
            <a:pPr algn="ctr"/>
            <a:r>
              <a:rPr sz="1300" b="0" i="0">
                <a:solidFill>
                  <a:srgbClr val="FFFFFF"/>
                </a:solidFill>
                <a:latin typeface="Calibri"/>
              </a:rPr>
              <a:t>Teamwork</a:t>
            </a:r>
          </a:p>
          <a:p>
            <a:pPr algn="ctr"/>
            <a:r>
              <a:rPr sz="1300" b="1" i="0">
                <a:solidFill>
                  <a:srgbClr val="FFFFFF"/>
                </a:solidFill>
                <a:latin typeface="Calibri"/>
              </a:rPr>
              <a:t>Level 3</a:t>
            </a:r>
          </a:p>
        </p:txBody>
      </p:sp>
      <p:sp>
        <p:nvSpPr>
          <p:cNvPr id="16" name="PO9 tile"/>
          <p:cNvSpPr/>
          <p:nvPr/>
        </p:nvSpPr>
        <p:spPr>
          <a:xfrm>
            <a:off x="21945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PO9</a:t>
            </a:r>
          </a:p>
          <a:p>
            <a:pPr algn="ctr"/>
            <a:r>
              <a:rPr sz="1300" b="0" i="0">
                <a:solidFill>
                  <a:srgbClr val="335B74"/>
                </a:solidFill>
                <a:latin typeface="Calibri"/>
              </a:rPr>
              <a:t>Communication</a:t>
            </a:r>
          </a:p>
          <a:p>
            <a:pPr algn="ctr"/>
            <a:r>
              <a:rPr sz="1300" b="1" i="0">
                <a:solidFill>
                  <a:srgbClr val="335B74"/>
                </a:solidFill>
                <a:latin typeface="Calibri"/>
              </a:rPr>
              <a:t>Level 2</a:t>
            </a:r>
          </a:p>
        </p:txBody>
      </p:sp>
      <p:sp>
        <p:nvSpPr>
          <p:cNvPr id="17" name="PO10 tile"/>
          <p:cNvSpPr/>
          <p:nvPr/>
        </p:nvSpPr>
        <p:spPr>
          <a:xfrm>
            <a:off x="37947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PO10</a:t>
            </a:r>
          </a:p>
          <a:p>
            <a:pPr algn="ctr"/>
            <a:r>
              <a:rPr sz="1300" b="0" i="0">
                <a:solidFill>
                  <a:srgbClr val="335B74"/>
                </a:solidFill>
                <a:latin typeface="Calibri"/>
              </a:rPr>
              <a:t>Project management</a:t>
            </a:r>
          </a:p>
          <a:p>
            <a:pPr algn="ctr"/>
            <a:r>
              <a:rPr sz="1300" b="1" i="0">
                <a:solidFill>
                  <a:srgbClr val="335B74"/>
                </a:solidFill>
                <a:latin typeface="Calibri"/>
              </a:rPr>
              <a:t>Level 2</a:t>
            </a:r>
          </a:p>
        </p:txBody>
      </p:sp>
      <p:sp>
        <p:nvSpPr>
          <p:cNvPr id="18" name="PO11 tile"/>
          <p:cNvSpPr/>
          <p:nvPr/>
        </p:nvSpPr>
        <p:spPr>
          <a:xfrm>
            <a:off x="53949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PO11</a:t>
            </a:r>
          </a:p>
          <a:p>
            <a:pPr algn="ctr"/>
            <a:r>
              <a:rPr sz="1300" b="0" i="0">
                <a:solidFill>
                  <a:srgbClr val="335B74"/>
                </a:solidFill>
                <a:latin typeface="Calibri"/>
              </a:rPr>
              <a:t>Life-long learning</a:t>
            </a:r>
          </a:p>
          <a:p>
            <a:pPr algn="ctr"/>
            <a:r>
              <a:rPr sz="1300" b="1" i="0">
                <a:solidFill>
                  <a:srgbClr val="335B74"/>
                </a:solidFill>
                <a:latin typeface="Calibri"/>
              </a:rPr>
              <a:t>Level 2</a:t>
            </a:r>
          </a:p>
        </p:txBody>
      </p:sp>
      <p:sp>
        <p:nvSpPr>
          <p:cNvPr id="19" name="PSO1 tile"/>
          <p:cNvSpPr/>
          <p:nvPr/>
        </p:nvSpPr>
        <p:spPr>
          <a:xfrm>
            <a:off x="6995160" y="347472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PSO1</a:t>
            </a:r>
          </a:p>
          <a:p>
            <a:pPr algn="ctr"/>
            <a:r>
              <a:rPr sz="1300" b="0" i="0">
                <a:solidFill>
                  <a:srgbClr val="FFFFFF"/>
                </a:solidFill>
                <a:latin typeface="Calibri"/>
              </a:rPr>
              <a:t>Design AI systems</a:t>
            </a:r>
          </a:p>
          <a:p>
            <a:pPr algn="ctr"/>
            <a:r>
              <a:rPr sz="1300" b="1" i="0">
                <a:solidFill>
                  <a:srgbClr val="FFFFFF"/>
                </a:solidFill>
                <a:latin typeface="Calibri"/>
              </a:rPr>
              <a:t>Level 3</a:t>
            </a:r>
          </a:p>
        </p:txBody>
      </p:sp>
      <p:sp>
        <p:nvSpPr>
          <p:cNvPr id="20" name="PSO2 tile"/>
          <p:cNvSpPr/>
          <p:nvPr/>
        </p:nvSpPr>
        <p:spPr>
          <a:xfrm>
            <a:off x="8595360" y="3474720"/>
            <a:ext cx="1481328" cy="1554480"/>
          </a:xfrm>
          <a:prstGeom prst="roundRect">
            <a:avLst>
              <a:gd name="adj" fmla="val 1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335B74"/>
                </a:solidFill>
                <a:latin typeface="Calibri"/>
              </a:rPr>
              <a:t>PSO2</a:t>
            </a:r>
          </a:p>
          <a:p>
            <a:pPr algn="ctr"/>
            <a:r>
              <a:rPr sz="1300" b="0" i="0">
                <a:solidFill>
                  <a:srgbClr val="335B74"/>
                </a:solidFill>
                <a:latin typeface="Calibri"/>
              </a:rPr>
              <a:t>Decisions with AI and data</a:t>
            </a:r>
          </a:p>
          <a:p>
            <a:pPr algn="ctr"/>
            <a:r>
              <a:rPr sz="1300" b="1" i="0">
                <a:solidFill>
                  <a:srgbClr val="335B74"/>
                </a:solidFill>
                <a:latin typeface="Calibri"/>
              </a:rPr>
              <a:t>Level 2</a:t>
            </a:r>
          </a:p>
        </p:txBody>
      </p:sp>
      <p:sp>
        <p:nvSpPr>
          <p:cNvPr id="21" name="PSO3 tile"/>
          <p:cNvSpPr/>
          <p:nvPr/>
        </p:nvSpPr>
        <p:spPr>
          <a:xfrm>
            <a:off x="10195560" y="3474720"/>
            <a:ext cx="1481328" cy="1554480"/>
          </a:xfrm>
          <a:prstGeom prst="roundRect">
            <a:avLst>
              <a:gd name="adj" fmla="val 1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2000" b="1" i="0">
                <a:solidFill>
                  <a:srgbClr val="FFFFFF"/>
                </a:solidFill>
                <a:latin typeface="Calibri"/>
              </a:rPr>
              <a:t>PSO3</a:t>
            </a:r>
          </a:p>
          <a:p>
            <a:pPr algn="ctr"/>
            <a:r>
              <a:rPr sz="1300" b="0" i="0">
                <a:solidFill>
                  <a:srgbClr val="FFFFFF"/>
                </a:solidFill>
                <a:latin typeface="Calibri"/>
              </a:rPr>
              <a:t>End-to-end systems</a:t>
            </a:r>
          </a:p>
          <a:p>
            <a:pPr algn="ctr"/>
            <a:r>
              <a:rPr sz="1300" b="1" i="0">
                <a:solidFill>
                  <a:srgbClr val="FFFFFF"/>
                </a:solidFill>
                <a:latin typeface="Calibri"/>
              </a:rPr>
              <a:t>Level 3</a:t>
            </a:r>
          </a:p>
        </p:txBody>
      </p:sp>
      <p:sp>
        <p:nvSpPr>
          <p:cNvPr id="22" name="Rounded Rectangle 21"/>
          <p:cNvSpPr/>
          <p:nvPr/>
        </p:nvSpPr>
        <p:spPr>
          <a:xfrm>
            <a:off x="8595360" y="1325880"/>
            <a:ext cx="1005840" cy="347472"/>
          </a:xfrm>
          <a:prstGeom prst="roundRect">
            <a:avLst>
              <a:gd name="adj" fmla="val 40000"/>
            </a:avLst>
          </a:prstGeom>
          <a:solidFill>
            <a:srgbClr val="2683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200" b="1" i="0">
                <a:solidFill>
                  <a:srgbClr val="FFFFFF"/>
                </a:solidFill>
                <a:latin typeface="Calibri"/>
              </a:rPr>
              <a:t>3  High</a:t>
            </a:r>
          </a:p>
        </p:txBody>
      </p:sp>
      <p:sp>
        <p:nvSpPr>
          <p:cNvPr id="23" name="Rounded Rectangle 22"/>
          <p:cNvSpPr/>
          <p:nvPr/>
        </p:nvSpPr>
        <p:spPr>
          <a:xfrm>
            <a:off x="9692640" y="1325880"/>
            <a:ext cx="1005840" cy="347472"/>
          </a:xfrm>
          <a:prstGeom prst="roundRect">
            <a:avLst>
              <a:gd name="adj" fmla="val 40000"/>
            </a:avLst>
          </a:prstGeom>
          <a:solidFill>
            <a:srgbClr val="9CC8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200" b="1" i="0">
                <a:solidFill>
                  <a:srgbClr val="335B74"/>
                </a:solidFill>
                <a:latin typeface="Calibri"/>
              </a:rPr>
              <a:t>2  Medium</a:t>
            </a:r>
          </a:p>
        </p:txBody>
      </p:sp>
      <p:sp>
        <p:nvSpPr>
          <p:cNvPr id="24" name="Rounded Rectangle 23"/>
          <p:cNvSpPr/>
          <p:nvPr/>
        </p:nvSpPr>
        <p:spPr>
          <a:xfrm>
            <a:off x="10789920" y="1325880"/>
            <a:ext cx="1005840" cy="347472"/>
          </a:xfrm>
          <a:prstGeom prst="roundRect">
            <a:avLst>
              <a:gd name="adj" fmla="val 40000"/>
            </a:avLst>
          </a:prstGeom>
          <a:solidFill>
            <a:srgbClr val="DCE6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noAutofit/>
          </a:bodyPr>
          <a:lstStyle/>
          <a:p>
            <a:pPr algn="ctr"/>
            <a:r>
              <a:rPr sz="1200" b="1" i="0">
                <a:solidFill>
                  <a:srgbClr val="335B74"/>
                </a:solidFill>
                <a:latin typeface="Calibri"/>
              </a:rPr>
              <a:t>1  Low</a:t>
            </a:r>
          </a:p>
        </p:txBody>
      </p:sp>
      <p:sp>
        <p:nvSpPr>
          <p:cNvPr id="25" name="TextBox 24"/>
          <p:cNvSpPr txBox="1"/>
          <p:nvPr/>
        </p:nvSpPr>
        <p:spPr>
          <a:xfrm>
            <a:off x="594360" y="5257800"/>
            <a:ext cx="10972800" cy="457200"/>
          </a:xfrm>
          <a:prstGeom prst="rect">
            <a:avLst/>
          </a:prstGeom>
          <a:noFill/>
        </p:spPr>
        <p:txBody>
          <a:bodyPr wrap="square" lIns="45720" rIns="45720" tIns="27432" bIns="27432" anchor="t">
            <a:noAutofit/>
          </a:bodyPr>
          <a:lstStyle/>
          <a:p>
            <a:pPr algn="l"/>
            <a:r>
              <a:rPr sz="1400" b="0" i="0">
                <a:solidFill>
                  <a:srgbClr val="8A97A8"/>
                </a:solidFill>
                <a:latin typeface="Calibri"/>
              </a:rPr>
              <a:t>Each level is justified in the project report (attainment sheet).</a:t>
            </a:r>
          </a:p>
        </p:txBody>
      </p:sp>
    </p:spTree>
    <p:extLst>
      <p:ext uri="{BB962C8B-B14F-4D97-AF65-F5344CB8AC3E}">
        <p14:creationId xmlns:p14="http://schemas.microsoft.com/office/powerpoint/2010/main" val="2352204614"/>
      </p:ext>
    </p:extLst>
  </p:cSld>
  <p:clrMapOvr>
    <a:masterClrMapping/>
  </p:clrMapOvr>
</p:sld>
</file>

<file path=ppt/theme/theme1.xml><?xml version="1.0" encoding="utf-8"?>
<a:theme xmlns:a="http://schemas.openxmlformats.org/drawingml/2006/main" name="Office Them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78</TotalTime>
  <Words>199</Words>
  <Application>Microsoft Office PowerPoint</Application>
  <PresentationFormat>Widescreen</PresentationFormat>
  <Paragraphs>64</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Calibri Light</vt:lpstr>
      <vt:lpstr>Times New Roman</vt:lpstr>
      <vt:lpstr>Office Theme</vt:lpstr>
      <vt:lpstr>BMS College of Engineering (Autonomous College under VTU) Department of Artificial Intelligence and Data Science   Project Work Phase-2 (23AI7PWPP2) Final Presentation on   Project Title </vt:lpstr>
      <vt:lpstr>Table of Contents </vt:lpstr>
      <vt:lpstr>Abstract </vt:lpstr>
      <vt:lpstr>Introduction</vt:lpstr>
      <vt:lpstr>Literature Survey</vt:lpstr>
      <vt:lpstr>Requirement Analysis and Specification</vt:lpstr>
      <vt:lpstr>Design</vt:lpstr>
      <vt:lpstr>Implementation</vt:lpstr>
      <vt:lpstr>Testing and Validation </vt:lpstr>
      <vt:lpstr>Results and Discussion</vt:lpstr>
      <vt:lpstr>Conclusion </vt:lpstr>
      <vt:lpstr>Program Outcomes Attained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BMS College of Engineering  Department of Artificial Intelligence and Data Science    Project Title</dc:title>
  <dc:creator>Admin</dc:creator>
  <cp:lastModifiedBy>Admin</cp:lastModifiedBy>
  <cp:revision>11</cp:revision>
  <dcterms:created xsi:type="dcterms:W3CDTF">2025-03-11T07:28:48Z</dcterms:created>
  <dcterms:modified xsi:type="dcterms:W3CDTF">2026-10-14T09:35:50Z</dcterms:modified>
</cp:coreProperties>
</file>